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2.xml" ContentType="application/vnd.openxmlformats-officedocument.drawingml.chart+xml"/>
  <Override PartName="/ppt/charts/chart22.xml" ContentType="application/vnd.openxmlformats-officedocument.drawingml.chart+xml"/>
  <Override PartName="/ppt/charts/chart23.xml" ContentType="application/vnd.openxmlformats-officedocument.drawingml.chart+xml"/>
  <Override PartName="/ppt/charts/chart24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43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olors1.xml" ContentType="application/vnd.ms-office.chartcolorstyle+xml"/>
  <Override PartName="/ppt/charts/colors2.xml" ContentType="application/vnd.ms-office.chartcolorstyle+xml"/>
  <Override PartName="/ppt/charts/colors3.xml" ContentType="application/vnd.ms-office.chartcolorstyle+xml"/>
  <Override PartName="/ppt/charts/colors4.xml" ContentType="application/vnd.ms-office.chartcolorstyle+xml"/>
  <Override PartName="/ppt/charts/colors43.xml" ContentType="application/vnd.ms-office.chartcolorstyle+xml"/>
  <Override PartName="/ppt/charts/colors5.xml" ContentType="application/vnd.ms-office.chartcolorstyle+xml"/>
  <Override PartName="/ppt/charts/colors6.xml" ContentType="application/vnd.ms-office.chartcolorstyle+xml"/>
  <Override PartName="/ppt/charts/style1.xml" ContentType="application/vnd.ms-office.chartstyle+xml"/>
  <Override PartName="/ppt/charts/style2.xml" ContentType="application/vnd.ms-office.chartstyle+xml"/>
  <Override PartName="/ppt/charts/style3.xml" ContentType="application/vnd.ms-office.chartstyle+xml"/>
  <Override PartName="/ppt/charts/style4.xml" ContentType="application/vnd.ms-office.chartstyle+xml"/>
  <Override PartName="/ppt/charts/style43.xml" ContentType="application/vnd.ms-office.chartstyle+xml"/>
  <Override PartName="/ppt/charts/style5.xml" ContentType="application/vnd.ms-office.chartstyle+xml"/>
  <Override PartName="/ppt/charts/style6.xml" ContentType="application/vnd.ms-office.chartstyl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4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61" r:id="rId9"/>
    <p:sldId id="259" r:id="rId7"/>
    <p:sldId id="260" r:id="rId8"/>
    <p:sldId id="262" r:id="rId10"/>
    <p:sldId id="272" r:id="rId21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presProps" Target="presProps.xml"/><Relationship Id="rId21" Type="http://schemas.openxmlformats.org/officeDocument/2006/relationships/slide" Target="slides/slide17.xml"/></Relationships>
</file>

<file path=ppt/charts/_rels/chart1.xml.rels><?xml version='1.0' encoding='UTF-8' standalone='yes'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/Relationships>
</file>

<file path=ppt/charts/_rels/chart2.xml.rels><?xml version='1.0' encoding='UTF-8' standalone='yes'?>
<Relationships xmlns="http://schemas.openxmlformats.org/package/2006/relationships"><Relationship Id="rId1" Type="http://schemas.microsoft.com/office/2011/relationships/chartStyle" Target="style2.xml"/><Relationship Id="rId2" Type="http://schemas.microsoft.com/office/2011/relationships/chartColorStyle" Target="colors2.xml"/></Relationships>
</file>

<file path=ppt/charts/_rels/chart3.xml.rels><?xml version='1.0' encoding='UTF-8' standalone='yes'?>
<Relationships xmlns="http://schemas.openxmlformats.org/package/2006/relationships"><Relationship Id="rId1" Type="http://schemas.microsoft.com/office/2011/relationships/chartStyle" Target="style3.xml"/><Relationship Id="rId2" Type="http://schemas.microsoft.com/office/2011/relationships/chartColorStyle" Target="colors3.xml"/></Relationships>
</file>

<file path=ppt/charts/_rels/chart4.xml.rels><?xml version='1.0' encoding='UTF-8' standalone='yes'?>
<Relationships xmlns="http://schemas.openxmlformats.org/package/2006/relationships"><Relationship Id="rId1" Type="http://schemas.microsoft.com/office/2011/relationships/chartStyle" Target="style4.xml"/><Relationship Id="rId2" Type="http://schemas.microsoft.com/office/2011/relationships/chartColorStyle" Target="colors4.xml"/></Relationships>
</file>

<file path=ppt/charts/_rels/chart5.xml.rels><?xml version='1.0' encoding='UTF-8' standalone='yes'?>
<Relationships xmlns="http://schemas.openxmlformats.org/package/2006/relationships"><Relationship Id="rId1" Type="http://schemas.microsoft.com/office/2011/relationships/chartStyle" Target="style5.xml"/><Relationship Id="rId2" Type="http://schemas.microsoft.com/office/2011/relationships/chartColorStyle" Target="colors5.xml"/></Relationships>
</file>

<file path=ppt/charts/_rels/chart6.xml.rels><?xml version='1.0' encoding='UTF-8' standalone='yes'?>
<Relationships xmlns="http://schemas.openxmlformats.org/package/2006/relationships"><Relationship Id="rId1" Type="http://schemas.microsoft.com/office/2011/relationships/chartStyle" Target="style6.xml"/><Relationship Id="rId2" Type="http://schemas.microsoft.com/office/2011/relationships/chartColorStyle" Target="colors6.xml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2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2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2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43.xml.rels><?xml version='1.0' encoding='UTF-8' standalone='yes'?>
<Relationships xmlns="http://schemas.openxmlformats.org/package/2006/relationships"><Relationship Id="rId1" Type="http://schemas.microsoft.com/office/2011/relationships/chartStyle" Target="style43.xml"/><Relationship Id="rId2" Type="http://schemas.microsoft.com/office/2011/relationships/chartColorStyle" Target="colors4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a_в</c:v>
                </c:pt>
              </c:strCache>
            </c:strRef>
          </c:tx>
          <c:spPr>
            <a:solidFill>
              <a:srgbClr val="2F6FED"/>
            </a:solidFill>
            <a:ln w="12600">
              <a:solidFill>
                <a:srgbClr val="2F6FED"/>
              </a:solidFill>
              <a:round/>
            </a:ln>
          </c:spPr>
          <c:marker>
            <c:symbol val="circle"/>
            <c:size val="4"/>
            <c:spPr>
              <a:solidFill>
                <a:srgbClr val="2F6FED"/>
              </a:solidFill>
            </c:spPr>
          </c:marker>
          <c:dLbls>
            <c:txPr>
              <a:bodyPr wrap="square"/>
              <a:lstStyle/>
              <a:p>
                <a:pPr>
                  <a:defRPr sz="1000" b="0" u="none" strike="noStrike">
                    <a:solidFill>
                      <a:srgbClr val="1B2333"/>
                    </a:solidFill>
                    <a:uFillTx/>
                    <a:latin typeface="Segoe UI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66"/>
                <c:pt idx="0">
                  <c:v>0</c:v>
                </c:pt>
                <c:pt idx="1">
                  <c:v>0.02</c:v>
                </c:pt>
                <c:pt idx="2">
                  <c:v>0.03</c:v>
                </c:pt>
                <c:pt idx="3">
                  <c:v>0.06</c:v>
                </c:pt>
                <c:pt idx="4">
                  <c:v>0.08</c:v>
                </c:pt>
                <c:pt idx="5">
                  <c:v>0.1</c:v>
                </c:pt>
                <c:pt idx="6">
                  <c:v>0.12</c:v>
                </c:pt>
                <c:pt idx="7">
                  <c:v>0.14</c:v>
                </c:pt>
                <c:pt idx="8">
                  <c:v>0.16</c:v>
                </c:pt>
                <c:pt idx="9">
                  <c:v>0.18</c:v>
                </c:pt>
                <c:pt idx="10">
                  <c:v>0.2</c:v>
                </c:pt>
                <c:pt idx="11">
                  <c:v>0.22</c:v>
                </c:pt>
                <c:pt idx="12">
                  <c:v>0.24</c:v>
                </c:pt>
                <c:pt idx="13">
                  <c:v>0.26</c:v>
                </c:pt>
                <c:pt idx="14">
                  <c:v>0.28</c:v>
                </c:pt>
                <c:pt idx="15">
                  <c:v>0.3</c:v>
                </c:pt>
                <c:pt idx="16">
                  <c:v>0.32</c:v>
                </c:pt>
                <c:pt idx="17">
                  <c:v>0.34</c:v>
                </c:pt>
                <c:pt idx="18">
                  <c:v>0.36</c:v>
                </c:pt>
                <c:pt idx="19">
                  <c:v>0.38</c:v>
                </c:pt>
                <c:pt idx="20">
                  <c:v>0.4</c:v>
                </c:pt>
                <c:pt idx="21">
                  <c:v>0.42</c:v>
                </c:pt>
                <c:pt idx="22">
                  <c:v>0.43</c:v>
                </c:pt>
                <c:pt idx="23">
                  <c:v>0.46</c:v>
                </c:pt>
                <c:pt idx="24">
                  <c:v>0.48</c:v>
                </c:pt>
                <c:pt idx="25">
                  <c:v>0.49</c:v>
                </c:pt>
                <c:pt idx="26">
                  <c:v>0.52</c:v>
                </c:pt>
                <c:pt idx="27">
                  <c:v>0.54</c:v>
                </c:pt>
                <c:pt idx="28">
                  <c:v>0.55</c:v>
                </c:pt>
                <c:pt idx="29">
                  <c:v>0.58</c:v>
                </c:pt>
                <c:pt idx="30">
                  <c:v>0.6</c:v>
                </c:pt>
                <c:pt idx="31">
                  <c:v>0.61</c:v>
                </c:pt>
                <c:pt idx="32">
                  <c:v>0.64</c:v>
                </c:pt>
                <c:pt idx="33">
                  <c:v>0.66</c:v>
                </c:pt>
                <c:pt idx="34">
                  <c:v>0.68</c:v>
                </c:pt>
                <c:pt idx="35">
                  <c:v>0.7</c:v>
                </c:pt>
                <c:pt idx="36">
                  <c:v>0.72</c:v>
                </c:pt>
                <c:pt idx="37">
                  <c:v>0.74</c:v>
                </c:pt>
                <c:pt idx="38">
                  <c:v>0.76</c:v>
                </c:pt>
                <c:pt idx="39">
                  <c:v>0.78</c:v>
                </c:pt>
                <c:pt idx="40">
                  <c:v>0.8</c:v>
                </c:pt>
                <c:pt idx="41">
                  <c:v>0.82</c:v>
                </c:pt>
                <c:pt idx="42">
                  <c:v>0.84</c:v>
                </c:pt>
                <c:pt idx="43">
                  <c:v>0.86</c:v>
                </c:pt>
                <c:pt idx="44">
                  <c:v>0.88</c:v>
                </c:pt>
                <c:pt idx="45">
                  <c:v>0.9</c:v>
                </c:pt>
                <c:pt idx="46">
                  <c:v>0.92</c:v>
                </c:pt>
                <c:pt idx="47">
                  <c:v>0.94</c:v>
                </c:pt>
                <c:pt idx="48">
                  <c:v>0.95</c:v>
                </c:pt>
                <c:pt idx="49">
                  <c:v>0.98</c:v>
                </c:pt>
                <c:pt idx="50">
                  <c:v>1</c:v>
                </c:pt>
                <c:pt idx="51">
                  <c:v>1.01</c:v>
                </c:pt>
                <c:pt idx="52">
                  <c:v>1.04</c:v>
                </c:pt>
                <c:pt idx="53">
                  <c:v>1.06</c:v>
                </c:pt>
                <c:pt idx="54">
                  <c:v>1.07</c:v>
                </c:pt>
                <c:pt idx="55">
                  <c:v>1.1</c:v>
                </c:pt>
                <c:pt idx="56">
                  <c:v>1.12</c:v>
                </c:pt>
                <c:pt idx="57">
                  <c:v>1.13</c:v>
                </c:pt>
                <c:pt idx="58">
                  <c:v>1.16</c:v>
                </c:pt>
                <c:pt idx="59">
                  <c:v>1.18</c:v>
                </c:pt>
                <c:pt idx="60">
                  <c:v>1.19</c:v>
                </c:pt>
                <c:pt idx="61">
                  <c:v>1.22</c:v>
                </c:pt>
                <c:pt idx="62">
                  <c:v>1.24</c:v>
                </c:pt>
                <c:pt idx="63">
                  <c:v>1.26</c:v>
                </c:pt>
                <c:pt idx="64">
                  <c:v>1.28</c:v>
                </c:pt>
                <c:pt idx="65">
                  <c:v>1.3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66"/>
                <c:pt idx="0">
                  <c:v>-0.3</c:v>
                </c:pt>
                <c:pt idx="1">
                  <c:v>-1.7</c:v>
                </c:pt>
                <c:pt idx="2">
                  <c:v>-4.03</c:v>
                </c:pt>
                <c:pt idx="3">
                  <c:v>-2.765</c:v>
                </c:pt>
                <c:pt idx="4">
                  <c:v>1.629</c:v>
                </c:pt>
                <c:pt idx="5">
                  <c:v>9.941</c:v>
                </c:pt>
                <c:pt idx="6">
                  <c:v>12.567</c:v>
                </c:pt>
                <c:pt idx="7">
                  <c:v>7.887</c:v>
                </c:pt>
                <c:pt idx="8">
                  <c:v>-0.505</c:v>
                </c:pt>
                <c:pt idx="9">
                  <c:v>-1.725</c:v>
                </c:pt>
                <c:pt idx="10">
                  <c:v>-0.571</c:v>
                </c:pt>
                <c:pt idx="11">
                  <c:v>0.179</c:v>
                </c:pt>
                <c:pt idx="12">
                  <c:v>-0.574</c:v>
                </c:pt>
                <c:pt idx="13">
                  <c:v>-2.024</c:v>
                </c:pt>
                <c:pt idx="14">
                  <c:v>-3.236</c:v>
                </c:pt>
                <c:pt idx="15">
                  <c:v>-3.579</c:v>
                </c:pt>
                <c:pt idx="16">
                  <c:v>-4.588</c:v>
                </c:pt>
                <c:pt idx="17">
                  <c:v>-4.36</c:v>
                </c:pt>
                <c:pt idx="18">
                  <c:v>-2.473</c:v>
                </c:pt>
                <c:pt idx="19">
                  <c:v>1.708</c:v>
                </c:pt>
                <c:pt idx="20">
                  <c:v>3.182</c:v>
                </c:pt>
                <c:pt idx="21">
                  <c:v>1.899</c:v>
                </c:pt>
                <c:pt idx="22">
                  <c:v>0.119</c:v>
                </c:pt>
                <c:pt idx="23">
                  <c:v>-1.473</c:v>
                </c:pt>
                <c:pt idx="24">
                  <c:v>-1.079</c:v>
                </c:pt>
                <c:pt idx="25">
                  <c:v>-0.194</c:v>
                </c:pt>
                <c:pt idx="26">
                  <c:v>-0.187</c:v>
                </c:pt>
                <c:pt idx="27">
                  <c:v>-1.553</c:v>
                </c:pt>
                <c:pt idx="28">
                  <c:v>-2.876</c:v>
                </c:pt>
                <c:pt idx="29">
                  <c:v>-3.115</c:v>
                </c:pt>
                <c:pt idx="30">
                  <c:v>-2.628</c:v>
                </c:pt>
                <c:pt idx="31">
                  <c:v>0.487</c:v>
                </c:pt>
                <c:pt idx="32">
                  <c:v>9.122</c:v>
                </c:pt>
                <c:pt idx="33">
                  <c:v>12.833</c:v>
                </c:pt>
                <c:pt idx="34">
                  <c:v>5.607</c:v>
                </c:pt>
                <c:pt idx="35">
                  <c:v>-0.699</c:v>
                </c:pt>
                <c:pt idx="36">
                  <c:v>-2.159</c:v>
                </c:pt>
                <c:pt idx="37">
                  <c:v>-0.495</c:v>
                </c:pt>
                <c:pt idx="38">
                  <c:v>1.163</c:v>
                </c:pt>
                <c:pt idx="39">
                  <c:v>0.508</c:v>
                </c:pt>
                <c:pt idx="40">
                  <c:v>-1.171</c:v>
                </c:pt>
                <c:pt idx="41">
                  <c:v>-1.818</c:v>
                </c:pt>
                <c:pt idx="42">
                  <c:v>-2.638</c:v>
                </c:pt>
                <c:pt idx="43">
                  <c:v>-3.664</c:v>
                </c:pt>
                <c:pt idx="44">
                  <c:v>-4.883</c:v>
                </c:pt>
                <c:pt idx="45">
                  <c:v>-5.015</c:v>
                </c:pt>
                <c:pt idx="46">
                  <c:v>-0.766</c:v>
                </c:pt>
                <c:pt idx="47">
                  <c:v>4.829</c:v>
                </c:pt>
                <c:pt idx="48">
                  <c:v>7.021</c:v>
                </c:pt>
                <c:pt idx="49">
                  <c:v>1.917</c:v>
                </c:pt>
                <c:pt idx="50">
                  <c:v>-0.347</c:v>
                </c:pt>
                <c:pt idx="51">
                  <c:v>-0.474</c:v>
                </c:pt>
                <c:pt idx="52">
                  <c:v>-0.188</c:v>
                </c:pt>
                <c:pt idx="53">
                  <c:v>0.26</c:v>
                </c:pt>
                <c:pt idx="54">
                  <c:v>0.229</c:v>
                </c:pt>
                <c:pt idx="55">
                  <c:v>-4.711</c:v>
                </c:pt>
                <c:pt idx="56">
                  <c:v>-6.838</c:v>
                </c:pt>
                <c:pt idx="57">
                  <c:v>-7.795</c:v>
                </c:pt>
                <c:pt idx="58">
                  <c:v>-6.684</c:v>
                </c:pt>
                <c:pt idx="59">
                  <c:v>-0.92</c:v>
                </c:pt>
                <c:pt idx="60">
                  <c:v>4.45</c:v>
                </c:pt>
                <c:pt idx="61">
                  <c:v>8.088</c:v>
                </c:pt>
                <c:pt idx="62">
                  <c:v>9.365</c:v>
                </c:pt>
                <c:pt idx="63">
                  <c:v>4.535</c:v>
                </c:pt>
                <c:pt idx="64">
                  <c:v>0.961</c:v>
                </c:pt>
                <c:pt idx="65">
                  <c:v>0.077</c:v>
                </c:pt>
              </c:numCache>
            </c:numRef>
          </c:val>
          <c:smooth val="0"/>
        </c:ser>
        <c:hiLowLines>
          <c:spPr>
            <a:ln w="0">
              <a:noFill/>
            </a:ln>
          </c:spPr>
        </c:hiLowLines>
        <c:marker val="1"/>
        <c:axId val="17396238"/>
        <c:axId val="38483437"/>
      </c:lineChart>
      <c:catAx>
        <c:axId val="17396238"/>
        <c:scaling>
          <c:orientation val="minMax"/>
        </c:scaling>
        <c:delete val="1"/>
        <c:axPos val="b"/>
        <c:numFmt formatCode="[$-819]dd/mm/yyyy" sourceLinked="1"/>
        <c:majorTickMark val="out"/>
        <c:minorTickMark val="none"/>
        <c:tickLblPos val="low"/>
        <c:spPr>
          <a:ln w="12600">
            <a:solidFill>
              <a:srgbClr val="C9CFD9"/>
            </a:solidFill>
            <a:round/>
          </a:ln>
        </c:spPr>
        <c:txPr>
          <a:bodyPr/>
          <a:lstStyle/>
          <a:p>
            <a:pPr>
              <a:defRPr sz="1050" b="0" u="none" strike="noStrike">
                <a:solidFill>
                  <a:srgbClr val="5B6475"/>
                </a:solidFill>
                <a:uFillTx/>
                <a:latin typeface="Segoe UI"/>
              </a:defRPr>
            </a:pPr>
          </a:p>
        </c:txPr>
        <c:crossAx val="38483437"/>
        <c:auto val="1"/>
        <c:lblAlgn val="ctr"/>
        <c:lblOffset val="100"/>
        <c:noMultiLvlLbl val="0"/>
      </c:catAx>
      <c:valAx>
        <c:axId val="38483437"/>
        <c:scaling>
          <c:orientation val="minMax"/>
          <c:max val="15"/>
          <c:min val="-10"/>
        </c:scaling>
        <c:delete val="0"/>
        <c:axPos val="l"/>
        <c:majorGridlines>
          <c:spPr>
            <a:ln w="6480">
              <a:solidFill>
                <a:srgbClr val="E3E7EE"/>
              </a:solidFill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600">
            <a:noFill/>
          </a:ln>
        </c:spPr>
        <c:txPr>
          <a:bodyPr/>
          <a:lstStyle/>
          <a:p>
            <a:pPr>
              <a:defRPr sz="800" b="0" u="none" strike="noStrike">
                <a:solidFill>
                  <a:srgbClr val="5B6475"/>
                </a:solidFill>
                <a:uFillTx/>
                <a:latin typeface="Segoe UI"/>
              </a:defRPr>
            </a:pPr>
          </a:p>
        </c:txPr>
        <c:crossAx val="17396238"/>
        <c:crosses val="autoZero"/>
        <c:crossBetween val="between"/>
      </c:valAx>
      <c:spPr>
        <a:noFill/>
        <a:ln w="0">
          <a:noFill/>
        </a:ln>
      </c:spPr>
    </c:plotArea>
    <c:plotVisOnly val="1"/>
    <c:dispBlanksAs val="span"/>
  </c:chart>
  <c:spPr>
    <a:noFill/>
    <a:ln w="0">
      <a:noFill/>
    </a:ln>
  </c:sp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|a|</c:v>
                </c:pt>
              </c:strCache>
            </c:strRef>
          </c:tx>
          <c:spPr>
            <a:solidFill>
              <a:srgbClr val="5B6475"/>
            </a:solidFill>
            <a:ln w="15840">
              <a:solidFill>
                <a:srgbClr val="5B6475"/>
              </a:solidFill>
              <a:round/>
            </a:ln>
          </c:spPr>
          <c:marker>
            <c:symbol val="none"/>
          </c:marker>
          <c:dLbls>
            <c:txPr>
              <a:bodyPr wrap="square"/>
              <a:lstStyle/>
              <a:p>
                <a:pPr>
                  <a:defRPr sz="1000" b="0" u="none" strike="noStrike">
                    <a:solidFill>
                      <a:srgbClr val="1B2333"/>
                    </a:solidFill>
                    <a:uFillTx/>
                    <a:latin typeface="Segoe UI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130"/>
                <c:pt idx="0">
                  <c:v>-1.58</c:v>
                </c:pt>
                <c:pt idx="1">
                  <c:v>-1.54</c:v>
                </c:pt>
                <c:pt idx="2">
                  <c:v>-1.5</c:v>
                </c:pt>
                <c:pt idx="3">
                  <c:v>-1.46</c:v>
                </c:pt>
                <c:pt idx="4">
                  <c:v>-1.42</c:v>
                </c:pt>
                <c:pt idx="5">
                  <c:v>-1.38</c:v>
                </c:pt>
                <c:pt idx="6">
                  <c:v>-1.34</c:v>
                </c:pt>
                <c:pt idx="7">
                  <c:v>-1.3</c:v>
                </c:pt>
                <c:pt idx="8">
                  <c:v>-1.26</c:v>
                </c:pt>
                <c:pt idx="9">
                  <c:v>-1.22</c:v>
                </c:pt>
                <c:pt idx="10">
                  <c:v>-1.19</c:v>
                </c:pt>
                <c:pt idx="11">
                  <c:v>-1.14</c:v>
                </c:pt>
                <c:pt idx="12">
                  <c:v>-1.1</c:v>
                </c:pt>
                <c:pt idx="13">
                  <c:v>-1.06</c:v>
                </c:pt>
                <c:pt idx="14">
                  <c:v>-1.02</c:v>
                </c:pt>
                <c:pt idx="15">
                  <c:v>-0.98</c:v>
                </c:pt>
                <c:pt idx="16">
                  <c:v>-0.94</c:v>
                </c:pt>
                <c:pt idx="17">
                  <c:v>-0.9</c:v>
                </c:pt>
                <c:pt idx="18">
                  <c:v>-0.86</c:v>
                </c:pt>
                <c:pt idx="19">
                  <c:v>-0.82</c:v>
                </c:pt>
                <c:pt idx="20">
                  <c:v>-0.79</c:v>
                </c:pt>
                <c:pt idx="21">
                  <c:v>-0.74</c:v>
                </c:pt>
                <c:pt idx="22">
                  <c:v>-0.7</c:v>
                </c:pt>
                <c:pt idx="23">
                  <c:v>-0.67</c:v>
                </c:pt>
                <c:pt idx="24">
                  <c:v>-0.62</c:v>
                </c:pt>
                <c:pt idx="25">
                  <c:v>-0.58</c:v>
                </c:pt>
                <c:pt idx="26">
                  <c:v>-0.55</c:v>
                </c:pt>
                <c:pt idx="27">
                  <c:v>-0.5</c:v>
                </c:pt>
                <c:pt idx="28">
                  <c:v>-0.46</c:v>
                </c:pt>
                <c:pt idx="29">
                  <c:v>-0.42</c:v>
                </c:pt>
                <c:pt idx="30">
                  <c:v>-0.38</c:v>
                </c:pt>
                <c:pt idx="31">
                  <c:v>-0.34</c:v>
                </c:pt>
                <c:pt idx="32">
                  <c:v>-0.3</c:v>
                </c:pt>
                <c:pt idx="33">
                  <c:v>-0.26</c:v>
                </c:pt>
                <c:pt idx="34">
                  <c:v>-0.22</c:v>
                </c:pt>
                <c:pt idx="35">
                  <c:v>-0.18</c:v>
                </c:pt>
                <c:pt idx="36">
                  <c:v>-0.14</c:v>
                </c:pt>
                <c:pt idx="37">
                  <c:v>-0.1</c:v>
                </c:pt>
                <c:pt idx="38">
                  <c:v>-0.06</c:v>
                </c:pt>
                <c:pt idx="39">
                  <c:v>-0.03</c:v>
                </c:pt>
                <c:pt idx="40">
                  <c:v>0.02</c:v>
                </c:pt>
                <c:pt idx="41">
                  <c:v>0.06</c:v>
                </c:pt>
                <c:pt idx="42">
                  <c:v>0.1</c:v>
                </c:pt>
                <c:pt idx="43">
                  <c:v>0.14</c:v>
                </c:pt>
                <c:pt idx="44">
                  <c:v>0.18</c:v>
                </c:pt>
                <c:pt idx="45">
                  <c:v>0.22</c:v>
                </c:pt>
                <c:pt idx="46">
                  <c:v>0.26</c:v>
                </c:pt>
                <c:pt idx="47">
                  <c:v>0.3</c:v>
                </c:pt>
                <c:pt idx="48">
                  <c:v>0.34</c:v>
                </c:pt>
                <c:pt idx="49">
                  <c:v>0.38</c:v>
                </c:pt>
                <c:pt idx="50">
                  <c:v>0.42</c:v>
                </c:pt>
                <c:pt idx="51">
                  <c:v>0.46</c:v>
                </c:pt>
                <c:pt idx="52">
                  <c:v>0.49</c:v>
                </c:pt>
                <c:pt idx="53">
                  <c:v>0.54</c:v>
                </c:pt>
                <c:pt idx="54">
                  <c:v>0.58</c:v>
                </c:pt>
                <c:pt idx="55">
                  <c:v>0.61</c:v>
                </c:pt>
                <c:pt idx="56">
                  <c:v>0.66</c:v>
                </c:pt>
                <c:pt idx="57">
                  <c:v>0.7</c:v>
                </c:pt>
                <c:pt idx="58">
                  <c:v>0.74</c:v>
                </c:pt>
                <c:pt idx="59">
                  <c:v>0.78</c:v>
                </c:pt>
                <c:pt idx="60">
                  <c:v>0.82</c:v>
                </c:pt>
                <c:pt idx="61">
                  <c:v>0.86</c:v>
                </c:pt>
                <c:pt idx="62">
                  <c:v>0.9</c:v>
                </c:pt>
                <c:pt idx="63">
                  <c:v>0.94</c:v>
                </c:pt>
                <c:pt idx="64">
                  <c:v>0.98</c:v>
                </c:pt>
                <c:pt idx="65">
                  <c:v>1.01</c:v>
                </c:pt>
                <c:pt idx="66">
                  <c:v>1.06</c:v>
                </c:pt>
                <c:pt idx="67">
                  <c:v>1.1</c:v>
                </c:pt>
                <c:pt idx="68">
                  <c:v>1.13</c:v>
                </c:pt>
                <c:pt idx="69">
                  <c:v>1.18</c:v>
                </c:pt>
                <c:pt idx="70">
                  <c:v>1.22</c:v>
                </c:pt>
                <c:pt idx="71">
                  <c:v>1.26</c:v>
                </c:pt>
                <c:pt idx="72">
                  <c:v>1.3</c:v>
                </c:pt>
                <c:pt idx="73">
                  <c:v>1.34</c:v>
                </c:pt>
                <c:pt idx="74">
                  <c:v>1.38</c:v>
                </c:pt>
                <c:pt idx="75">
                  <c:v>1.42</c:v>
                </c:pt>
                <c:pt idx="76">
                  <c:v>1.46</c:v>
                </c:pt>
                <c:pt idx="77">
                  <c:v>1.5</c:v>
                </c:pt>
                <c:pt idx="78">
                  <c:v>1.53</c:v>
                </c:pt>
                <c:pt idx="79">
                  <c:v>1.58</c:v>
                </c:pt>
                <c:pt idx="80">
                  <c:v>1.62</c:v>
                </c:pt>
                <c:pt idx="81">
                  <c:v>1.66</c:v>
                </c:pt>
                <c:pt idx="82">
                  <c:v>1.7</c:v>
                </c:pt>
                <c:pt idx="83">
                  <c:v>1.74</c:v>
                </c:pt>
                <c:pt idx="84">
                  <c:v>1.77</c:v>
                </c:pt>
                <c:pt idx="85">
                  <c:v>1.82</c:v>
                </c:pt>
                <c:pt idx="86">
                  <c:v>1.86</c:v>
                </c:pt>
                <c:pt idx="87">
                  <c:v>1.9</c:v>
                </c:pt>
                <c:pt idx="88">
                  <c:v>1.94</c:v>
                </c:pt>
                <c:pt idx="89">
                  <c:v>1.98</c:v>
                </c:pt>
                <c:pt idx="90">
                  <c:v>2.02</c:v>
                </c:pt>
                <c:pt idx="91">
                  <c:v>2.06</c:v>
                </c:pt>
                <c:pt idx="92">
                  <c:v>2.1</c:v>
                </c:pt>
                <c:pt idx="93">
                  <c:v>2.14</c:v>
                </c:pt>
                <c:pt idx="94">
                  <c:v>2.17</c:v>
                </c:pt>
                <c:pt idx="95">
                  <c:v>2.22</c:v>
                </c:pt>
                <c:pt idx="96">
                  <c:v>2.26</c:v>
                </c:pt>
                <c:pt idx="97">
                  <c:v>2.29</c:v>
                </c:pt>
                <c:pt idx="98">
                  <c:v>2.34</c:v>
                </c:pt>
                <c:pt idx="99">
                  <c:v>2.38</c:v>
                </c:pt>
                <c:pt idx="100">
                  <c:v>2.42</c:v>
                </c:pt>
                <c:pt idx="101">
                  <c:v>2.46</c:v>
                </c:pt>
                <c:pt idx="102">
                  <c:v>2.5</c:v>
                </c:pt>
                <c:pt idx="103">
                  <c:v>2.54</c:v>
                </c:pt>
                <c:pt idx="104">
                  <c:v>2.58</c:v>
                </c:pt>
                <c:pt idx="105">
                  <c:v>2.62</c:v>
                </c:pt>
                <c:pt idx="106">
                  <c:v>2.66</c:v>
                </c:pt>
                <c:pt idx="107">
                  <c:v>2.69</c:v>
                </c:pt>
                <c:pt idx="108">
                  <c:v>2.74</c:v>
                </c:pt>
                <c:pt idx="109">
                  <c:v>2.78</c:v>
                </c:pt>
                <c:pt idx="110">
                  <c:v>2.81</c:v>
                </c:pt>
                <c:pt idx="111">
                  <c:v>2.86</c:v>
                </c:pt>
                <c:pt idx="112">
                  <c:v>2.9</c:v>
                </c:pt>
                <c:pt idx="113">
                  <c:v>2.93</c:v>
                </c:pt>
                <c:pt idx="114">
                  <c:v>2.98</c:v>
                </c:pt>
                <c:pt idx="115">
                  <c:v>3.02</c:v>
                </c:pt>
                <c:pt idx="116">
                  <c:v>3.06</c:v>
                </c:pt>
                <c:pt idx="117">
                  <c:v>3.1</c:v>
                </c:pt>
                <c:pt idx="118">
                  <c:v>3.14</c:v>
                </c:pt>
                <c:pt idx="119">
                  <c:v>3.18</c:v>
                </c:pt>
                <c:pt idx="120">
                  <c:v>3.22</c:v>
                </c:pt>
                <c:pt idx="121">
                  <c:v>3.26</c:v>
                </c:pt>
                <c:pt idx="122">
                  <c:v>3.3</c:v>
                </c:pt>
                <c:pt idx="123">
                  <c:v>3.33</c:v>
                </c:pt>
                <c:pt idx="124">
                  <c:v>3.38</c:v>
                </c:pt>
                <c:pt idx="125">
                  <c:v>3.42</c:v>
                </c:pt>
                <c:pt idx="126">
                  <c:v>3.45</c:v>
                </c:pt>
                <c:pt idx="127">
                  <c:v>3.5</c:v>
                </c:pt>
                <c:pt idx="128">
                  <c:v>3.54</c:v>
                </c:pt>
                <c:pt idx="129">
                  <c:v>3.58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130"/>
                <c:pt idx="0">
                  <c:v>15.1045852971871</c:v>
                </c:pt>
                <c:pt idx="1">
                  <c:v>14.6570906048915</c:v>
                </c:pt>
                <c:pt idx="2">
                  <c:v>13.3440157748708</c:v>
                </c:pt>
                <c:pt idx="3">
                  <c:v>11.3817099330461</c:v>
                </c:pt>
                <c:pt idx="4">
                  <c:v>8.88513961623564</c:v>
                </c:pt>
                <c:pt idx="5">
                  <c:v>9.98747275340464</c:v>
                </c:pt>
                <c:pt idx="6">
                  <c:v>10.5533713096811</c:v>
                </c:pt>
                <c:pt idx="7">
                  <c:v>11.1320989485362</c:v>
                </c:pt>
                <c:pt idx="8">
                  <c:v>13.645380793514</c:v>
                </c:pt>
                <c:pt idx="9">
                  <c:v>9.96910557673054</c:v>
                </c:pt>
                <c:pt idx="10">
                  <c:v>9.70009020576613</c:v>
                </c:pt>
                <c:pt idx="11">
                  <c:v>12.6323738861704</c:v>
                </c:pt>
                <c:pt idx="12">
                  <c:v>11.8691255364496</c:v>
                </c:pt>
                <c:pt idx="13">
                  <c:v>11.8201632391435</c:v>
                </c:pt>
                <c:pt idx="14">
                  <c:v>8.62424709757321</c:v>
                </c:pt>
                <c:pt idx="15">
                  <c:v>8.02161112246162</c:v>
                </c:pt>
                <c:pt idx="16">
                  <c:v>7.90092203480075</c:v>
                </c:pt>
                <c:pt idx="17">
                  <c:v>7.508466554497</c:v>
                </c:pt>
                <c:pt idx="18">
                  <c:v>7.57963923943614</c:v>
                </c:pt>
                <c:pt idx="19">
                  <c:v>9.29526686007454</c:v>
                </c:pt>
                <c:pt idx="20">
                  <c:v>10.2517113205552</c:v>
                </c:pt>
                <c:pt idx="21">
                  <c:v>10.4487102553377</c:v>
                </c:pt>
                <c:pt idx="22">
                  <c:v>13.8469649021004</c:v>
                </c:pt>
                <c:pt idx="23">
                  <c:v>9.90680806314526</c:v>
                </c:pt>
                <c:pt idx="24">
                  <c:v>7.74529289310611</c:v>
                </c:pt>
                <c:pt idx="25">
                  <c:v>9.82913454989807</c:v>
                </c:pt>
                <c:pt idx="26">
                  <c:v>7.8566293663377</c:v>
                </c:pt>
                <c:pt idx="27">
                  <c:v>6.15317519659566</c:v>
                </c:pt>
                <c:pt idx="28">
                  <c:v>9.57183388907267</c:v>
                </c:pt>
                <c:pt idx="29">
                  <c:v>12.8216389357991</c:v>
                </c:pt>
                <c:pt idx="30">
                  <c:v>9.92297762770833</c:v>
                </c:pt>
                <c:pt idx="31">
                  <c:v>12.4916065419945</c:v>
                </c:pt>
                <c:pt idx="32">
                  <c:v>15.8549344054146</c:v>
                </c:pt>
                <c:pt idx="33">
                  <c:v>11.1016761797487</c:v>
                </c:pt>
                <c:pt idx="34">
                  <c:v>12.4012837238731</c:v>
                </c:pt>
                <c:pt idx="35">
                  <c:v>13.6620359024561</c:v>
                </c:pt>
                <c:pt idx="36">
                  <c:v>12.6132711459003</c:v>
                </c:pt>
                <c:pt idx="37">
                  <c:v>7.44643357588047</c:v>
                </c:pt>
                <c:pt idx="38">
                  <c:v>8.60051300795482</c:v>
                </c:pt>
                <c:pt idx="39">
                  <c:v>9.49135148437777</c:v>
                </c:pt>
                <c:pt idx="40">
                  <c:v>7.79963755568167</c:v>
                </c:pt>
                <c:pt idx="41">
                  <c:v>7.34204399333047</c:v>
                </c:pt>
                <c:pt idx="42">
                  <c:v>19.5000352307374</c:v>
                </c:pt>
                <c:pt idx="43">
                  <c:v>21.8358883492291</c:v>
                </c:pt>
                <c:pt idx="44">
                  <c:v>12.6609257560417</c:v>
                </c:pt>
                <c:pt idx="45">
                  <c:v>14.1483900497548</c:v>
                </c:pt>
                <c:pt idx="46">
                  <c:v>11.5388001542621</c:v>
                </c:pt>
                <c:pt idx="47">
                  <c:v>9.25423049205065</c:v>
                </c:pt>
                <c:pt idx="48">
                  <c:v>7.58831615050401</c:v>
                </c:pt>
                <c:pt idx="49">
                  <c:v>10.4915090430309</c:v>
                </c:pt>
                <c:pt idx="50">
                  <c:v>12.7139336556394</c:v>
                </c:pt>
                <c:pt idx="51">
                  <c:v>8.93035973519544</c:v>
                </c:pt>
                <c:pt idx="52">
                  <c:v>9.38447041659784</c:v>
                </c:pt>
                <c:pt idx="53">
                  <c:v>7.6319808044832</c:v>
                </c:pt>
                <c:pt idx="54">
                  <c:v>6.08799507227133</c:v>
                </c:pt>
                <c:pt idx="55">
                  <c:v>9.4995424626663</c:v>
                </c:pt>
                <c:pt idx="56">
                  <c:v>24.3578350638968</c:v>
                </c:pt>
                <c:pt idx="57">
                  <c:v>14.5249345953777</c:v>
                </c:pt>
                <c:pt idx="58">
                  <c:v>13.1821681069542</c:v>
                </c:pt>
                <c:pt idx="59">
                  <c:v>14.3535204740858</c:v>
                </c:pt>
                <c:pt idx="60">
                  <c:v>11.4503427459618</c:v>
                </c:pt>
                <c:pt idx="61">
                  <c:v>8.55690019808575</c:v>
                </c:pt>
                <c:pt idx="62">
                  <c:v>5.74953719876652</c:v>
                </c:pt>
                <c:pt idx="63">
                  <c:v>14.4211969683518</c:v>
                </c:pt>
                <c:pt idx="64">
                  <c:v>14.3402072858101</c:v>
                </c:pt>
                <c:pt idx="65">
                  <c:v>11.9403839134259</c:v>
                </c:pt>
                <c:pt idx="66">
                  <c:v>12.5494328955535</c:v>
                </c:pt>
                <c:pt idx="67">
                  <c:v>6.1596009611013</c:v>
                </c:pt>
                <c:pt idx="68">
                  <c:v>3.80458473423842</c:v>
                </c:pt>
                <c:pt idx="69">
                  <c:v>9.03973898959478</c:v>
                </c:pt>
                <c:pt idx="70">
                  <c:v>15.980756834393</c:v>
                </c:pt>
                <c:pt idx="71">
                  <c:v>16.2478693372393</c:v>
                </c:pt>
                <c:pt idx="72">
                  <c:v>12.6058192911052</c:v>
                </c:pt>
                <c:pt idx="73">
                  <c:v>16.0277864660096</c:v>
                </c:pt>
                <c:pt idx="74">
                  <c:v>11.0763579754358</c:v>
                </c:pt>
                <c:pt idx="75">
                  <c:v>8.63909335520806</c:v>
                </c:pt>
                <c:pt idx="76">
                  <c:v>5.23747009538002</c:v>
                </c:pt>
                <c:pt idx="77">
                  <c:v>5.77047121126169</c:v>
                </c:pt>
                <c:pt idx="78">
                  <c:v>11.5435289231673</c:v>
                </c:pt>
                <c:pt idx="79">
                  <c:v>7.98517476327225</c:v>
                </c:pt>
                <c:pt idx="80">
                  <c:v>9.63490259421443</c:v>
                </c:pt>
                <c:pt idx="81">
                  <c:v>8.90065486354796</c:v>
                </c:pt>
                <c:pt idx="82">
                  <c:v>10.1227967479348</c:v>
                </c:pt>
                <c:pt idx="83">
                  <c:v>8.2573550850136</c:v>
                </c:pt>
                <c:pt idx="84">
                  <c:v>14.3524887388912</c:v>
                </c:pt>
                <c:pt idx="85">
                  <c:v>21.3305835832028</c:v>
                </c:pt>
                <c:pt idx="86">
                  <c:v>12.4499154615604</c:v>
                </c:pt>
                <c:pt idx="87">
                  <c:v>14.8499290907398</c:v>
                </c:pt>
                <c:pt idx="88">
                  <c:v>9.56003436186293</c:v>
                </c:pt>
                <c:pt idx="89">
                  <c:v>7.59805672524232</c:v>
                </c:pt>
                <c:pt idx="90">
                  <c:v>7.07613022774454</c:v>
                </c:pt>
                <c:pt idx="91">
                  <c:v>10.2019841207483</c:v>
                </c:pt>
                <c:pt idx="92">
                  <c:v>24.2381564274183</c:v>
                </c:pt>
                <c:pt idx="93">
                  <c:v>11.2018581494322</c:v>
                </c:pt>
                <c:pt idx="94">
                  <c:v>5.47353898314427</c:v>
                </c:pt>
                <c:pt idx="95">
                  <c:v>9.32938143715863</c:v>
                </c:pt>
                <c:pt idx="96">
                  <c:v>6.36811471316276</c:v>
                </c:pt>
                <c:pt idx="97">
                  <c:v>8.87005811705876</c:v>
                </c:pt>
                <c:pt idx="98">
                  <c:v>13.9517127980761</c:v>
                </c:pt>
                <c:pt idx="99">
                  <c:v>20.4655231303771</c:v>
                </c:pt>
                <c:pt idx="100">
                  <c:v>13.8619060017012</c:v>
                </c:pt>
                <c:pt idx="101">
                  <c:v>11.4014113161485</c:v>
                </c:pt>
                <c:pt idx="102">
                  <c:v>9.91108712503326</c:v>
                </c:pt>
                <c:pt idx="103">
                  <c:v>7.52273706838143</c:v>
                </c:pt>
                <c:pt idx="104">
                  <c:v>8.80322293254011</c:v>
                </c:pt>
                <c:pt idx="105">
                  <c:v>9.98715119541103</c:v>
                </c:pt>
                <c:pt idx="106">
                  <c:v>11.4337682327394</c:v>
                </c:pt>
                <c:pt idx="107">
                  <c:v>12.2140121581731</c:v>
                </c:pt>
                <c:pt idx="108">
                  <c:v>9.8070603648596</c:v>
                </c:pt>
                <c:pt idx="109">
                  <c:v>10.3475511112533</c:v>
                </c:pt>
                <c:pt idx="110">
                  <c:v>12.5548351243654</c:v>
                </c:pt>
                <c:pt idx="111">
                  <c:v>14.1307829224003</c:v>
                </c:pt>
                <c:pt idx="112">
                  <c:v>16.3371955059612</c:v>
                </c:pt>
                <c:pt idx="113">
                  <c:v>15.9452060193652</c:v>
                </c:pt>
                <c:pt idx="114">
                  <c:v>9.61874258934088</c:v>
                </c:pt>
                <c:pt idx="115">
                  <c:v>9.39469499238799</c:v>
                </c:pt>
                <c:pt idx="116">
                  <c:v>8.060702760926</c:v>
                </c:pt>
                <c:pt idx="117">
                  <c:v>8.52678585400149</c:v>
                </c:pt>
                <c:pt idx="118">
                  <c:v>9.87634213664148</c:v>
                </c:pt>
                <c:pt idx="119">
                  <c:v>10.0881896790257</c:v>
                </c:pt>
                <c:pt idx="120">
                  <c:v>13.9465858187587</c:v>
                </c:pt>
                <c:pt idx="121">
                  <c:v>10.986831617896</c:v>
                </c:pt>
                <c:pt idx="122">
                  <c:v>9.8981853387376</c:v>
                </c:pt>
                <c:pt idx="123">
                  <c:v>11.0862122476525</c:v>
                </c:pt>
                <c:pt idx="124">
                  <c:v>8.28454965583525</c:v>
                </c:pt>
                <c:pt idx="125">
                  <c:v>8.38596005237325</c:v>
                </c:pt>
                <c:pt idx="126">
                  <c:v>8.94096174916323</c:v>
                </c:pt>
                <c:pt idx="127">
                  <c:v>8.53548100577818</c:v>
                </c:pt>
                <c:pt idx="128">
                  <c:v>8.11516537108148</c:v>
                </c:pt>
                <c:pt idx="129">
                  <c:v>9.03322694279293</c:v>
                </c:pt>
              </c:numCache>
            </c:numRef>
          </c:val>
          <c:smooth val="0"/>
        </c:ser>
        <c:hiLowLines>
          <c:spPr>
            <a:ln w="0">
              <a:noFill/>
            </a:ln>
          </c:spPr>
        </c:hiLowLines>
        <c:marker val="0"/>
        <c:axId val="19485868"/>
        <c:axId val="70531588"/>
      </c:lineChart>
      <c:catAx>
        <c:axId val="19485868"/>
        <c:scaling>
          <c:orientation val="minMax"/>
        </c:scaling>
        <c:delete val="1"/>
        <c:axPos val="b"/>
        <c:numFmt formatCode="[$-819]dd/mm/yyyy" sourceLinked="1"/>
        <c:majorTickMark val="out"/>
        <c:minorTickMark val="none"/>
        <c:tickLblPos val="low"/>
        <c:spPr>
          <a:ln w="12600">
            <a:solidFill>
              <a:srgbClr val="C9CFD9"/>
            </a:solidFill>
            <a:round/>
          </a:ln>
        </c:spPr>
        <c:txPr>
          <a:bodyPr/>
          <a:lstStyle/>
          <a:p>
            <a:pPr>
              <a:defRPr sz="1050" b="0" u="none" strike="noStrike">
                <a:solidFill>
                  <a:srgbClr val="5B6475"/>
                </a:solidFill>
                <a:uFillTx/>
                <a:latin typeface="Segoe UI"/>
              </a:defRPr>
            </a:pPr>
          </a:p>
        </c:txPr>
        <c:crossAx val="70531588"/>
        <c:auto val="1"/>
        <c:lblAlgn val="ctr"/>
        <c:lblOffset val="100"/>
        <c:noMultiLvlLbl val="0"/>
      </c:catAx>
      <c:valAx>
        <c:axId val="70531588"/>
        <c:scaling>
          <c:orientation val="minMax"/>
          <c:max val="30"/>
          <c:min val="0"/>
        </c:scaling>
        <c:delete val="0"/>
        <c:axPos val="l"/>
        <c:majorGridlines>
          <c:spPr>
            <a:ln w="6480">
              <a:solidFill>
                <a:srgbClr val="E3E7EE"/>
              </a:solidFill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600">
            <a:noFill/>
          </a:ln>
        </c:spPr>
        <c:txPr>
          <a:bodyPr/>
          <a:lstStyle/>
          <a:p>
            <a:pPr>
              <a:defRPr sz="900" b="0" u="none" strike="noStrike">
                <a:solidFill>
                  <a:srgbClr val="5B6475"/>
                </a:solidFill>
                <a:uFillTx/>
                <a:latin typeface="Segoe UI"/>
              </a:defRPr>
            </a:pPr>
          </a:p>
        </c:txPr>
        <c:crossAx val="19485868"/>
        <c:crosses val="autoZero"/>
        <c:crossBetween val="between"/>
      </c:valAx>
      <c:spPr>
        <a:noFill/>
        <a:ln w="0">
          <a:noFill/>
        </a:ln>
      </c:spPr>
    </c:plotArea>
    <c:plotVisOnly val="1"/>
    <c:dispBlanksAs val="span"/>
  </c:chart>
  <c:spPr>
    <a:noFill/>
    <a:ln w="0">
      <a:noFill/>
    </a:ln>
  </c:spPr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X</c:v>
                </c:pt>
              </c:strCache>
            </c:strRef>
          </c:tx>
          <c:spPr>
            <a:solidFill>
              <a:srgbClr val="E53935"/>
            </a:solidFill>
            <a:ln w="12600">
              <a:solidFill>
                <a:srgbClr val="E53935"/>
              </a:solidFill>
              <a:round/>
            </a:ln>
          </c:spPr>
          <c:marker>
            <c:symbol val="none"/>
          </c:marker>
          <c:dLbls>
            <c:txPr>
              <a:bodyPr wrap="square"/>
              <a:lstStyle/>
              <a:p>
                <a:pPr>
                  <a:defRPr sz="1000" b="0" u="none" strike="noStrike">
                    <a:solidFill>
                      <a:srgbClr val="1B2333"/>
                    </a:solidFill>
                    <a:uFillTx/>
                    <a:latin typeface="Segoe UI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130"/>
                <c:pt idx="0">
                  <c:v>-1.58</c:v>
                </c:pt>
                <c:pt idx="1">
                  <c:v>-1.54</c:v>
                </c:pt>
                <c:pt idx="2">
                  <c:v>-1.5</c:v>
                </c:pt>
                <c:pt idx="3">
                  <c:v>-1.46</c:v>
                </c:pt>
                <c:pt idx="4">
                  <c:v>-1.42</c:v>
                </c:pt>
                <c:pt idx="5">
                  <c:v>-1.38</c:v>
                </c:pt>
                <c:pt idx="6">
                  <c:v>-1.34</c:v>
                </c:pt>
                <c:pt idx="7">
                  <c:v>-1.3</c:v>
                </c:pt>
                <c:pt idx="8">
                  <c:v>-1.26</c:v>
                </c:pt>
                <c:pt idx="9">
                  <c:v>-1.22</c:v>
                </c:pt>
                <c:pt idx="10">
                  <c:v>-1.19</c:v>
                </c:pt>
                <c:pt idx="11">
                  <c:v>-1.14</c:v>
                </c:pt>
                <c:pt idx="12">
                  <c:v>-1.1</c:v>
                </c:pt>
                <c:pt idx="13">
                  <c:v>-1.06</c:v>
                </c:pt>
                <c:pt idx="14">
                  <c:v>-1.02</c:v>
                </c:pt>
                <c:pt idx="15">
                  <c:v>-0.98</c:v>
                </c:pt>
                <c:pt idx="16">
                  <c:v>-0.94</c:v>
                </c:pt>
                <c:pt idx="17">
                  <c:v>-0.9</c:v>
                </c:pt>
                <c:pt idx="18">
                  <c:v>-0.86</c:v>
                </c:pt>
                <c:pt idx="19">
                  <c:v>-0.82</c:v>
                </c:pt>
                <c:pt idx="20">
                  <c:v>-0.79</c:v>
                </c:pt>
                <c:pt idx="21">
                  <c:v>-0.74</c:v>
                </c:pt>
                <c:pt idx="22">
                  <c:v>-0.7</c:v>
                </c:pt>
                <c:pt idx="23">
                  <c:v>-0.67</c:v>
                </c:pt>
                <c:pt idx="24">
                  <c:v>-0.62</c:v>
                </c:pt>
                <c:pt idx="25">
                  <c:v>-0.58</c:v>
                </c:pt>
                <c:pt idx="26">
                  <c:v>-0.55</c:v>
                </c:pt>
                <c:pt idx="27">
                  <c:v>-0.5</c:v>
                </c:pt>
                <c:pt idx="28">
                  <c:v>-0.46</c:v>
                </c:pt>
                <c:pt idx="29">
                  <c:v>-0.42</c:v>
                </c:pt>
                <c:pt idx="30">
                  <c:v>-0.38</c:v>
                </c:pt>
                <c:pt idx="31">
                  <c:v>-0.34</c:v>
                </c:pt>
                <c:pt idx="32">
                  <c:v>-0.3</c:v>
                </c:pt>
                <c:pt idx="33">
                  <c:v>-0.26</c:v>
                </c:pt>
                <c:pt idx="34">
                  <c:v>-0.22</c:v>
                </c:pt>
                <c:pt idx="35">
                  <c:v>-0.18</c:v>
                </c:pt>
                <c:pt idx="36">
                  <c:v>-0.14</c:v>
                </c:pt>
                <c:pt idx="37">
                  <c:v>-0.1</c:v>
                </c:pt>
                <c:pt idx="38">
                  <c:v>-0.06</c:v>
                </c:pt>
                <c:pt idx="39">
                  <c:v>-0.03</c:v>
                </c:pt>
                <c:pt idx="40">
                  <c:v>0.02</c:v>
                </c:pt>
                <c:pt idx="41">
                  <c:v>0.06</c:v>
                </c:pt>
                <c:pt idx="42">
                  <c:v>0.1</c:v>
                </c:pt>
                <c:pt idx="43">
                  <c:v>0.14</c:v>
                </c:pt>
                <c:pt idx="44">
                  <c:v>0.18</c:v>
                </c:pt>
                <c:pt idx="45">
                  <c:v>0.22</c:v>
                </c:pt>
                <c:pt idx="46">
                  <c:v>0.26</c:v>
                </c:pt>
                <c:pt idx="47">
                  <c:v>0.3</c:v>
                </c:pt>
                <c:pt idx="48">
                  <c:v>0.34</c:v>
                </c:pt>
                <c:pt idx="49">
                  <c:v>0.38</c:v>
                </c:pt>
                <c:pt idx="50">
                  <c:v>0.42</c:v>
                </c:pt>
                <c:pt idx="51">
                  <c:v>0.46</c:v>
                </c:pt>
                <c:pt idx="52">
                  <c:v>0.49</c:v>
                </c:pt>
                <c:pt idx="53">
                  <c:v>0.54</c:v>
                </c:pt>
                <c:pt idx="54">
                  <c:v>0.58</c:v>
                </c:pt>
                <c:pt idx="55">
                  <c:v>0.61</c:v>
                </c:pt>
                <c:pt idx="56">
                  <c:v>0.66</c:v>
                </c:pt>
                <c:pt idx="57">
                  <c:v>0.7</c:v>
                </c:pt>
                <c:pt idx="58">
                  <c:v>0.74</c:v>
                </c:pt>
                <c:pt idx="59">
                  <c:v>0.78</c:v>
                </c:pt>
                <c:pt idx="60">
                  <c:v>0.82</c:v>
                </c:pt>
                <c:pt idx="61">
                  <c:v>0.86</c:v>
                </c:pt>
                <c:pt idx="62">
                  <c:v>0.9</c:v>
                </c:pt>
                <c:pt idx="63">
                  <c:v>0.94</c:v>
                </c:pt>
                <c:pt idx="64">
                  <c:v>0.98</c:v>
                </c:pt>
                <c:pt idx="65">
                  <c:v>1.01</c:v>
                </c:pt>
                <c:pt idx="66">
                  <c:v>1.06</c:v>
                </c:pt>
                <c:pt idx="67">
                  <c:v>1.1</c:v>
                </c:pt>
                <c:pt idx="68">
                  <c:v>1.13</c:v>
                </c:pt>
                <c:pt idx="69">
                  <c:v>1.18</c:v>
                </c:pt>
                <c:pt idx="70">
                  <c:v>1.22</c:v>
                </c:pt>
                <c:pt idx="71">
                  <c:v>1.26</c:v>
                </c:pt>
                <c:pt idx="72">
                  <c:v>1.3</c:v>
                </c:pt>
                <c:pt idx="73">
                  <c:v>1.34</c:v>
                </c:pt>
                <c:pt idx="74">
                  <c:v>1.38</c:v>
                </c:pt>
                <c:pt idx="75">
                  <c:v>1.42</c:v>
                </c:pt>
                <c:pt idx="76">
                  <c:v>1.46</c:v>
                </c:pt>
                <c:pt idx="77">
                  <c:v>1.5</c:v>
                </c:pt>
                <c:pt idx="78">
                  <c:v>1.53</c:v>
                </c:pt>
                <c:pt idx="79">
                  <c:v>1.58</c:v>
                </c:pt>
                <c:pt idx="80">
                  <c:v>1.62</c:v>
                </c:pt>
                <c:pt idx="81">
                  <c:v>1.66</c:v>
                </c:pt>
                <c:pt idx="82">
                  <c:v>1.7</c:v>
                </c:pt>
                <c:pt idx="83">
                  <c:v>1.74</c:v>
                </c:pt>
                <c:pt idx="84">
                  <c:v>1.77</c:v>
                </c:pt>
                <c:pt idx="85">
                  <c:v>1.82</c:v>
                </c:pt>
                <c:pt idx="86">
                  <c:v>1.86</c:v>
                </c:pt>
                <c:pt idx="87">
                  <c:v>1.9</c:v>
                </c:pt>
                <c:pt idx="88">
                  <c:v>1.94</c:v>
                </c:pt>
                <c:pt idx="89">
                  <c:v>1.98</c:v>
                </c:pt>
                <c:pt idx="90">
                  <c:v>2.02</c:v>
                </c:pt>
                <c:pt idx="91">
                  <c:v>2.06</c:v>
                </c:pt>
                <c:pt idx="92">
                  <c:v>2.1</c:v>
                </c:pt>
                <c:pt idx="93">
                  <c:v>2.14</c:v>
                </c:pt>
                <c:pt idx="94">
                  <c:v>2.17</c:v>
                </c:pt>
                <c:pt idx="95">
                  <c:v>2.22</c:v>
                </c:pt>
                <c:pt idx="96">
                  <c:v>2.26</c:v>
                </c:pt>
                <c:pt idx="97">
                  <c:v>2.29</c:v>
                </c:pt>
                <c:pt idx="98">
                  <c:v>2.34</c:v>
                </c:pt>
                <c:pt idx="99">
                  <c:v>2.38</c:v>
                </c:pt>
                <c:pt idx="100">
                  <c:v>2.42</c:v>
                </c:pt>
                <c:pt idx="101">
                  <c:v>2.46</c:v>
                </c:pt>
                <c:pt idx="102">
                  <c:v>2.5</c:v>
                </c:pt>
                <c:pt idx="103">
                  <c:v>2.54</c:v>
                </c:pt>
                <c:pt idx="104">
                  <c:v>2.58</c:v>
                </c:pt>
                <c:pt idx="105">
                  <c:v>2.62</c:v>
                </c:pt>
                <c:pt idx="106">
                  <c:v>2.66</c:v>
                </c:pt>
                <c:pt idx="107">
                  <c:v>2.69</c:v>
                </c:pt>
                <c:pt idx="108">
                  <c:v>2.74</c:v>
                </c:pt>
                <c:pt idx="109">
                  <c:v>2.78</c:v>
                </c:pt>
                <c:pt idx="110">
                  <c:v>2.81</c:v>
                </c:pt>
                <c:pt idx="111">
                  <c:v>2.86</c:v>
                </c:pt>
                <c:pt idx="112">
                  <c:v>2.9</c:v>
                </c:pt>
                <c:pt idx="113">
                  <c:v>2.93</c:v>
                </c:pt>
                <c:pt idx="114">
                  <c:v>2.98</c:v>
                </c:pt>
                <c:pt idx="115">
                  <c:v>3.02</c:v>
                </c:pt>
                <c:pt idx="116">
                  <c:v>3.06</c:v>
                </c:pt>
                <c:pt idx="117">
                  <c:v>3.1</c:v>
                </c:pt>
                <c:pt idx="118">
                  <c:v>3.14</c:v>
                </c:pt>
                <c:pt idx="119">
                  <c:v>3.18</c:v>
                </c:pt>
                <c:pt idx="120">
                  <c:v>3.22</c:v>
                </c:pt>
                <c:pt idx="121">
                  <c:v>3.26</c:v>
                </c:pt>
                <c:pt idx="122">
                  <c:v>3.3</c:v>
                </c:pt>
                <c:pt idx="123">
                  <c:v>3.33</c:v>
                </c:pt>
                <c:pt idx="124">
                  <c:v>3.38</c:v>
                </c:pt>
                <c:pt idx="125">
                  <c:v>3.42</c:v>
                </c:pt>
                <c:pt idx="126">
                  <c:v>3.45</c:v>
                </c:pt>
                <c:pt idx="127">
                  <c:v>3.5</c:v>
                </c:pt>
                <c:pt idx="128">
                  <c:v>3.54</c:v>
                </c:pt>
                <c:pt idx="129">
                  <c:v>3.58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130"/>
                <c:pt idx="0">
                  <c:v>5.92</c:v>
                </c:pt>
                <c:pt idx="1">
                  <c:v>3.116</c:v>
                </c:pt>
                <c:pt idx="2">
                  <c:v>1.786</c:v>
                </c:pt>
                <c:pt idx="3">
                  <c:v>4.03</c:v>
                </c:pt>
                <c:pt idx="4">
                  <c:v>3.867</c:v>
                </c:pt>
                <c:pt idx="5">
                  <c:v>4.078</c:v>
                </c:pt>
                <c:pt idx="6">
                  <c:v>2.977</c:v>
                </c:pt>
                <c:pt idx="7">
                  <c:v>3.513</c:v>
                </c:pt>
                <c:pt idx="8">
                  <c:v>3.078</c:v>
                </c:pt>
                <c:pt idx="9">
                  <c:v>1.451</c:v>
                </c:pt>
                <c:pt idx="10">
                  <c:v>1.058</c:v>
                </c:pt>
                <c:pt idx="11">
                  <c:v>0.91</c:v>
                </c:pt>
                <c:pt idx="12">
                  <c:v>1.178</c:v>
                </c:pt>
                <c:pt idx="13">
                  <c:v>4.001</c:v>
                </c:pt>
                <c:pt idx="14">
                  <c:v>3.465</c:v>
                </c:pt>
                <c:pt idx="15">
                  <c:v>3.15</c:v>
                </c:pt>
                <c:pt idx="16">
                  <c:v>4.025</c:v>
                </c:pt>
                <c:pt idx="17">
                  <c:v>4.183</c:v>
                </c:pt>
                <c:pt idx="18">
                  <c:v>4.671</c:v>
                </c:pt>
                <c:pt idx="19">
                  <c:v>5.944</c:v>
                </c:pt>
                <c:pt idx="20">
                  <c:v>6.897</c:v>
                </c:pt>
                <c:pt idx="21">
                  <c:v>8.112</c:v>
                </c:pt>
                <c:pt idx="22">
                  <c:v>9.543</c:v>
                </c:pt>
                <c:pt idx="23">
                  <c:v>5.901</c:v>
                </c:pt>
                <c:pt idx="24">
                  <c:v>5.624</c:v>
                </c:pt>
                <c:pt idx="25">
                  <c:v>6.495</c:v>
                </c:pt>
                <c:pt idx="26">
                  <c:v>5.614</c:v>
                </c:pt>
                <c:pt idx="27">
                  <c:v>5.126</c:v>
                </c:pt>
                <c:pt idx="28">
                  <c:v>5.236</c:v>
                </c:pt>
                <c:pt idx="29">
                  <c:v>4.485</c:v>
                </c:pt>
                <c:pt idx="30">
                  <c:v>1.848</c:v>
                </c:pt>
                <c:pt idx="31">
                  <c:v>3.973</c:v>
                </c:pt>
                <c:pt idx="32">
                  <c:v>6.61</c:v>
                </c:pt>
                <c:pt idx="33">
                  <c:v>6.643</c:v>
                </c:pt>
                <c:pt idx="34">
                  <c:v>11.017</c:v>
                </c:pt>
                <c:pt idx="35">
                  <c:v>12.51</c:v>
                </c:pt>
                <c:pt idx="36">
                  <c:v>9.438</c:v>
                </c:pt>
                <c:pt idx="37">
                  <c:v>4.461</c:v>
                </c:pt>
                <c:pt idx="38">
                  <c:v>6.614</c:v>
                </c:pt>
                <c:pt idx="39">
                  <c:v>7.246</c:v>
                </c:pt>
                <c:pt idx="40">
                  <c:v>7.088</c:v>
                </c:pt>
                <c:pt idx="41">
                  <c:v>2.379</c:v>
                </c:pt>
                <c:pt idx="42">
                  <c:v>10.687</c:v>
                </c:pt>
                <c:pt idx="43">
                  <c:v>11.912</c:v>
                </c:pt>
                <c:pt idx="44">
                  <c:v>5.944</c:v>
                </c:pt>
                <c:pt idx="45">
                  <c:v>6.892</c:v>
                </c:pt>
                <c:pt idx="46">
                  <c:v>6.313</c:v>
                </c:pt>
                <c:pt idx="47">
                  <c:v>8.399</c:v>
                </c:pt>
                <c:pt idx="48">
                  <c:v>7.059</c:v>
                </c:pt>
                <c:pt idx="49">
                  <c:v>10.175</c:v>
                </c:pt>
                <c:pt idx="50">
                  <c:v>9.787</c:v>
                </c:pt>
                <c:pt idx="51">
                  <c:v>4.762</c:v>
                </c:pt>
                <c:pt idx="52">
                  <c:v>5.011</c:v>
                </c:pt>
                <c:pt idx="53">
                  <c:v>5.667</c:v>
                </c:pt>
                <c:pt idx="54">
                  <c:v>4.978</c:v>
                </c:pt>
                <c:pt idx="55">
                  <c:v>3.183</c:v>
                </c:pt>
                <c:pt idx="56">
                  <c:v>19.292</c:v>
                </c:pt>
                <c:pt idx="57">
                  <c:v>5.81</c:v>
                </c:pt>
                <c:pt idx="58">
                  <c:v>5.006</c:v>
                </c:pt>
                <c:pt idx="59">
                  <c:v>6.705</c:v>
                </c:pt>
                <c:pt idx="60">
                  <c:v>6.208</c:v>
                </c:pt>
                <c:pt idx="61">
                  <c:v>7.126</c:v>
                </c:pt>
                <c:pt idx="62">
                  <c:v>5.629</c:v>
                </c:pt>
                <c:pt idx="63">
                  <c:v>13.64</c:v>
                </c:pt>
                <c:pt idx="64">
                  <c:v>13.238</c:v>
                </c:pt>
                <c:pt idx="65">
                  <c:v>8.84</c:v>
                </c:pt>
                <c:pt idx="66">
                  <c:v>7.284</c:v>
                </c:pt>
                <c:pt idx="67">
                  <c:v>4.662</c:v>
                </c:pt>
                <c:pt idx="68">
                  <c:v>1.709</c:v>
                </c:pt>
                <c:pt idx="69">
                  <c:v>-2.076</c:v>
                </c:pt>
                <c:pt idx="70">
                  <c:v>11.022</c:v>
                </c:pt>
                <c:pt idx="71">
                  <c:v>9.993</c:v>
                </c:pt>
                <c:pt idx="72">
                  <c:v>3.738</c:v>
                </c:pt>
                <c:pt idx="73">
                  <c:v>7.117</c:v>
                </c:pt>
                <c:pt idx="74">
                  <c:v>6.796</c:v>
                </c:pt>
                <c:pt idx="75">
                  <c:v>6.418</c:v>
                </c:pt>
                <c:pt idx="76">
                  <c:v>3.346</c:v>
                </c:pt>
                <c:pt idx="77">
                  <c:v>0.829</c:v>
                </c:pt>
                <c:pt idx="78">
                  <c:v>10.606</c:v>
                </c:pt>
                <c:pt idx="79">
                  <c:v>5.384</c:v>
                </c:pt>
                <c:pt idx="80">
                  <c:v>6.246</c:v>
                </c:pt>
                <c:pt idx="81">
                  <c:v>7.102</c:v>
                </c:pt>
                <c:pt idx="82">
                  <c:v>9.242</c:v>
                </c:pt>
                <c:pt idx="83">
                  <c:v>4.36</c:v>
                </c:pt>
                <c:pt idx="84">
                  <c:v>5.82</c:v>
                </c:pt>
                <c:pt idx="85">
                  <c:v>14.812</c:v>
                </c:pt>
                <c:pt idx="86">
                  <c:v>5.715</c:v>
                </c:pt>
                <c:pt idx="87">
                  <c:v>8.328</c:v>
                </c:pt>
                <c:pt idx="88">
                  <c:v>8.151</c:v>
                </c:pt>
                <c:pt idx="89">
                  <c:v>7.136</c:v>
                </c:pt>
                <c:pt idx="90">
                  <c:v>4.547</c:v>
                </c:pt>
                <c:pt idx="91">
                  <c:v>2.7</c:v>
                </c:pt>
                <c:pt idx="92">
                  <c:v>16.267</c:v>
                </c:pt>
                <c:pt idx="93">
                  <c:v>9.251</c:v>
                </c:pt>
                <c:pt idx="94">
                  <c:v>3.245</c:v>
                </c:pt>
                <c:pt idx="95">
                  <c:v>5.021</c:v>
                </c:pt>
                <c:pt idx="96">
                  <c:v>6.222</c:v>
                </c:pt>
                <c:pt idx="97">
                  <c:v>7.873</c:v>
                </c:pt>
                <c:pt idx="98">
                  <c:v>10.543</c:v>
                </c:pt>
                <c:pt idx="99">
                  <c:v>14.774</c:v>
                </c:pt>
                <c:pt idx="100">
                  <c:v>11.333</c:v>
                </c:pt>
                <c:pt idx="101">
                  <c:v>9.424</c:v>
                </c:pt>
                <c:pt idx="102">
                  <c:v>8.036</c:v>
                </c:pt>
                <c:pt idx="103">
                  <c:v>5.839</c:v>
                </c:pt>
                <c:pt idx="104">
                  <c:v>6.05</c:v>
                </c:pt>
                <c:pt idx="105">
                  <c:v>6.777</c:v>
                </c:pt>
                <c:pt idx="106">
                  <c:v>8.572</c:v>
                </c:pt>
                <c:pt idx="107">
                  <c:v>9.658</c:v>
                </c:pt>
                <c:pt idx="108">
                  <c:v>6.528</c:v>
                </c:pt>
                <c:pt idx="109">
                  <c:v>4.743</c:v>
                </c:pt>
                <c:pt idx="110">
                  <c:v>4.021</c:v>
                </c:pt>
                <c:pt idx="111">
                  <c:v>5.911</c:v>
                </c:pt>
                <c:pt idx="112">
                  <c:v>9.031</c:v>
                </c:pt>
                <c:pt idx="113">
                  <c:v>8.907</c:v>
                </c:pt>
                <c:pt idx="114">
                  <c:v>8.323</c:v>
                </c:pt>
                <c:pt idx="115">
                  <c:v>9.313</c:v>
                </c:pt>
                <c:pt idx="116">
                  <c:v>7.634</c:v>
                </c:pt>
                <c:pt idx="117">
                  <c:v>7.629</c:v>
                </c:pt>
                <c:pt idx="118">
                  <c:v>7.337</c:v>
                </c:pt>
                <c:pt idx="119">
                  <c:v>6.959</c:v>
                </c:pt>
                <c:pt idx="120">
                  <c:v>5.116</c:v>
                </c:pt>
                <c:pt idx="121">
                  <c:v>3.26</c:v>
                </c:pt>
                <c:pt idx="122">
                  <c:v>7.284</c:v>
                </c:pt>
                <c:pt idx="123">
                  <c:v>8.05</c:v>
                </c:pt>
                <c:pt idx="124">
                  <c:v>5.069</c:v>
                </c:pt>
                <c:pt idx="125">
                  <c:v>3.365</c:v>
                </c:pt>
                <c:pt idx="126">
                  <c:v>2.862</c:v>
                </c:pt>
                <c:pt idx="127">
                  <c:v>2.786</c:v>
                </c:pt>
                <c:pt idx="128">
                  <c:v>1.374</c:v>
                </c:pt>
                <c:pt idx="129">
                  <c:v>0.977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label 1</c:f>
              <c:strCache>
                <c:ptCount val="1"/>
                <c:pt idx="0">
                  <c:v>Y</c:v>
                </c:pt>
              </c:strCache>
            </c:strRef>
          </c:tx>
          <c:spPr>
            <a:solidFill>
              <a:srgbClr val="43A047"/>
            </a:solidFill>
            <a:ln w="12600">
              <a:solidFill>
                <a:srgbClr val="43A047"/>
              </a:solidFill>
              <a:round/>
            </a:ln>
          </c:spPr>
          <c:marker>
            <c:symbol val="none"/>
          </c:marker>
          <c:dLbls>
            <c:txPr>
              <a:bodyPr wrap="square"/>
              <a:lstStyle/>
              <a:p>
                <a:pPr>
                  <a:defRPr sz="1000" b="0" u="none" strike="noStrike">
                    <a:solidFill>
                      <a:srgbClr val="1B2333"/>
                    </a:solidFill>
                    <a:uFillTx/>
                    <a:latin typeface="Segoe UI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130"/>
                <c:pt idx="0">
                  <c:v>-1.58</c:v>
                </c:pt>
                <c:pt idx="1">
                  <c:v>-1.54</c:v>
                </c:pt>
                <c:pt idx="2">
                  <c:v>-1.5</c:v>
                </c:pt>
                <c:pt idx="3">
                  <c:v>-1.46</c:v>
                </c:pt>
                <c:pt idx="4">
                  <c:v>-1.42</c:v>
                </c:pt>
                <c:pt idx="5">
                  <c:v>-1.38</c:v>
                </c:pt>
                <c:pt idx="6">
                  <c:v>-1.34</c:v>
                </c:pt>
                <c:pt idx="7">
                  <c:v>-1.3</c:v>
                </c:pt>
                <c:pt idx="8">
                  <c:v>-1.26</c:v>
                </c:pt>
                <c:pt idx="9">
                  <c:v>-1.22</c:v>
                </c:pt>
                <c:pt idx="10">
                  <c:v>-1.19</c:v>
                </c:pt>
                <c:pt idx="11">
                  <c:v>-1.14</c:v>
                </c:pt>
                <c:pt idx="12">
                  <c:v>-1.1</c:v>
                </c:pt>
                <c:pt idx="13">
                  <c:v>-1.06</c:v>
                </c:pt>
                <c:pt idx="14">
                  <c:v>-1.02</c:v>
                </c:pt>
                <c:pt idx="15">
                  <c:v>-0.98</c:v>
                </c:pt>
                <c:pt idx="16">
                  <c:v>-0.94</c:v>
                </c:pt>
                <c:pt idx="17">
                  <c:v>-0.9</c:v>
                </c:pt>
                <c:pt idx="18">
                  <c:v>-0.86</c:v>
                </c:pt>
                <c:pt idx="19">
                  <c:v>-0.82</c:v>
                </c:pt>
                <c:pt idx="20">
                  <c:v>-0.79</c:v>
                </c:pt>
                <c:pt idx="21">
                  <c:v>-0.74</c:v>
                </c:pt>
                <c:pt idx="22">
                  <c:v>-0.7</c:v>
                </c:pt>
                <c:pt idx="23">
                  <c:v>-0.67</c:v>
                </c:pt>
                <c:pt idx="24">
                  <c:v>-0.62</c:v>
                </c:pt>
                <c:pt idx="25">
                  <c:v>-0.58</c:v>
                </c:pt>
                <c:pt idx="26">
                  <c:v>-0.55</c:v>
                </c:pt>
                <c:pt idx="27">
                  <c:v>-0.5</c:v>
                </c:pt>
                <c:pt idx="28">
                  <c:v>-0.46</c:v>
                </c:pt>
                <c:pt idx="29">
                  <c:v>-0.42</c:v>
                </c:pt>
                <c:pt idx="30">
                  <c:v>-0.38</c:v>
                </c:pt>
                <c:pt idx="31">
                  <c:v>-0.34</c:v>
                </c:pt>
                <c:pt idx="32">
                  <c:v>-0.3</c:v>
                </c:pt>
                <c:pt idx="33">
                  <c:v>-0.26</c:v>
                </c:pt>
                <c:pt idx="34">
                  <c:v>-0.22</c:v>
                </c:pt>
                <c:pt idx="35">
                  <c:v>-0.18</c:v>
                </c:pt>
                <c:pt idx="36">
                  <c:v>-0.14</c:v>
                </c:pt>
                <c:pt idx="37">
                  <c:v>-0.1</c:v>
                </c:pt>
                <c:pt idx="38">
                  <c:v>-0.06</c:v>
                </c:pt>
                <c:pt idx="39">
                  <c:v>-0.03</c:v>
                </c:pt>
                <c:pt idx="40">
                  <c:v>0.02</c:v>
                </c:pt>
                <c:pt idx="41">
                  <c:v>0.06</c:v>
                </c:pt>
                <c:pt idx="42">
                  <c:v>0.1</c:v>
                </c:pt>
                <c:pt idx="43">
                  <c:v>0.14</c:v>
                </c:pt>
                <c:pt idx="44">
                  <c:v>0.18</c:v>
                </c:pt>
                <c:pt idx="45">
                  <c:v>0.22</c:v>
                </c:pt>
                <c:pt idx="46">
                  <c:v>0.26</c:v>
                </c:pt>
                <c:pt idx="47">
                  <c:v>0.3</c:v>
                </c:pt>
                <c:pt idx="48">
                  <c:v>0.34</c:v>
                </c:pt>
                <c:pt idx="49">
                  <c:v>0.38</c:v>
                </c:pt>
                <c:pt idx="50">
                  <c:v>0.42</c:v>
                </c:pt>
                <c:pt idx="51">
                  <c:v>0.46</c:v>
                </c:pt>
                <c:pt idx="52">
                  <c:v>0.49</c:v>
                </c:pt>
                <c:pt idx="53">
                  <c:v>0.54</c:v>
                </c:pt>
                <c:pt idx="54">
                  <c:v>0.58</c:v>
                </c:pt>
                <c:pt idx="55">
                  <c:v>0.61</c:v>
                </c:pt>
                <c:pt idx="56">
                  <c:v>0.66</c:v>
                </c:pt>
                <c:pt idx="57">
                  <c:v>0.7</c:v>
                </c:pt>
                <c:pt idx="58">
                  <c:v>0.74</c:v>
                </c:pt>
                <c:pt idx="59">
                  <c:v>0.78</c:v>
                </c:pt>
                <c:pt idx="60">
                  <c:v>0.82</c:v>
                </c:pt>
                <c:pt idx="61">
                  <c:v>0.86</c:v>
                </c:pt>
                <c:pt idx="62">
                  <c:v>0.9</c:v>
                </c:pt>
                <c:pt idx="63">
                  <c:v>0.94</c:v>
                </c:pt>
                <c:pt idx="64">
                  <c:v>0.98</c:v>
                </c:pt>
                <c:pt idx="65">
                  <c:v>1.01</c:v>
                </c:pt>
                <c:pt idx="66">
                  <c:v>1.06</c:v>
                </c:pt>
                <c:pt idx="67">
                  <c:v>1.1</c:v>
                </c:pt>
                <c:pt idx="68">
                  <c:v>1.13</c:v>
                </c:pt>
                <c:pt idx="69">
                  <c:v>1.18</c:v>
                </c:pt>
                <c:pt idx="70">
                  <c:v>1.22</c:v>
                </c:pt>
                <c:pt idx="71">
                  <c:v>1.26</c:v>
                </c:pt>
                <c:pt idx="72">
                  <c:v>1.3</c:v>
                </c:pt>
                <c:pt idx="73">
                  <c:v>1.34</c:v>
                </c:pt>
                <c:pt idx="74">
                  <c:v>1.38</c:v>
                </c:pt>
                <c:pt idx="75">
                  <c:v>1.42</c:v>
                </c:pt>
                <c:pt idx="76">
                  <c:v>1.46</c:v>
                </c:pt>
                <c:pt idx="77">
                  <c:v>1.5</c:v>
                </c:pt>
                <c:pt idx="78">
                  <c:v>1.53</c:v>
                </c:pt>
                <c:pt idx="79">
                  <c:v>1.58</c:v>
                </c:pt>
                <c:pt idx="80">
                  <c:v>1.62</c:v>
                </c:pt>
                <c:pt idx="81">
                  <c:v>1.66</c:v>
                </c:pt>
                <c:pt idx="82">
                  <c:v>1.7</c:v>
                </c:pt>
                <c:pt idx="83">
                  <c:v>1.74</c:v>
                </c:pt>
                <c:pt idx="84">
                  <c:v>1.77</c:v>
                </c:pt>
                <c:pt idx="85">
                  <c:v>1.82</c:v>
                </c:pt>
                <c:pt idx="86">
                  <c:v>1.86</c:v>
                </c:pt>
                <c:pt idx="87">
                  <c:v>1.9</c:v>
                </c:pt>
                <c:pt idx="88">
                  <c:v>1.94</c:v>
                </c:pt>
                <c:pt idx="89">
                  <c:v>1.98</c:v>
                </c:pt>
                <c:pt idx="90">
                  <c:v>2.02</c:v>
                </c:pt>
                <c:pt idx="91">
                  <c:v>2.06</c:v>
                </c:pt>
                <c:pt idx="92">
                  <c:v>2.1</c:v>
                </c:pt>
                <c:pt idx="93">
                  <c:v>2.14</c:v>
                </c:pt>
                <c:pt idx="94">
                  <c:v>2.17</c:v>
                </c:pt>
                <c:pt idx="95">
                  <c:v>2.22</c:v>
                </c:pt>
                <c:pt idx="96">
                  <c:v>2.26</c:v>
                </c:pt>
                <c:pt idx="97">
                  <c:v>2.29</c:v>
                </c:pt>
                <c:pt idx="98">
                  <c:v>2.34</c:v>
                </c:pt>
                <c:pt idx="99">
                  <c:v>2.38</c:v>
                </c:pt>
                <c:pt idx="100">
                  <c:v>2.42</c:v>
                </c:pt>
                <c:pt idx="101">
                  <c:v>2.46</c:v>
                </c:pt>
                <c:pt idx="102">
                  <c:v>2.5</c:v>
                </c:pt>
                <c:pt idx="103">
                  <c:v>2.54</c:v>
                </c:pt>
                <c:pt idx="104">
                  <c:v>2.58</c:v>
                </c:pt>
                <c:pt idx="105">
                  <c:v>2.62</c:v>
                </c:pt>
                <c:pt idx="106">
                  <c:v>2.66</c:v>
                </c:pt>
                <c:pt idx="107">
                  <c:v>2.69</c:v>
                </c:pt>
                <c:pt idx="108">
                  <c:v>2.74</c:v>
                </c:pt>
                <c:pt idx="109">
                  <c:v>2.78</c:v>
                </c:pt>
                <c:pt idx="110">
                  <c:v>2.81</c:v>
                </c:pt>
                <c:pt idx="111">
                  <c:v>2.86</c:v>
                </c:pt>
                <c:pt idx="112">
                  <c:v>2.9</c:v>
                </c:pt>
                <c:pt idx="113">
                  <c:v>2.93</c:v>
                </c:pt>
                <c:pt idx="114">
                  <c:v>2.98</c:v>
                </c:pt>
                <c:pt idx="115">
                  <c:v>3.02</c:v>
                </c:pt>
                <c:pt idx="116">
                  <c:v>3.06</c:v>
                </c:pt>
                <c:pt idx="117">
                  <c:v>3.1</c:v>
                </c:pt>
                <c:pt idx="118">
                  <c:v>3.14</c:v>
                </c:pt>
                <c:pt idx="119">
                  <c:v>3.18</c:v>
                </c:pt>
                <c:pt idx="120">
                  <c:v>3.22</c:v>
                </c:pt>
                <c:pt idx="121">
                  <c:v>3.26</c:v>
                </c:pt>
                <c:pt idx="122">
                  <c:v>3.3</c:v>
                </c:pt>
                <c:pt idx="123">
                  <c:v>3.33</c:v>
                </c:pt>
                <c:pt idx="124">
                  <c:v>3.38</c:v>
                </c:pt>
                <c:pt idx="125">
                  <c:v>3.42</c:v>
                </c:pt>
                <c:pt idx="126">
                  <c:v>3.45</c:v>
                </c:pt>
                <c:pt idx="127">
                  <c:v>3.5</c:v>
                </c:pt>
                <c:pt idx="128">
                  <c:v>3.54</c:v>
                </c:pt>
                <c:pt idx="129">
                  <c:v>3.58</c:v>
                </c:pt>
              </c:strCache>
            </c:strRef>
          </c:cat>
          <c:val>
            <c:numRef>
              <c:f>1</c:f>
              <c:numCache>
                <c:formatCode>General</c:formatCode>
                <c:ptCount val="130"/>
                <c:pt idx="0">
                  <c:v>4.169</c:v>
                </c:pt>
                <c:pt idx="1">
                  <c:v>3.945</c:v>
                </c:pt>
                <c:pt idx="2">
                  <c:v>4.26</c:v>
                </c:pt>
                <c:pt idx="3">
                  <c:v>4.361</c:v>
                </c:pt>
                <c:pt idx="4">
                  <c:v>4.744</c:v>
                </c:pt>
                <c:pt idx="5">
                  <c:v>4.978</c:v>
                </c:pt>
                <c:pt idx="6">
                  <c:v>5.194</c:v>
                </c:pt>
                <c:pt idx="7">
                  <c:v>5.203</c:v>
                </c:pt>
                <c:pt idx="8">
                  <c:v>4.002</c:v>
                </c:pt>
                <c:pt idx="9">
                  <c:v>3.471</c:v>
                </c:pt>
                <c:pt idx="10">
                  <c:v>3.275</c:v>
                </c:pt>
                <c:pt idx="11">
                  <c:v>2.183</c:v>
                </c:pt>
                <c:pt idx="12">
                  <c:v>1.676</c:v>
                </c:pt>
                <c:pt idx="13">
                  <c:v>0.657</c:v>
                </c:pt>
                <c:pt idx="14">
                  <c:v>0.738</c:v>
                </c:pt>
                <c:pt idx="15">
                  <c:v>1.044</c:v>
                </c:pt>
                <c:pt idx="16">
                  <c:v>1.47</c:v>
                </c:pt>
                <c:pt idx="17">
                  <c:v>1.915</c:v>
                </c:pt>
                <c:pt idx="18">
                  <c:v>2.289</c:v>
                </c:pt>
                <c:pt idx="19">
                  <c:v>2.743</c:v>
                </c:pt>
                <c:pt idx="20">
                  <c:v>3.6</c:v>
                </c:pt>
                <c:pt idx="21">
                  <c:v>4.399</c:v>
                </c:pt>
                <c:pt idx="22">
                  <c:v>1.868</c:v>
                </c:pt>
                <c:pt idx="23">
                  <c:v>3.322</c:v>
                </c:pt>
                <c:pt idx="24">
                  <c:v>3.045</c:v>
                </c:pt>
                <c:pt idx="25">
                  <c:v>2.595</c:v>
                </c:pt>
                <c:pt idx="26">
                  <c:v>1.973</c:v>
                </c:pt>
                <c:pt idx="27">
                  <c:v>2.892</c:v>
                </c:pt>
                <c:pt idx="28">
                  <c:v>2.772</c:v>
                </c:pt>
                <c:pt idx="29">
                  <c:v>3.772</c:v>
                </c:pt>
                <c:pt idx="30">
                  <c:v>4.835</c:v>
                </c:pt>
                <c:pt idx="31">
                  <c:v>6.648</c:v>
                </c:pt>
                <c:pt idx="32">
                  <c:v>5.797</c:v>
                </c:pt>
                <c:pt idx="33">
                  <c:v>4.351</c:v>
                </c:pt>
                <c:pt idx="34">
                  <c:v>0.925</c:v>
                </c:pt>
                <c:pt idx="35">
                  <c:v>-3.21</c:v>
                </c:pt>
                <c:pt idx="36">
                  <c:v>-5.277</c:v>
                </c:pt>
                <c:pt idx="37">
                  <c:v>-3.846</c:v>
                </c:pt>
                <c:pt idx="38">
                  <c:v>-1.468</c:v>
                </c:pt>
                <c:pt idx="39">
                  <c:v>0.231</c:v>
                </c:pt>
                <c:pt idx="40">
                  <c:v>2.121</c:v>
                </c:pt>
                <c:pt idx="41">
                  <c:v>6.94</c:v>
                </c:pt>
                <c:pt idx="42">
                  <c:v>7.907</c:v>
                </c:pt>
                <c:pt idx="43">
                  <c:v>7.874</c:v>
                </c:pt>
                <c:pt idx="44">
                  <c:v>8.256</c:v>
                </c:pt>
                <c:pt idx="45">
                  <c:v>6.491</c:v>
                </c:pt>
                <c:pt idx="46">
                  <c:v>4.012</c:v>
                </c:pt>
                <c:pt idx="47">
                  <c:v>0.834</c:v>
                </c:pt>
                <c:pt idx="48">
                  <c:v>0.719</c:v>
                </c:pt>
                <c:pt idx="49">
                  <c:v>0.609</c:v>
                </c:pt>
                <c:pt idx="50">
                  <c:v>-3.578</c:v>
                </c:pt>
                <c:pt idx="51">
                  <c:v>-2.741</c:v>
                </c:pt>
                <c:pt idx="52">
                  <c:v>-1.1</c:v>
                </c:pt>
                <c:pt idx="53">
                  <c:v>1.011</c:v>
                </c:pt>
                <c:pt idx="54">
                  <c:v>3.504</c:v>
                </c:pt>
                <c:pt idx="55">
                  <c:v>8.783</c:v>
                </c:pt>
                <c:pt idx="56">
                  <c:v>8.017</c:v>
                </c:pt>
                <c:pt idx="57">
                  <c:v>8.06</c:v>
                </c:pt>
                <c:pt idx="58">
                  <c:v>8.496</c:v>
                </c:pt>
                <c:pt idx="59">
                  <c:v>7.534</c:v>
                </c:pt>
                <c:pt idx="60">
                  <c:v>4.787</c:v>
                </c:pt>
                <c:pt idx="61">
                  <c:v>1.379</c:v>
                </c:pt>
                <c:pt idx="62">
                  <c:v>1.164</c:v>
                </c:pt>
                <c:pt idx="63">
                  <c:v>2.619</c:v>
                </c:pt>
                <c:pt idx="64">
                  <c:v>-1.425</c:v>
                </c:pt>
                <c:pt idx="65">
                  <c:v>-1.588</c:v>
                </c:pt>
                <c:pt idx="66">
                  <c:v>-0.731</c:v>
                </c:pt>
                <c:pt idx="67">
                  <c:v>0.398</c:v>
                </c:pt>
                <c:pt idx="68">
                  <c:v>2.078</c:v>
                </c:pt>
                <c:pt idx="69">
                  <c:v>8.601</c:v>
                </c:pt>
                <c:pt idx="70">
                  <c:v>8.984</c:v>
                </c:pt>
                <c:pt idx="71">
                  <c:v>8.285</c:v>
                </c:pt>
                <c:pt idx="72">
                  <c:v>8.194</c:v>
                </c:pt>
                <c:pt idx="73">
                  <c:v>7.539</c:v>
                </c:pt>
                <c:pt idx="74">
                  <c:v>5.811</c:v>
                </c:pt>
                <c:pt idx="75">
                  <c:v>3.461</c:v>
                </c:pt>
                <c:pt idx="76">
                  <c:v>2.289</c:v>
                </c:pt>
                <c:pt idx="77">
                  <c:v>5.356</c:v>
                </c:pt>
                <c:pt idx="78">
                  <c:v>3.72</c:v>
                </c:pt>
                <c:pt idx="79">
                  <c:v>-1.458</c:v>
                </c:pt>
                <c:pt idx="80">
                  <c:v>0.044</c:v>
                </c:pt>
                <c:pt idx="81">
                  <c:v>2.887</c:v>
                </c:pt>
                <c:pt idx="82">
                  <c:v>3.921</c:v>
                </c:pt>
                <c:pt idx="83">
                  <c:v>6.452</c:v>
                </c:pt>
                <c:pt idx="84">
                  <c:v>9.558</c:v>
                </c:pt>
                <c:pt idx="85">
                  <c:v>8.874</c:v>
                </c:pt>
                <c:pt idx="86">
                  <c:v>6.749</c:v>
                </c:pt>
                <c:pt idx="87">
                  <c:v>5.667</c:v>
                </c:pt>
                <c:pt idx="88">
                  <c:v>3.48</c:v>
                </c:pt>
                <c:pt idx="89">
                  <c:v>2.609</c:v>
                </c:pt>
                <c:pt idx="90">
                  <c:v>5.409</c:v>
                </c:pt>
                <c:pt idx="91">
                  <c:v>9.544</c:v>
                </c:pt>
                <c:pt idx="92">
                  <c:v>7.223</c:v>
                </c:pt>
                <c:pt idx="93">
                  <c:v>3.576</c:v>
                </c:pt>
                <c:pt idx="94">
                  <c:v>2.15</c:v>
                </c:pt>
                <c:pt idx="95">
                  <c:v>0.614</c:v>
                </c:pt>
                <c:pt idx="96">
                  <c:v>1.351</c:v>
                </c:pt>
                <c:pt idx="97">
                  <c:v>3.169</c:v>
                </c:pt>
                <c:pt idx="98">
                  <c:v>5.696</c:v>
                </c:pt>
                <c:pt idx="99">
                  <c:v>5.744</c:v>
                </c:pt>
                <c:pt idx="100">
                  <c:v>5.285</c:v>
                </c:pt>
                <c:pt idx="101">
                  <c:v>5.38</c:v>
                </c:pt>
                <c:pt idx="102">
                  <c:v>4.504</c:v>
                </c:pt>
                <c:pt idx="103">
                  <c:v>4.236</c:v>
                </c:pt>
                <c:pt idx="104">
                  <c:v>4.045</c:v>
                </c:pt>
                <c:pt idx="105">
                  <c:v>4.198</c:v>
                </c:pt>
                <c:pt idx="106">
                  <c:v>5.084</c:v>
                </c:pt>
                <c:pt idx="107">
                  <c:v>5.04</c:v>
                </c:pt>
                <c:pt idx="108">
                  <c:v>4.868</c:v>
                </c:pt>
                <c:pt idx="109">
                  <c:v>4.102</c:v>
                </c:pt>
                <c:pt idx="110">
                  <c:v>3.26</c:v>
                </c:pt>
                <c:pt idx="111">
                  <c:v>1.944</c:v>
                </c:pt>
                <c:pt idx="112">
                  <c:v>0.336</c:v>
                </c:pt>
                <c:pt idx="113">
                  <c:v>-1.305</c:v>
                </c:pt>
                <c:pt idx="114">
                  <c:v>-0.894</c:v>
                </c:pt>
                <c:pt idx="115">
                  <c:v>0.446</c:v>
                </c:pt>
                <c:pt idx="116">
                  <c:v>0.963</c:v>
                </c:pt>
                <c:pt idx="117">
                  <c:v>1.26</c:v>
                </c:pt>
                <c:pt idx="118">
                  <c:v>2.657</c:v>
                </c:pt>
                <c:pt idx="119">
                  <c:v>3.557</c:v>
                </c:pt>
                <c:pt idx="120">
                  <c:v>1.93</c:v>
                </c:pt>
                <c:pt idx="121">
                  <c:v>1.93</c:v>
                </c:pt>
                <c:pt idx="122">
                  <c:v>2.964</c:v>
                </c:pt>
                <c:pt idx="123">
                  <c:v>2.719</c:v>
                </c:pt>
                <c:pt idx="124">
                  <c:v>2.609</c:v>
                </c:pt>
                <c:pt idx="125">
                  <c:v>2.605</c:v>
                </c:pt>
                <c:pt idx="126">
                  <c:v>2.112</c:v>
                </c:pt>
                <c:pt idx="127">
                  <c:v>1.676</c:v>
                </c:pt>
                <c:pt idx="128">
                  <c:v>2.327</c:v>
                </c:pt>
                <c:pt idx="129">
                  <c:v>2.844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label 2</c:f>
              <c:strCache>
                <c:ptCount val="1"/>
                <c:pt idx="0">
                  <c:v>Z</c:v>
                </c:pt>
              </c:strCache>
            </c:strRef>
          </c:tx>
          <c:spPr>
            <a:solidFill>
              <a:srgbClr val="1E88E5"/>
            </a:solidFill>
            <a:ln w="12600">
              <a:solidFill>
                <a:srgbClr val="1E88E5"/>
              </a:solidFill>
              <a:round/>
            </a:ln>
          </c:spPr>
          <c:marker>
            <c:symbol val="none"/>
          </c:marker>
          <c:dLbls>
            <c:txPr>
              <a:bodyPr wrap="square"/>
              <a:lstStyle/>
              <a:p>
                <a:pPr>
                  <a:defRPr sz="1000" b="0" u="none" strike="noStrike">
                    <a:solidFill>
                      <a:srgbClr val="1B2333"/>
                    </a:solidFill>
                    <a:uFillTx/>
                    <a:latin typeface="Segoe UI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130"/>
                <c:pt idx="0">
                  <c:v>-1.58</c:v>
                </c:pt>
                <c:pt idx="1">
                  <c:v>-1.54</c:v>
                </c:pt>
                <c:pt idx="2">
                  <c:v>-1.5</c:v>
                </c:pt>
                <c:pt idx="3">
                  <c:v>-1.46</c:v>
                </c:pt>
                <c:pt idx="4">
                  <c:v>-1.42</c:v>
                </c:pt>
                <c:pt idx="5">
                  <c:v>-1.38</c:v>
                </c:pt>
                <c:pt idx="6">
                  <c:v>-1.34</c:v>
                </c:pt>
                <c:pt idx="7">
                  <c:v>-1.3</c:v>
                </c:pt>
                <c:pt idx="8">
                  <c:v>-1.26</c:v>
                </c:pt>
                <c:pt idx="9">
                  <c:v>-1.22</c:v>
                </c:pt>
                <c:pt idx="10">
                  <c:v>-1.19</c:v>
                </c:pt>
                <c:pt idx="11">
                  <c:v>-1.14</c:v>
                </c:pt>
                <c:pt idx="12">
                  <c:v>-1.1</c:v>
                </c:pt>
                <c:pt idx="13">
                  <c:v>-1.06</c:v>
                </c:pt>
                <c:pt idx="14">
                  <c:v>-1.02</c:v>
                </c:pt>
                <c:pt idx="15">
                  <c:v>-0.98</c:v>
                </c:pt>
                <c:pt idx="16">
                  <c:v>-0.94</c:v>
                </c:pt>
                <c:pt idx="17">
                  <c:v>-0.9</c:v>
                </c:pt>
                <c:pt idx="18">
                  <c:v>-0.86</c:v>
                </c:pt>
                <c:pt idx="19">
                  <c:v>-0.82</c:v>
                </c:pt>
                <c:pt idx="20">
                  <c:v>-0.79</c:v>
                </c:pt>
                <c:pt idx="21">
                  <c:v>-0.74</c:v>
                </c:pt>
                <c:pt idx="22">
                  <c:v>-0.7</c:v>
                </c:pt>
                <c:pt idx="23">
                  <c:v>-0.67</c:v>
                </c:pt>
                <c:pt idx="24">
                  <c:v>-0.62</c:v>
                </c:pt>
                <c:pt idx="25">
                  <c:v>-0.58</c:v>
                </c:pt>
                <c:pt idx="26">
                  <c:v>-0.55</c:v>
                </c:pt>
                <c:pt idx="27">
                  <c:v>-0.5</c:v>
                </c:pt>
                <c:pt idx="28">
                  <c:v>-0.46</c:v>
                </c:pt>
                <c:pt idx="29">
                  <c:v>-0.42</c:v>
                </c:pt>
                <c:pt idx="30">
                  <c:v>-0.38</c:v>
                </c:pt>
                <c:pt idx="31">
                  <c:v>-0.34</c:v>
                </c:pt>
                <c:pt idx="32">
                  <c:v>-0.3</c:v>
                </c:pt>
                <c:pt idx="33">
                  <c:v>-0.26</c:v>
                </c:pt>
                <c:pt idx="34">
                  <c:v>-0.22</c:v>
                </c:pt>
                <c:pt idx="35">
                  <c:v>-0.18</c:v>
                </c:pt>
                <c:pt idx="36">
                  <c:v>-0.14</c:v>
                </c:pt>
                <c:pt idx="37">
                  <c:v>-0.1</c:v>
                </c:pt>
                <c:pt idx="38">
                  <c:v>-0.06</c:v>
                </c:pt>
                <c:pt idx="39">
                  <c:v>-0.03</c:v>
                </c:pt>
                <c:pt idx="40">
                  <c:v>0.02</c:v>
                </c:pt>
                <c:pt idx="41">
                  <c:v>0.06</c:v>
                </c:pt>
                <c:pt idx="42">
                  <c:v>0.1</c:v>
                </c:pt>
                <c:pt idx="43">
                  <c:v>0.14</c:v>
                </c:pt>
                <c:pt idx="44">
                  <c:v>0.18</c:v>
                </c:pt>
                <c:pt idx="45">
                  <c:v>0.22</c:v>
                </c:pt>
                <c:pt idx="46">
                  <c:v>0.26</c:v>
                </c:pt>
                <c:pt idx="47">
                  <c:v>0.3</c:v>
                </c:pt>
                <c:pt idx="48">
                  <c:v>0.34</c:v>
                </c:pt>
                <c:pt idx="49">
                  <c:v>0.38</c:v>
                </c:pt>
                <c:pt idx="50">
                  <c:v>0.42</c:v>
                </c:pt>
                <c:pt idx="51">
                  <c:v>0.46</c:v>
                </c:pt>
                <c:pt idx="52">
                  <c:v>0.49</c:v>
                </c:pt>
                <c:pt idx="53">
                  <c:v>0.54</c:v>
                </c:pt>
                <c:pt idx="54">
                  <c:v>0.58</c:v>
                </c:pt>
                <c:pt idx="55">
                  <c:v>0.61</c:v>
                </c:pt>
                <c:pt idx="56">
                  <c:v>0.66</c:v>
                </c:pt>
                <c:pt idx="57">
                  <c:v>0.7</c:v>
                </c:pt>
                <c:pt idx="58">
                  <c:v>0.74</c:v>
                </c:pt>
                <c:pt idx="59">
                  <c:v>0.78</c:v>
                </c:pt>
                <c:pt idx="60">
                  <c:v>0.82</c:v>
                </c:pt>
                <c:pt idx="61">
                  <c:v>0.86</c:v>
                </c:pt>
                <c:pt idx="62">
                  <c:v>0.9</c:v>
                </c:pt>
                <c:pt idx="63">
                  <c:v>0.94</c:v>
                </c:pt>
                <c:pt idx="64">
                  <c:v>0.98</c:v>
                </c:pt>
                <c:pt idx="65">
                  <c:v>1.01</c:v>
                </c:pt>
                <c:pt idx="66">
                  <c:v>1.06</c:v>
                </c:pt>
                <c:pt idx="67">
                  <c:v>1.1</c:v>
                </c:pt>
                <c:pt idx="68">
                  <c:v>1.13</c:v>
                </c:pt>
                <c:pt idx="69">
                  <c:v>1.18</c:v>
                </c:pt>
                <c:pt idx="70">
                  <c:v>1.22</c:v>
                </c:pt>
                <c:pt idx="71">
                  <c:v>1.26</c:v>
                </c:pt>
                <c:pt idx="72">
                  <c:v>1.3</c:v>
                </c:pt>
                <c:pt idx="73">
                  <c:v>1.34</c:v>
                </c:pt>
                <c:pt idx="74">
                  <c:v>1.38</c:v>
                </c:pt>
                <c:pt idx="75">
                  <c:v>1.42</c:v>
                </c:pt>
                <c:pt idx="76">
                  <c:v>1.46</c:v>
                </c:pt>
                <c:pt idx="77">
                  <c:v>1.5</c:v>
                </c:pt>
                <c:pt idx="78">
                  <c:v>1.53</c:v>
                </c:pt>
                <c:pt idx="79">
                  <c:v>1.58</c:v>
                </c:pt>
                <c:pt idx="80">
                  <c:v>1.62</c:v>
                </c:pt>
                <c:pt idx="81">
                  <c:v>1.66</c:v>
                </c:pt>
                <c:pt idx="82">
                  <c:v>1.7</c:v>
                </c:pt>
                <c:pt idx="83">
                  <c:v>1.74</c:v>
                </c:pt>
                <c:pt idx="84">
                  <c:v>1.77</c:v>
                </c:pt>
                <c:pt idx="85">
                  <c:v>1.82</c:v>
                </c:pt>
                <c:pt idx="86">
                  <c:v>1.86</c:v>
                </c:pt>
                <c:pt idx="87">
                  <c:v>1.9</c:v>
                </c:pt>
                <c:pt idx="88">
                  <c:v>1.94</c:v>
                </c:pt>
                <c:pt idx="89">
                  <c:v>1.98</c:v>
                </c:pt>
                <c:pt idx="90">
                  <c:v>2.02</c:v>
                </c:pt>
                <c:pt idx="91">
                  <c:v>2.06</c:v>
                </c:pt>
                <c:pt idx="92">
                  <c:v>2.1</c:v>
                </c:pt>
                <c:pt idx="93">
                  <c:v>2.14</c:v>
                </c:pt>
                <c:pt idx="94">
                  <c:v>2.17</c:v>
                </c:pt>
                <c:pt idx="95">
                  <c:v>2.22</c:v>
                </c:pt>
                <c:pt idx="96">
                  <c:v>2.26</c:v>
                </c:pt>
                <c:pt idx="97">
                  <c:v>2.29</c:v>
                </c:pt>
                <c:pt idx="98">
                  <c:v>2.34</c:v>
                </c:pt>
                <c:pt idx="99">
                  <c:v>2.38</c:v>
                </c:pt>
                <c:pt idx="100">
                  <c:v>2.42</c:v>
                </c:pt>
                <c:pt idx="101">
                  <c:v>2.46</c:v>
                </c:pt>
                <c:pt idx="102">
                  <c:v>2.5</c:v>
                </c:pt>
                <c:pt idx="103">
                  <c:v>2.54</c:v>
                </c:pt>
                <c:pt idx="104">
                  <c:v>2.58</c:v>
                </c:pt>
                <c:pt idx="105">
                  <c:v>2.62</c:v>
                </c:pt>
                <c:pt idx="106">
                  <c:v>2.66</c:v>
                </c:pt>
                <c:pt idx="107">
                  <c:v>2.69</c:v>
                </c:pt>
                <c:pt idx="108">
                  <c:v>2.74</c:v>
                </c:pt>
                <c:pt idx="109">
                  <c:v>2.78</c:v>
                </c:pt>
                <c:pt idx="110">
                  <c:v>2.81</c:v>
                </c:pt>
                <c:pt idx="111">
                  <c:v>2.86</c:v>
                </c:pt>
                <c:pt idx="112">
                  <c:v>2.9</c:v>
                </c:pt>
                <c:pt idx="113">
                  <c:v>2.93</c:v>
                </c:pt>
                <c:pt idx="114">
                  <c:v>2.98</c:v>
                </c:pt>
                <c:pt idx="115">
                  <c:v>3.02</c:v>
                </c:pt>
                <c:pt idx="116">
                  <c:v>3.06</c:v>
                </c:pt>
                <c:pt idx="117">
                  <c:v>3.1</c:v>
                </c:pt>
                <c:pt idx="118">
                  <c:v>3.14</c:v>
                </c:pt>
                <c:pt idx="119">
                  <c:v>3.18</c:v>
                </c:pt>
                <c:pt idx="120">
                  <c:v>3.22</c:v>
                </c:pt>
                <c:pt idx="121">
                  <c:v>3.26</c:v>
                </c:pt>
                <c:pt idx="122">
                  <c:v>3.3</c:v>
                </c:pt>
                <c:pt idx="123">
                  <c:v>3.33</c:v>
                </c:pt>
                <c:pt idx="124">
                  <c:v>3.38</c:v>
                </c:pt>
                <c:pt idx="125">
                  <c:v>3.42</c:v>
                </c:pt>
                <c:pt idx="126">
                  <c:v>3.45</c:v>
                </c:pt>
                <c:pt idx="127">
                  <c:v>3.5</c:v>
                </c:pt>
                <c:pt idx="128">
                  <c:v>3.54</c:v>
                </c:pt>
                <c:pt idx="129">
                  <c:v>3.58</c:v>
                </c:pt>
              </c:strCache>
            </c:strRef>
          </c:cat>
          <c:val>
            <c:numRef>
              <c:f>2</c:f>
              <c:numCache>
                <c:formatCode>General</c:formatCode>
                <c:ptCount val="130"/>
                <c:pt idx="0">
                  <c:v>13.256</c:v>
                </c:pt>
                <c:pt idx="1">
                  <c:v>13.768</c:v>
                </c:pt>
                <c:pt idx="2">
                  <c:v>12.519</c:v>
                </c:pt>
                <c:pt idx="3">
                  <c:v>9.71</c:v>
                </c:pt>
                <c:pt idx="4">
                  <c:v>6.441</c:v>
                </c:pt>
                <c:pt idx="5">
                  <c:v>7.638</c:v>
                </c:pt>
                <c:pt idx="6">
                  <c:v>8.691</c:v>
                </c:pt>
                <c:pt idx="7">
                  <c:v>9.193</c:v>
                </c:pt>
                <c:pt idx="8">
                  <c:v>12.677</c:v>
                </c:pt>
                <c:pt idx="9">
                  <c:v>9.232</c:v>
                </c:pt>
                <c:pt idx="10">
                  <c:v>9.069</c:v>
                </c:pt>
                <c:pt idx="11">
                  <c:v>12.409</c:v>
                </c:pt>
                <c:pt idx="12">
                  <c:v>11.691</c:v>
                </c:pt>
                <c:pt idx="13">
                  <c:v>11.103</c:v>
                </c:pt>
                <c:pt idx="14">
                  <c:v>7.863</c:v>
                </c:pt>
                <c:pt idx="15">
                  <c:v>7.303</c:v>
                </c:pt>
                <c:pt idx="16">
                  <c:v>6.638</c:v>
                </c:pt>
                <c:pt idx="17">
                  <c:v>5.934</c:v>
                </c:pt>
                <c:pt idx="18">
                  <c:v>5.513</c:v>
                </c:pt>
                <c:pt idx="19">
                  <c:v>6.599</c:v>
                </c:pt>
                <c:pt idx="20">
                  <c:v>6.676</c:v>
                </c:pt>
                <c:pt idx="21">
                  <c:v>4.901</c:v>
                </c:pt>
                <c:pt idx="22">
                  <c:v>9.858</c:v>
                </c:pt>
                <c:pt idx="23">
                  <c:v>7.231</c:v>
                </c:pt>
                <c:pt idx="24">
                  <c:v>4.369</c:v>
                </c:pt>
                <c:pt idx="25">
                  <c:v>6.906</c:v>
                </c:pt>
                <c:pt idx="26">
                  <c:v>5.13</c:v>
                </c:pt>
                <c:pt idx="27">
                  <c:v>1.795</c:v>
                </c:pt>
                <c:pt idx="28">
                  <c:v>7.518</c:v>
                </c:pt>
                <c:pt idx="29">
                  <c:v>11.404</c:v>
                </c:pt>
                <c:pt idx="30">
                  <c:v>8.466</c:v>
                </c:pt>
                <c:pt idx="31">
                  <c:v>9.801</c:v>
                </c:pt>
                <c:pt idx="32">
                  <c:v>13.194</c:v>
                </c:pt>
                <c:pt idx="33">
                  <c:v>7.758</c:v>
                </c:pt>
                <c:pt idx="34">
                  <c:v>5.618</c:v>
                </c:pt>
                <c:pt idx="35">
                  <c:v>4.455</c:v>
                </c:pt>
                <c:pt idx="36">
                  <c:v>6.494</c:v>
                </c:pt>
                <c:pt idx="37">
                  <c:v>4.556</c:v>
                </c:pt>
                <c:pt idx="38">
                  <c:v>5.298</c:v>
                </c:pt>
                <c:pt idx="39">
                  <c:v>6.126</c:v>
                </c:pt>
                <c:pt idx="40">
                  <c:v>2.469</c:v>
                </c:pt>
                <c:pt idx="41">
                  <c:v>-0.287</c:v>
                </c:pt>
                <c:pt idx="42">
                  <c:v>14.266</c:v>
                </c:pt>
                <c:pt idx="43">
                  <c:v>16.52</c:v>
                </c:pt>
                <c:pt idx="44">
                  <c:v>7.537</c:v>
                </c:pt>
                <c:pt idx="45">
                  <c:v>10.514</c:v>
                </c:pt>
                <c:pt idx="46">
                  <c:v>8.786</c:v>
                </c:pt>
                <c:pt idx="47">
                  <c:v>3.795</c:v>
                </c:pt>
                <c:pt idx="48">
                  <c:v>-2.69</c:v>
                </c:pt>
                <c:pt idx="49">
                  <c:v>2.484</c:v>
                </c:pt>
                <c:pt idx="50">
                  <c:v>7.284</c:v>
                </c:pt>
                <c:pt idx="51">
                  <c:v>7.04</c:v>
                </c:pt>
                <c:pt idx="52">
                  <c:v>7.858</c:v>
                </c:pt>
                <c:pt idx="53">
                  <c:v>5.011</c:v>
                </c:pt>
                <c:pt idx="54">
                  <c:v>-0.072</c:v>
                </c:pt>
                <c:pt idx="55">
                  <c:v>1.723</c:v>
                </c:pt>
                <c:pt idx="56">
                  <c:v>12.524</c:v>
                </c:pt>
                <c:pt idx="57">
                  <c:v>10.595</c:v>
                </c:pt>
                <c:pt idx="58">
                  <c:v>8.748</c:v>
                </c:pt>
                <c:pt idx="59">
                  <c:v>10.213</c:v>
                </c:pt>
                <c:pt idx="60">
                  <c:v>8.346</c:v>
                </c:pt>
                <c:pt idx="61">
                  <c:v>4.532</c:v>
                </c:pt>
                <c:pt idx="62">
                  <c:v>-0.129</c:v>
                </c:pt>
                <c:pt idx="63">
                  <c:v>3.881</c:v>
                </c:pt>
                <c:pt idx="64">
                  <c:v>5.326</c:v>
                </c:pt>
                <c:pt idx="65">
                  <c:v>7.868</c:v>
                </c:pt>
                <c:pt idx="66">
                  <c:v>10.193</c:v>
                </c:pt>
                <c:pt idx="67">
                  <c:v>4.006</c:v>
                </c:pt>
                <c:pt idx="68">
                  <c:v>-2.69</c:v>
                </c:pt>
                <c:pt idx="69">
                  <c:v>-1.852</c:v>
                </c:pt>
                <c:pt idx="70">
                  <c:v>7.293</c:v>
                </c:pt>
                <c:pt idx="71">
                  <c:v>9.772</c:v>
                </c:pt>
                <c:pt idx="72">
                  <c:v>8.82</c:v>
                </c:pt>
                <c:pt idx="73">
                  <c:v>12.223</c:v>
                </c:pt>
                <c:pt idx="74">
                  <c:v>6.537</c:v>
                </c:pt>
                <c:pt idx="75">
                  <c:v>4.633</c:v>
                </c:pt>
                <c:pt idx="76">
                  <c:v>3.316</c:v>
                </c:pt>
                <c:pt idx="77">
                  <c:v>-1.981</c:v>
                </c:pt>
                <c:pt idx="78">
                  <c:v>2.632</c:v>
                </c:pt>
                <c:pt idx="79">
                  <c:v>5.714</c:v>
                </c:pt>
                <c:pt idx="80">
                  <c:v>7.336</c:v>
                </c:pt>
                <c:pt idx="81">
                  <c:v>4.522</c:v>
                </c:pt>
                <c:pt idx="82">
                  <c:v>1.297</c:v>
                </c:pt>
                <c:pt idx="83">
                  <c:v>2.747</c:v>
                </c:pt>
                <c:pt idx="84">
                  <c:v>8.987</c:v>
                </c:pt>
                <c:pt idx="85">
                  <c:v>12.524</c:v>
                </c:pt>
                <c:pt idx="86">
                  <c:v>8.763</c:v>
                </c:pt>
                <c:pt idx="87">
                  <c:v>10.911</c:v>
                </c:pt>
                <c:pt idx="88">
                  <c:v>3.584</c:v>
                </c:pt>
                <c:pt idx="89">
                  <c:v>0.033</c:v>
                </c:pt>
                <c:pt idx="90">
                  <c:v>-0.373</c:v>
                </c:pt>
                <c:pt idx="91">
                  <c:v>2.388</c:v>
                </c:pt>
                <c:pt idx="92">
                  <c:v>16.453</c:v>
                </c:pt>
                <c:pt idx="93">
                  <c:v>5.207</c:v>
                </c:pt>
                <c:pt idx="94">
                  <c:v>3.848</c:v>
                </c:pt>
                <c:pt idx="95">
                  <c:v>7.839</c:v>
                </c:pt>
                <c:pt idx="96">
                  <c:v>0.12</c:v>
                </c:pt>
                <c:pt idx="97">
                  <c:v>-2.579</c:v>
                </c:pt>
                <c:pt idx="98">
                  <c:v>7.145</c:v>
                </c:pt>
                <c:pt idx="99">
                  <c:v>12.945</c:v>
                </c:pt>
                <c:pt idx="100">
                  <c:v>5.982</c:v>
                </c:pt>
                <c:pt idx="101">
                  <c:v>3.498</c:v>
                </c:pt>
                <c:pt idx="102">
                  <c:v>3.656</c:v>
                </c:pt>
                <c:pt idx="103">
                  <c:v>2.134</c:v>
                </c:pt>
                <c:pt idx="104">
                  <c:v>4.953</c:v>
                </c:pt>
                <c:pt idx="105">
                  <c:v>6.016</c:v>
                </c:pt>
                <c:pt idx="106">
                  <c:v>5.604</c:v>
                </c:pt>
                <c:pt idx="107">
                  <c:v>5.523</c:v>
                </c:pt>
                <c:pt idx="108">
                  <c:v>5.465</c:v>
                </c:pt>
                <c:pt idx="109">
                  <c:v>8.231</c:v>
                </c:pt>
                <c:pt idx="110">
                  <c:v>11.438</c:v>
                </c:pt>
                <c:pt idx="111">
                  <c:v>12.687</c:v>
                </c:pt>
                <c:pt idx="112">
                  <c:v>13.61</c:v>
                </c:pt>
                <c:pt idx="113">
                  <c:v>13.161</c:v>
                </c:pt>
                <c:pt idx="114">
                  <c:v>4.738</c:v>
                </c:pt>
                <c:pt idx="115">
                  <c:v>-1.153</c:v>
                </c:pt>
                <c:pt idx="116">
                  <c:v>2.402</c:v>
                </c:pt>
                <c:pt idx="117">
                  <c:v>3.594</c:v>
                </c:pt>
                <c:pt idx="118">
                  <c:v>6.054</c:v>
                </c:pt>
                <c:pt idx="119">
                  <c:v>6.379</c:v>
                </c:pt>
                <c:pt idx="120">
                  <c:v>12.83</c:v>
                </c:pt>
                <c:pt idx="121">
                  <c:v>10.313</c:v>
                </c:pt>
                <c:pt idx="122">
                  <c:v>6.011</c:v>
                </c:pt>
                <c:pt idx="123">
                  <c:v>7.121</c:v>
                </c:pt>
                <c:pt idx="124">
                  <c:v>6.011</c:v>
                </c:pt>
                <c:pt idx="125">
                  <c:v>7.226</c:v>
                </c:pt>
                <c:pt idx="126">
                  <c:v>8.203</c:v>
                </c:pt>
                <c:pt idx="127">
                  <c:v>7.892</c:v>
                </c:pt>
                <c:pt idx="128">
                  <c:v>7.652</c:v>
                </c:pt>
                <c:pt idx="129">
                  <c:v>8.518</c:v>
                </c:pt>
              </c:numCache>
            </c:numRef>
          </c:val>
          <c:smooth val="0"/>
        </c:ser>
        <c:hiLowLines>
          <c:spPr>
            <a:ln w="0">
              <a:noFill/>
            </a:ln>
          </c:spPr>
        </c:hiLowLines>
        <c:marker val="0"/>
        <c:axId val="54957553"/>
        <c:axId val="15391839"/>
      </c:lineChart>
      <c:catAx>
        <c:axId val="54957553"/>
        <c:scaling>
          <c:orientation val="minMax"/>
        </c:scaling>
        <c:delete val="1"/>
        <c:axPos val="b"/>
        <c:numFmt formatCode="[$-819]dd/mm/yyyy" sourceLinked="1"/>
        <c:majorTickMark val="out"/>
        <c:minorTickMark val="none"/>
        <c:tickLblPos val="low"/>
        <c:spPr>
          <a:ln w="12600">
            <a:solidFill>
              <a:srgbClr val="C9CFD9"/>
            </a:solidFill>
            <a:round/>
          </a:ln>
        </c:spPr>
        <c:txPr>
          <a:bodyPr/>
          <a:lstStyle/>
          <a:p>
            <a:pPr>
              <a:defRPr sz="1050" b="0" u="none" strike="noStrike">
                <a:solidFill>
                  <a:srgbClr val="5B6475"/>
                </a:solidFill>
                <a:uFillTx/>
                <a:latin typeface="Segoe UI"/>
              </a:defRPr>
            </a:pPr>
          </a:p>
        </c:txPr>
        <c:crossAx val="15391839"/>
        <c:auto val="1"/>
        <c:lblAlgn val="ctr"/>
        <c:lblOffset val="100"/>
        <c:noMultiLvlLbl val="0"/>
      </c:catAx>
      <c:valAx>
        <c:axId val="15391839"/>
        <c:scaling>
          <c:orientation val="minMax"/>
          <c:max val="30"/>
          <c:min val="-10"/>
        </c:scaling>
        <c:delete val="0"/>
        <c:axPos val="l"/>
        <c:majorGridlines>
          <c:spPr>
            <a:ln w="6480">
              <a:solidFill>
                <a:srgbClr val="E3E7EE"/>
              </a:solidFill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600">
            <a:noFill/>
          </a:ln>
        </c:spPr>
        <c:txPr>
          <a:bodyPr/>
          <a:lstStyle/>
          <a:p>
            <a:pPr>
              <a:defRPr sz="900" b="0" u="none" strike="noStrike">
                <a:solidFill>
                  <a:srgbClr val="5B6475"/>
                </a:solidFill>
                <a:uFillTx/>
                <a:latin typeface="Segoe UI"/>
              </a:defRPr>
            </a:pPr>
          </a:p>
        </c:txPr>
        <c:crossAx val="54957553"/>
        <c:crosses val="autoZero"/>
        <c:crossBetween val="between"/>
      </c:valAx>
      <c:spPr>
        <a:noFill/>
        <a:ln w="0">
          <a:noFill/>
        </a:ln>
      </c:spPr>
    </c:plotArea>
    <c:plotVisOnly val="1"/>
    <c:dispBlanksAs val="span"/>
  </c:chart>
  <c:spPr>
    <a:noFill/>
    <a:ln w="0">
      <a:noFill/>
    </a:ln>
  </c:spPr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P</c:v>
                </c:pt>
              </c:strCache>
            </c:strRef>
          </c:tx>
          <c:spPr>
            <a:solidFill>
              <a:srgbClr val="00696E"/>
            </a:solidFill>
            <a:ln w="0">
              <a:noFill/>
            </a:ln>
          </c:spPr>
          <c:invertIfNegative val="0"/>
          <c:dLbls>
            <c:numFmt formatCode="0%" sourceLinked="0"/>
            <c:txPr>
              <a:bodyPr wrap="square"/>
              <a:lstStyle/>
              <a:p>
                <a:pPr>
                  <a:defRPr sz="1000" b="0" u="none" strike="noStrike">
                    <a:solidFill>
                      <a:srgbClr val="1B2333"/>
                    </a:solidFill>
                    <a:uFillTx/>
                    <a:latin typeface="Segoe U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4"/>
                <c:pt idx="0">
                  <c:v>В руке</c:v>
                </c:pt>
                <c:pt idx="1">
                  <c:v>В кармане</c:v>
                </c:pt>
                <c:pt idx="2">
                  <c:v>На столе</c:v>
                </c:pt>
                <c:pt idx="3">
                  <c:v>У уха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4"/>
                <c:pt idx="0">
                  <c:v>0.9779</c:v>
                </c:pt>
                <c:pt idx="1">
                  <c:v>0.0081</c:v>
                </c:pt>
                <c:pt idx="2">
                  <c:v>0.0075</c:v>
                </c:pt>
                <c:pt idx="3">
                  <c:v>0.0065</c:v>
                </c:pt>
              </c:numCache>
            </c:numRef>
          </c:val>
        </c:ser>
        <c:gapWidth val="40"/>
        <c:overlap val="0"/>
        <c:axId val="17551946"/>
        <c:axId val="3580072"/>
      </c:barChart>
      <c:catAx>
        <c:axId val="17551946"/>
        <c:scaling>
          <c:orientation val="maxMin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 w="12600">
            <a:solidFill>
              <a:srgbClr val="C9CFD9"/>
            </a:solidFill>
            <a:round/>
          </a:ln>
        </c:spPr>
        <c:txPr>
          <a:bodyPr/>
          <a:lstStyle/>
          <a:p>
            <a:pPr>
              <a:defRPr sz="1050" b="0" u="none" strike="noStrike">
                <a:solidFill>
                  <a:srgbClr val="5B6475"/>
                </a:solidFill>
                <a:uFillTx/>
                <a:latin typeface="Segoe UI"/>
              </a:defRPr>
            </a:pPr>
          </a:p>
        </c:txPr>
        <c:crossAx val="3580072"/>
        <c:crosses val="autoZero"/>
        <c:auto val="1"/>
        <c:lblAlgn val="ctr"/>
        <c:lblOffset val="100"/>
        <c:noMultiLvlLbl val="0"/>
      </c:catAx>
      <c:valAx>
        <c:axId val="3580072"/>
        <c:scaling>
          <c:orientation val="minMax"/>
          <c:max val="1.3"/>
          <c:min val="0"/>
        </c:scaling>
        <c:delete val="1"/>
        <c:axPos val="l"/>
        <c:numFmt formatCode="General" sourceLinked="1"/>
        <c:majorTickMark val="out"/>
        <c:minorTickMark val="none"/>
        <c:tickLblPos val="low"/>
        <c:spPr>
          <a:ln w="12600">
            <a:noFill/>
          </a:ln>
        </c:spPr>
        <c:txPr>
          <a:bodyPr/>
          <a:lstStyle/>
          <a:p>
            <a:pPr>
              <a:defRPr sz="1000" b="0" u="none" strike="noStrike">
                <a:solidFill>
                  <a:srgbClr val="5B6475"/>
                </a:solidFill>
                <a:uFillTx/>
                <a:latin typeface="Segoe UI"/>
              </a:defRPr>
            </a:pPr>
          </a:p>
        </c:txPr>
        <c:crossAx val="17551946"/>
        <c:crossBetween val="between"/>
      </c:valAx>
      <c:spPr>
        <a:noFill/>
        <a:ln w="0">
          <a:noFill/>
        </a:ln>
      </c:spPr>
    </c:plotArea>
    <c:plotVisOnly val="1"/>
    <c:dispBlanksAs val="span"/>
  </c:chart>
  <c:spPr>
    <a:noFill/>
    <a:ln w="0">
      <a:noFill/>
    </a:ln>
  </c:spPr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P</c:v>
                </c:pt>
              </c:strCache>
            </c:strRef>
          </c:tx>
          <c:spPr>
            <a:solidFill>
              <a:srgbClr val="8C9AE8"/>
            </a:solidFill>
            <a:ln w="0">
              <a:noFill/>
            </a:ln>
          </c:spPr>
          <c:invertIfNegative val="0"/>
          <c:dLbls>
            <c:numFmt formatCode="0%" sourceLinked="0"/>
            <c:txPr>
              <a:bodyPr wrap="square"/>
              <a:lstStyle/>
              <a:p>
                <a:pPr>
                  <a:defRPr sz="1000" b="0" u="none" strike="noStrike">
                    <a:solidFill>
                      <a:srgbClr val="1B2333"/>
                    </a:solidFill>
                    <a:uFillTx/>
                    <a:latin typeface="Segoe U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6"/>
                <c:pt idx="0">
                  <c:v>Лестница вниз</c:v>
                </c:pt>
                <c:pt idx="1">
                  <c:v>Бег</c:v>
                </c:pt>
                <c:pt idx="2">
                  <c:v>Велосипед</c:v>
                </c:pt>
                <c:pt idx="3">
                  <c:v>Покой</c:v>
                </c:pt>
                <c:pt idx="4">
                  <c:v>Лестница вверх</c:v>
                </c:pt>
                <c:pt idx="5">
                  <c:v>Ходьба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6"/>
                <c:pt idx="0">
                  <c:v>0.9783</c:v>
                </c:pt>
                <c:pt idx="1">
                  <c:v>0.0054</c:v>
                </c:pt>
                <c:pt idx="2">
                  <c:v>0.005</c:v>
                </c:pt>
                <c:pt idx="3">
                  <c:v>0.0047</c:v>
                </c:pt>
                <c:pt idx="4">
                  <c:v>0.0038</c:v>
                </c:pt>
                <c:pt idx="5">
                  <c:v>0.0029</c:v>
                </c:pt>
              </c:numCache>
            </c:numRef>
          </c:val>
        </c:ser>
        <c:gapWidth val="40"/>
        <c:overlap val="0"/>
        <c:axId val="97111690"/>
        <c:axId val="15825990"/>
      </c:barChart>
      <c:catAx>
        <c:axId val="97111690"/>
        <c:scaling>
          <c:orientation val="maxMin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 w="12600">
            <a:solidFill>
              <a:srgbClr val="C9CFD9"/>
            </a:solidFill>
            <a:round/>
          </a:ln>
        </c:spPr>
        <c:txPr>
          <a:bodyPr/>
          <a:lstStyle/>
          <a:p>
            <a:pPr>
              <a:defRPr sz="1050" b="0" u="none" strike="noStrike">
                <a:solidFill>
                  <a:srgbClr val="5B6475"/>
                </a:solidFill>
                <a:uFillTx/>
                <a:latin typeface="Segoe UI"/>
              </a:defRPr>
            </a:pPr>
          </a:p>
        </c:txPr>
        <c:crossAx val="15825990"/>
        <c:crosses val="autoZero"/>
        <c:auto val="1"/>
        <c:lblAlgn val="ctr"/>
        <c:lblOffset val="100"/>
        <c:noMultiLvlLbl val="0"/>
      </c:catAx>
      <c:valAx>
        <c:axId val="15825990"/>
        <c:scaling>
          <c:orientation val="minMax"/>
          <c:max val="1.3"/>
          <c:min val="0"/>
        </c:scaling>
        <c:delete val="1"/>
        <c:axPos val="l"/>
        <c:numFmt formatCode="General" sourceLinked="1"/>
        <c:majorTickMark val="out"/>
        <c:minorTickMark val="none"/>
        <c:tickLblPos val="low"/>
        <c:spPr>
          <a:ln w="12600">
            <a:noFill/>
          </a:ln>
        </c:spPr>
        <c:txPr>
          <a:bodyPr/>
          <a:lstStyle/>
          <a:p>
            <a:pPr>
              <a:defRPr sz="1000" b="0" u="none" strike="noStrike">
                <a:solidFill>
                  <a:srgbClr val="5B6475"/>
                </a:solidFill>
                <a:uFillTx/>
                <a:latin typeface="Segoe UI"/>
              </a:defRPr>
            </a:pPr>
          </a:p>
        </c:txPr>
        <c:crossAx val="97111690"/>
        <c:crossBetween val="between"/>
      </c:valAx>
      <c:spPr>
        <a:noFill/>
        <a:ln w="0">
          <a:noFill/>
        </a:ln>
      </c:spPr>
    </c:plotArea>
    <c:plotVisOnly val="1"/>
    <c:dispBlanksAs val="span"/>
  </c:chart>
  <c:spPr>
    <a:noFill/>
    <a:ln w="0">
      <a:noFill/>
    </a:ln>
  </c:spPr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Окон</c:v>
                </c:pt>
              </c:strCache>
            </c:strRef>
          </c:tx>
          <c:spPr>
            <a:solidFill>
              <a:srgbClr val="00696E"/>
            </a:solidFill>
            <a:ln w="0">
              <a:noFill/>
            </a:ln>
          </c:spPr>
          <c:invertIfNegative val="0"/>
          <c:dLbls>
            <c:numFmt formatCode="#,##0" sourceLinked="0"/>
            <c:txPr>
              <a:bodyPr wrap="square"/>
              <a:lstStyle/>
              <a:p>
                <a:pPr>
                  <a:defRPr sz="1000" b="0" u="none" strike="noStrike">
                    <a:solidFill>
                      <a:srgbClr val="1B2333"/>
                    </a:solidFill>
                    <a:uFillTx/>
                    <a:latin typeface="Segoe U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6"/>
                <c:pt idx="0">
                  <c:v>Покой</c:v>
                </c:pt>
                <c:pt idx="1">
                  <c:v>Ходьба</c:v>
                </c:pt>
                <c:pt idx="2">
                  <c:v>Бег</c:v>
                </c:pt>
                <c:pt idx="3">
                  <c:v>Подъём</c:v>
                </c:pt>
                <c:pt idx="4">
                  <c:v>Спуск</c:v>
                </c:pt>
                <c:pt idx="5">
                  <c:v>Велосипед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6"/>
                <c:pt idx="0">
                  <c:v>54230</c:v>
                </c:pt>
                <c:pt idx="1">
                  <c:v>33820</c:v>
                </c:pt>
                <c:pt idx="2">
                  <c:v>31324</c:v>
                </c:pt>
                <c:pt idx="3">
                  <c:v>28776</c:v>
                </c:pt>
                <c:pt idx="4">
                  <c:v>28179</c:v>
                </c:pt>
                <c:pt idx="5">
                  <c:v>9110</c:v>
                </c:pt>
              </c:numCache>
            </c:numRef>
          </c:val>
        </c:ser>
        <c:gapWidth val="40"/>
        <c:overlap val="0"/>
        <c:axId val="71289263"/>
        <c:axId val="60915913"/>
      </c:barChart>
      <c:catAx>
        <c:axId val="71289263"/>
        <c:scaling>
          <c:orientation val="maxMin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 w="12600">
            <a:solidFill>
              <a:srgbClr val="C9CFD9"/>
            </a:solidFill>
            <a:round/>
          </a:ln>
        </c:spPr>
        <c:txPr>
          <a:bodyPr/>
          <a:lstStyle/>
          <a:p>
            <a:pPr>
              <a:defRPr sz="1050" b="0" u="none" strike="noStrike">
                <a:solidFill>
                  <a:srgbClr val="5B6475"/>
                </a:solidFill>
                <a:uFillTx/>
                <a:latin typeface="Segoe UI"/>
              </a:defRPr>
            </a:pPr>
          </a:p>
        </c:txPr>
        <c:crossAx val="60915913"/>
        <c:crosses val="autoZero"/>
        <c:auto val="1"/>
        <c:lblAlgn val="ctr"/>
        <c:lblOffset val="100"/>
        <c:noMultiLvlLbl val="0"/>
      </c:catAx>
      <c:valAx>
        <c:axId val="60915913"/>
        <c:scaling>
          <c:orientation val="minMax"/>
          <c:max val="72000"/>
        </c:scaling>
        <c:delete val="1"/>
        <c:axPos val="l"/>
        <c:numFmt formatCode="General" sourceLinked="1"/>
        <c:majorTickMark val="out"/>
        <c:minorTickMark val="none"/>
        <c:tickLblPos val="low"/>
        <c:spPr>
          <a:ln w="12600">
            <a:noFill/>
          </a:ln>
        </c:spPr>
        <c:txPr>
          <a:bodyPr/>
          <a:lstStyle/>
          <a:p>
            <a:pPr>
              <a:defRPr sz="1000" b="0" u="none" strike="noStrike">
                <a:solidFill>
                  <a:srgbClr val="5B6475"/>
                </a:solidFill>
                <a:uFillTx/>
                <a:latin typeface="Segoe UI"/>
              </a:defRPr>
            </a:pPr>
          </a:p>
        </c:txPr>
        <c:crossAx val="71289263"/>
        <c:crossBetween val="between"/>
      </c:valAx>
      <c:spPr>
        <a:noFill/>
        <a:ln w="0">
          <a:noFill/>
        </a:ln>
      </c:spPr>
    </c:plotArea>
    <c:plotVisOnly val="1"/>
    <c:dispBlanksAs val="span"/>
  </c:chart>
  <c:spPr>
    <a:noFill/>
    <a:ln w="0">
      <a:noFill/>
    </a:ln>
  </c:spPr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Покой</c:v>
                </c:pt>
              </c:strCache>
            </c:strRef>
          </c:tx>
          <c:spPr>
            <a:ln w="28575">
              <a:solidFill>
                <a:srgbClr val="8C96A8"/>
              </a:solidFill>
              <a:prstDash val="dash"/>
            </a:ln>
          </c:spPr>
          <c:marker>
            <c:symbol val="none"/>
          </c:marker>
          <c:xVal>
            <c:numRef>
              <c:f>Sheet1!$A$2:$A$37</c:f>
              <c:numCache>
                <c:formatCode>General</c:formatCode>
                <c:ptCount val="36"/>
                <c:pt idx="0">
                  <c:v>0.99</c:v>
                </c:pt>
                <c:pt idx="1">
                  <c:v>1.03</c:v>
                </c:pt>
                <c:pt idx="2">
                  <c:v>1.07</c:v>
                </c:pt>
                <c:pt idx="3">
                  <c:v>1.1</c:v>
                </c:pt>
                <c:pt idx="4">
                  <c:v>1.14</c:v>
                </c:pt>
                <c:pt idx="5">
                  <c:v>1.17</c:v>
                </c:pt>
                <c:pt idx="6">
                  <c:v>1.21</c:v>
                </c:pt>
                <c:pt idx="7">
                  <c:v>1.25</c:v>
                </c:pt>
                <c:pt idx="8">
                  <c:v>1.28</c:v>
                </c:pt>
                <c:pt idx="9">
                  <c:v>1.32</c:v>
                </c:pt>
                <c:pt idx="10">
                  <c:v>1.36</c:v>
                </c:pt>
                <c:pt idx="11">
                  <c:v>1.39</c:v>
                </c:pt>
                <c:pt idx="12">
                  <c:v>1.43</c:v>
                </c:pt>
                <c:pt idx="13">
                  <c:v>1.46</c:v>
                </c:pt>
                <c:pt idx="14">
                  <c:v>1.5</c:v>
                </c:pt>
                <c:pt idx="15">
                  <c:v>1.54</c:v>
                </c:pt>
                <c:pt idx="16">
                  <c:v>1.57</c:v>
                </c:pt>
                <c:pt idx="17">
                  <c:v>1.61</c:v>
                </c:pt>
                <c:pt idx="18">
                  <c:v>1.65</c:v>
                </c:pt>
                <c:pt idx="19">
                  <c:v>1.68</c:v>
                </c:pt>
                <c:pt idx="20">
                  <c:v>1.72</c:v>
                </c:pt>
                <c:pt idx="21">
                  <c:v>1.75</c:v>
                </c:pt>
                <c:pt idx="22">
                  <c:v>1.79</c:v>
                </c:pt>
                <c:pt idx="23">
                  <c:v>1.83</c:v>
                </c:pt>
                <c:pt idx="24">
                  <c:v>1.86</c:v>
                </c:pt>
                <c:pt idx="25">
                  <c:v>1.9</c:v>
                </c:pt>
                <c:pt idx="26">
                  <c:v>1.94</c:v>
                </c:pt>
                <c:pt idx="27">
                  <c:v>1.97</c:v>
                </c:pt>
                <c:pt idx="28">
                  <c:v>2.01</c:v>
                </c:pt>
                <c:pt idx="29">
                  <c:v>2.04</c:v>
                </c:pt>
                <c:pt idx="30">
                  <c:v>2.08</c:v>
                </c:pt>
                <c:pt idx="31">
                  <c:v>2.12</c:v>
                </c:pt>
                <c:pt idx="32">
                  <c:v>2.15</c:v>
                </c:pt>
                <c:pt idx="33">
                  <c:v>2.19</c:v>
                </c:pt>
                <c:pt idx="34">
                  <c:v>2.23</c:v>
                </c:pt>
                <c:pt idx="35">
                  <c:v>2.26</c:v>
                </c:pt>
              </c:numCache>
            </c:numRef>
          </c:xVal>
          <c:yVal>
            <c:numRef>
              <c:f>Sheet1!$B$2:$B$37</c:f>
              <c:numCache>
                <c:formatCode>General</c:formatCode>
                <c:ptCount val="36"/>
                <c:pt idx="0">
                  <c:v>0.0013</c:v>
                </c:pt>
                <c:pt idx="1">
                  <c:v>0.0011</c:v>
                </c:pt>
                <c:pt idx="2">
                  <c:v>0.0016</c:v>
                </c:pt>
                <c:pt idx="3">
                  <c:v>0.0024</c:v>
                </c:pt>
                <c:pt idx="4">
                  <c:v>0.0028</c:v>
                </c:pt>
                <c:pt idx="5">
                  <c:v>0.0039</c:v>
                </c:pt>
                <c:pt idx="6">
                  <c:v>0.0043</c:v>
                </c:pt>
                <c:pt idx="7">
                  <c:v>0.0057</c:v>
                </c:pt>
                <c:pt idx="8">
                  <c:v>0.0132</c:v>
                </c:pt>
                <c:pt idx="9">
                  <c:v>0.013</c:v>
                </c:pt>
                <c:pt idx="10">
                  <c:v>0.0179</c:v>
                </c:pt>
                <c:pt idx="11">
                  <c:v>0.0203</c:v>
                </c:pt>
                <c:pt idx="12">
                  <c:v>0.025</c:v>
                </c:pt>
                <c:pt idx="13">
                  <c:v>0.0301</c:v>
                </c:pt>
                <c:pt idx="14">
                  <c:v>0.0402</c:v>
                </c:pt>
                <c:pt idx="15">
                  <c:v>0.0492</c:v>
                </c:pt>
                <c:pt idx="16">
                  <c:v>0.0688</c:v>
                </c:pt>
                <c:pt idx="17">
                  <c:v>0.0923</c:v>
                </c:pt>
                <c:pt idx="18">
                  <c:v>0.1062</c:v>
                </c:pt>
                <c:pt idx="19">
                  <c:v>0.1295</c:v>
                </c:pt>
                <c:pt idx="20">
                  <c:v>0.1702</c:v>
                </c:pt>
                <c:pt idx="21">
                  <c:v>0.2201</c:v>
                </c:pt>
                <c:pt idx="22">
                  <c:v>0.2631</c:v>
                </c:pt>
                <c:pt idx="23">
                  <c:v>0.3491</c:v>
                </c:pt>
                <c:pt idx="24">
                  <c:v>0.4086</c:v>
                </c:pt>
                <c:pt idx="25">
                  <c:v>0.5187</c:v>
                </c:pt>
                <c:pt idx="26">
                  <c:v>0.6199</c:v>
                </c:pt>
                <c:pt idx="27">
                  <c:v>0.7403</c:v>
                </c:pt>
                <c:pt idx="28">
                  <c:v>0.8513</c:v>
                </c:pt>
                <c:pt idx="29">
                  <c:v>0.9409</c:v>
                </c:pt>
                <c:pt idx="30">
                  <c:v>1.0</c:v>
                </c:pt>
                <c:pt idx="31">
                  <c:v>0.9917</c:v>
                </c:pt>
                <c:pt idx="32">
                  <c:v>0.9051</c:v>
                </c:pt>
                <c:pt idx="33">
                  <c:v>0.7564</c:v>
                </c:pt>
                <c:pt idx="34">
                  <c:v>0.5398</c:v>
                </c:pt>
                <c:pt idx="35">
                  <c:v>0.3489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Sheet1!$B$39</c:f>
              <c:strCache>
                <c:ptCount val="1"/>
                <c:pt idx="0">
                  <c:v>Ходьба</c:v>
                </c:pt>
              </c:strCache>
            </c:strRef>
          </c:tx>
          <c:spPr>
            <a:ln w="28575">
              <a:solidFill>
                <a:srgbClr val="3C8A1E"/>
              </a:solidFill>
            </a:ln>
          </c:spPr>
          <c:marker>
            <c:symbol val="none"/>
          </c:marker>
          <c:xVal>
            <c:numRef>
              <c:f>Sheet1!$A$40:$A$75</c:f>
              <c:numCache>
                <c:formatCode>General</c:formatCode>
                <c:ptCount val="36"/>
                <c:pt idx="0">
                  <c:v>0.99</c:v>
                </c:pt>
                <c:pt idx="1">
                  <c:v>1.03</c:v>
                </c:pt>
                <c:pt idx="2">
                  <c:v>1.07</c:v>
                </c:pt>
                <c:pt idx="3">
                  <c:v>1.1</c:v>
                </c:pt>
                <c:pt idx="4">
                  <c:v>1.14</c:v>
                </c:pt>
                <c:pt idx="5">
                  <c:v>1.17</c:v>
                </c:pt>
                <c:pt idx="6">
                  <c:v>1.21</c:v>
                </c:pt>
                <c:pt idx="7">
                  <c:v>1.25</c:v>
                </c:pt>
                <c:pt idx="8">
                  <c:v>1.28</c:v>
                </c:pt>
                <c:pt idx="9">
                  <c:v>1.32</c:v>
                </c:pt>
                <c:pt idx="10">
                  <c:v>1.36</c:v>
                </c:pt>
                <c:pt idx="11">
                  <c:v>1.39</c:v>
                </c:pt>
                <c:pt idx="12">
                  <c:v>1.43</c:v>
                </c:pt>
                <c:pt idx="13">
                  <c:v>1.46</c:v>
                </c:pt>
                <c:pt idx="14">
                  <c:v>1.5</c:v>
                </c:pt>
                <c:pt idx="15">
                  <c:v>1.54</c:v>
                </c:pt>
                <c:pt idx="16">
                  <c:v>1.57</c:v>
                </c:pt>
                <c:pt idx="17">
                  <c:v>1.61</c:v>
                </c:pt>
                <c:pt idx="18">
                  <c:v>1.65</c:v>
                </c:pt>
                <c:pt idx="19">
                  <c:v>1.68</c:v>
                </c:pt>
                <c:pt idx="20">
                  <c:v>1.72</c:v>
                </c:pt>
                <c:pt idx="21">
                  <c:v>1.75</c:v>
                </c:pt>
                <c:pt idx="22">
                  <c:v>1.79</c:v>
                </c:pt>
                <c:pt idx="23">
                  <c:v>1.83</c:v>
                </c:pt>
                <c:pt idx="24">
                  <c:v>1.86</c:v>
                </c:pt>
                <c:pt idx="25">
                  <c:v>1.9</c:v>
                </c:pt>
                <c:pt idx="26">
                  <c:v>1.94</c:v>
                </c:pt>
                <c:pt idx="27">
                  <c:v>1.97</c:v>
                </c:pt>
                <c:pt idx="28">
                  <c:v>2.01</c:v>
                </c:pt>
                <c:pt idx="29">
                  <c:v>2.04</c:v>
                </c:pt>
                <c:pt idx="30">
                  <c:v>2.08</c:v>
                </c:pt>
                <c:pt idx="31">
                  <c:v>2.12</c:v>
                </c:pt>
                <c:pt idx="32">
                  <c:v>2.15</c:v>
                </c:pt>
                <c:pt idx="33">
                  <c:v>2.19</c:v>
                </c:pt>
                <c:pt idx="34">
                  <c:v>2.23</c:v>
                </c:pt>
                <c:pt idx="35">
                  <c:v>2.26</c:v>
                </c:pt>
              </c:numCache>
            </c:numRef>
          </c:xVal>
          <c:yVal>
            <c:numRef>
              <c:f>Sheet1!$B$40:$B$75</c:f>
              <c:numCache>
                <c:formatCode>General</c:formatCode>
                <c:ptCount val="36"/>
                <c:pt idx="0">
                  <c:v>0.0936</c:v>
                </c:pt>
                <c:pt idx="1">
                  <c:v>0.159</c:v>
                </c:pt>
                <c:pt idx="2">
                  <c:v>0.2539</c:v>
                </c:pt>
                <c:pt idx="3">
                  <c:v>0.3203</c:v>
                </c:pt>
                <c:pt idx="4">
                  <c:v>0.4324</c:v>
                </c:pt>
                <c:pt idx="5">
                  <c:v>0.4727</c:v>
                </c:pt>
                <c:pt idx="6">
                  <c:v>0.5273</c:v>
                </c:pt>
                <c:pt idx="7">
                  <c:v>0.6032</c:v>
                </c:pt>
                <c:pt idx="8">
                  <c:v>0.6157</c:v>
                </c:pt>
                <c:pt idx="9">
                  <c:v>0.6433</c:v>
                </c:pt>
                <c:pt idx="10">
                  <c:v>0.6909</c:v>
                </c:pt>
                <c:pt idx="11">
                  <c:v>0.6672</c:v>
                </c:pt>
                <c:pt idx="12">
                  <c:v>0.6547</c:v>
                </c:pt>
                <c:pt idx="13">
                  <c:v>0.727</c:v>
                </c:pt>
                <c:pt idx="14">
                  <c:v>0.8121</c:v>
                </c:pt>
                <c:pt idx="15">
                  <c:v>0.8485</c:v>
                </c:pt>
                <c:pt idx="16">
                  <c:v>0.9412</c:v>
                </c:pt>
                <c:pt idx="17">
                  <c:v>0.9645</c:v>
                </c:pt>
                <c:pt idx="18">
                  <c:v>0.9347</c:v>
                </c:pt>
                <c:pt idx="19">
                  <c:v>1.0</c:v>
                </c:pt>
                <c:pt idx="20">
                  <c:v>0.9737</c:v>
                </c:pt>
                <c:pt idx="21">
                  <c:v>0.9763</c:v>
                </c:pt>
                <c:pt idx="22">
                  <c:v>0.9875</c:v>
                </c:pt>
                <c:pt idx="23">
                  <c:v>0.9691</c:v>
                </c:pt>
                <c:pt idx="24">
                  <c:v>0.9044</c:v>
                </c:pt>
                <c:pt idx="25">
                  <c:v>0.8518</c:v>
                </c:pt>
                <c:pt idx="26">
                  <c:v>0.7661</c:v>
                </c:pt>
                <c:pt idx="27">
                  <c:v>0.7178</c:v>
                </c:pt>
                <c:pt idx="28">
                  <c:v>0.6012</c:v>
                </c:pt>
                <c:pt idx="29">
                  <c:v>0.4714</c:v>
                </c:pt>
                <c:pt idx="30">
                  <c:v>0.408</c:v>
                </c:pt>
                <c:pt idx="31">
                  <c:v>0.3045</c:v>
                </c:pt>
                <c:pt idx="32">
                  <c:v>0.2155</c:v>
                </c:pt>
                <c:pt idx="33">
                  <c:v>0.157</c:v>
                </c:pt>
                <c:pt idx="34">
                  <c:v>0.0976</c:v>
                </c:pt>
                <c:pt idx="35">
                  <c:v>0.0542</c:v>
                </c:pt>
              </c:numCache>
            </c:numRef>
          </c:yVal>
          <c:smooth val="0"/>
        </c:ser>
        <c:ser>
          <c:idx val="2"/>
          <c:order val="2"/>
          <c:tx>
            <c:strRef>
              <c:f>Sheet1!$B$77</c:f>
              <c:strCache>
                <c:ptCount val="1"/>
                <c:pt idx="0">
                  <c:v>Бег</c:v>
                </c:pt>
              </c:strCache>
            </c:strRef>
          </c:tx>
          <c:spPr>
            <a:ln w="28575">
              <a:solidFill>
                <a:srgbClr val="D8602A"/>
              </a:solidFill>
            </a:ln>
          </c:spPr>
          <c:marker>
            <c:symbol val="none"/>
          </c:marker>
          <c:xVal>
            <c:numRef>
              <c:f>Sheet1!$A$78:$A$113</c:f>
              <c:numCache>
                <c:formatCode>General</c:formatCode>
                <c:ptCount val="36"/>
                <c:pt idx="0">
                  <c:v>0.99</c:v>
                </c:pt>
                <c:pt idx="1">
                  <c:v>1.03</c:v>
                </c:pt>
                <c:pt idx="2">
                  <c:v>1.07</c:v>
                </c:pt>
                <c:pt idx="3">
                  <c:v>1.1</c:v>
                </c:pt>
                <c:pt idx="4">
                  <c:v>1.14</c:v>
                </c:pt>
                <c:pt idx="5">
                  <c:v>1.17</c:v>
                </c:pt>
                <c:pt idx="6">
                  <c:v>1.21</c:v>
                </c:pt>
                <c:pt idx="7">
                  <c:v>1.25</c:v>
                </c:pt>
                <c:pt idx="8">
                  <c:v>1.28</c:v>
                </c:pt>
                <c:pt idx="9">
                  <c:v>1.32</c:v>
                </c:pt>
                <c:pt idx="10">
                  <c:v>1.36</c:v>
                </c:pt>
                <c:pt idx="11">
                  <c:v>1.39</c:v>
                </c:pt>
                <c:pt idx="12">
                  <c:v>1.43</c:v>
                </c:pt>
                <c:pt idx="13">
                  <c:v>1.46</c:v>
                </c:pt>
                <c:pt idx="14">
                  <c:v>1.5</c:v>
                </c:pt>
                <c:pt idx="15">
                  <c:v>1.54</c:v>
                </c:pt>
                <c:pt idx="16">
                  <c:v>1.57</c:v>
                </c:pt>
                <c:pt idx="17">
                  <c:v>1.61</c:v>
                </c:pt>
                <c:pt idx="18">
                  <c:v>1.65</c:v>
                </c:pt>
                <c:pt idx="19">
                  <c:v>1.68</c:v>
                </c:pt>
                <c:pt idx="20">
                  <c:v>1.72</c:v>
                </c:pt>
                <c:pt idx="21">
                  <c:v>1.75</c:v>
                </c:pt>
                <c:pt idx="22">
                  <c:v>1.79</c:v>
                </c:pt>
                <c:pt idx="23">
                  <c:v>1.83</c:v>
                </c:pt>
                <c:pt idx="24">
                  <c:v>1.86</c:v>
                </c:pt>
                <c:pt idx="25">
                  <c:v>1.9</c:v>
                </c:pt>
                <c:pt idx="26">
                  <c:v>1.94</c:v>
                </c:pt>
                <c:pt idx="27">
                  <c:v>1.97</c:v>
                </c:pt>
                <c:pt idx="28">
                  <c:v>2.01</c:v>
                </c:pt>
                <c:pt idx="29">
                  <c:v>2.04</c:v>
                </c:pt>
                <c:pt idx="30">
                  <c:v>2.08</c:v>
                </c:pt>
                <c:pt idx="31">
                  <c:v>2.12</c:v>
                </c:pt>
                <c:pt idx="32">
                  <c:v>2.15</c:v>
                </c:pt>
                <c:pt idx="33">
                  <c:v>2.19</c:v>
                </c:pt>
                <c:pt idx="34">
                  <c:v>2.23</c:v>
                </c:pt>
                <c:pt idx="35">
                  <c:v>2.26</c:v>
                </c:pt>
              </c:numCache>
            </c:numRef>
          </c:xVal>
          <c:yVal>
            <c:numRef>
              <c:f>Sheet1!$B$78:$B$113</c:f>
              <c:numCache>
                <c:formatCode>General</c:formatCode>
                <c:ptCount val="36"/>
                <c:pt idx="0">
                  <c:v>0.863</c:v>
                </c:pt>
                <c:pt idx="1">
                  <c:v>0.959</c:v>
                </c:pt>
                <c:pt idx="2">
                  <c:v>1.0</c:v>
                </c:pt>
                <c:pt idx="3">
                  <c:v>0.932</c:v>
                </c:pt>
                <c:pt idx="4">
                  <c:v>0.8975</c:v>
                </c:pt>
                <c:pt idx="5">
                  <c:v>0.7769</c:v>
                </c:pt>
                <c:pt idx="6">
                  <c:v>0.6744</c:v>
                </c:pt>
                <c:pt idx="7">
                  <c:v>0.5889</c:v>
                </c:pt>
                <c:pt idx="8">
                  <c:v>0.5624</c:v>
                </c:pt>
                <c:pt idx="9">
                  <c:v>0.4918</c:v>
                </c:pt>
                <c:pt idx="10">
                  <c:v>0.4704</c:v>
                </c:pt>
                <c:pt idx="11">
                  <c:v>0.3969</c:v>
                </c:pt>
                <c:pt idx="12">
                  <c:v>0.3876</c:v>
                </c:pt>
                <c:pt idx="13">
                  <c:v>0.3486</c:v>
                </c:pt>
                <c:pt idx="14">
                  <c:v>0.3426</c:v>
                </c:pt>
                <c:pt idx="15">
                  <c:v>0.3333</c:v>
                </c:pt>
                <c:pt idx="16">
                  <c:v>0.3701</c:v>
                </c:pt>
                <c:pt idx="17">
                  <c:v>0.4238</c:v>
                </c:pt>
                <c:pt idx="18">
                  <c:v>0.4764</c:v>
                </c:pt>
                <c:pt idx="19">
                  <c:v>0.4709</c:v>
                </c:pt>
                <c:pt idx="20">
                  <c:v>0.4578</c:v>
                </c:pt>
                <c:pt idx="21">
                  <c:v>0.4523</c:v>
                </c:pt>
                <c:pt idx="22">
                  <c:v>0.4024</c:v>
                </c:pt>
                <c:pt idx="23">
                  <c:v>0.3701</c:v>
                </c:pt>
                <c:pt idx="24">
                  <c:v>0.3076</c:v>
                </c:pt>
                <c:pt idx="25">
                  <c:v>0.295</c:v>
                </c:pt>
                <c:pt idx="26">
                  <c:v>0.2638</c:v>
                </c:pt>
                <c:pt idx="27">
                  <c:v>0.284</c:v>
                </c:pt>
                <c:pt idx="28">
                  <c:v>0.2681</c:v>
                </c:pt>
                <c:pt idx="29">
                  <c:v>0.2555</c:v>
                </c:pt>
                <c:pt idx="30">
                  <c:v>0.2413</c:v>
                </c:pt>
                <c:pt idx="31">
                  <c:v>0.2336</c:v>
                </c:pt>
                <c:pt idx="32">
                  <c:v>0.199</c:v>
                </c:pt>
                <c:pt idx="33">
                  <c:v>0.1688</c:v>
                </c:pt>
                <c:pt idx="34">
                  <c:v>0.1283</c:v>
                </c:pt>
                <c:pt idx="35">
                  <c:v>0.085</c:v>
                </c:pt>
              </c:numCache>
            </c:numRef>
          </c:yVal>
          <c:smooth val="0"/>
        </c:ser>
        <c:ser>
          <c:idx val="3"/>
          <c:order val="3"/>
          <c:tx>
            <c:strRef>
              <c:f>Sheet1!$B$115</c:f>
              <c:strCache>
                <c:ptCount val="1"/>
                <c:pt idx="0">
                  <c:v>Подъём</c:v>
                </c:pt>
              </c:strCache>
            </c:strRef>
          </c:tx>
          <c:spPr>
            <a:ln w="28575">
              <a:solidFill>
                <a:srgbClr val="2D5FA8"/>
              </a:solidFill>
            </a:ln>
          </c:spPr>
          <c:marker>
            <c:symbol val="none"/>
          </c:marker>
          <c:xVal>
            <c:numRef>
              <c:f>Sheet1!$A$116:$A$151</c:f>
              <c:numCache>
                <c:formatCode>General</c:formatCode>
                <c:ptCount val="36"/>
                <c:pt idx="0">
                  <c:v>0.99</c:v>
                </c:pt>
                <c:pt idx="1">
                  <c:v>1.03</c:v>
                </c:pt>
                <c:pt idx="2">
                  <c:v>1.07</c:v>
                </c:pt>
                <c:pt idx="3">
                  <c:v>1.1</c:v>
                </c:pt>
                <c:pt idx="4">
                  <c:v>1.14</c:v>
                </c:pt>
                <c:pt idx="5">
                  <c:v>1.17</c:v>
                </c:pt>
                <c:pt idx="6">
                  <c:v>1.21</c:v>
                </c:pt>
                <c:pt idx="7">
                  <c:v>1.25</c:v>
                </c:pt>
                <c:pt idx="8">
                  <c:v>1.28</c:v>
                </c:pt>
                <c:pt idx="9">
                  <c:v>1.32</c:v>
                </c:pt>
                <c:pt idx="10">
                  <c:v>1.36</c:v>
                </c:pt>
                <c:pt idx="11">
                  <c:v>1.39</c:v>
                </c:pt>
                <c:pt idx="12">
                  <c:v>1.43</c:v>
                </c:pt>
                <c:pt idx="13">
                  <c:v>1.46</c:v>
                </c:pt>
                <c:pt idx="14">
                  <c:v>1.5</c:v>
                </c:pt>
                <c:pt idx="15">
                  <c:v>1.54</c:v>
                </c:pt>
                <c:pt idx="16">
                  <c:v>1.57</c:v>
                </c:pt>
                <c:pt idx="17">
                  <c:v>1.61</c:v>
                </c:pt>
                <c:pt idx="18">
                  <c:v>1.65</c:v>
                </c:pt>
                <c:pt idx="19">
                  <c:v>1.68</c:v>
                </c:pt>
                <c:pt idx="20">
                  <c:v>1.72</c:v>
                </c:pt>
                <c:pt idx="21">
                  <c:v>1.75</c:v>
                </c:pt>
                <c:pt idx="22">
                  <c:v>1.79</c:v>
                </c:pt>
                <c:pt idx="23">
                  <c:v>1.83</c:v>
                </c:pt>
                <c:pt idx="24">
                  <c:v>1.86</c:v>
                </c:pt>
                <c:pt idx="25">
                  <c:v>1.9</c:v>
                </c:pt>
                <c:pt idx="26">
                  <c:v>1.94</c:v>
                </c:pt>
                <c:pt idx="27">
                  <c:v>1.97</c:v>
                </c:pt>
                <c:pt idx="28">
                  <c:v>2.01</c:v>
                </c:pt>
                <c:pt idx="29">
                  <c:v>2.04</c:v>
                </c:pt>
                <c:pt idx="30">
                  <c:v>2.08</c:v>
                </c:pt>
                <c:pt idx="31">
                  <c:v>2.12</c:v>
                </c:pt>
                <c:pt idx="32">
                  <c:v>2.15</c:v>
                </c:pt>
                <c:pt idx="33">
                  <c:v>2.19</c:v>
                </c:pt>
                <c:pt idx="34">
                  <c:v>2.23</c:v>
                </c:pt>
                <c:pt idx="35">
                  <c:v>2.26</c:v>
                </c:pt>
              </c:numCache>
            </c:numRef>
          </c:xVal>
          <c:yVal>
            <c:numRef>
              <c:f>Sheet1!$B$116:$B$151</c:f>
              <c:numCache>
                <c:formatCode>General</c:formatCode>
                <c:ptCount val="36"/>
                <c:pt idx="0">
                  <c:v>0.0516</c:v>
                </c:pt>
                <c:pt idx="1">
                  <c:v>0.0852</c:v>
                </c:pt>
                <c:pt idx="2">
                  <c:v>0.1646</c:v>
                </c:pt>
                <c:pt idx="3">
                  <c:v>0.2138</c:v>
                </c:pt>
                <c:pt idx="4">
                  <c:v>0.2768</c:v>
                </c:pt>
                <c:pt idx="5">
                  <c:v>0.3664</c:v>
                </c:pt>
                <c:pt idx="6">
                  <c:v>0.3583</c:v>
                </c:pt>
                <c:pt idx="7">
                  <c:v>0.4234</c:v>
                </c:pt>
                <c:pt idx="8">
                  <c:v>0.4818</c:v>
                </c:pt>
                <c:pt idx="9">
                  <c:v>0.5094</c:v>
                </c:pt>
                <c:pt idx="10">
                  <c:v>0.5445</c:v>
                </c:pt>
                <c:pt idx="11">
                  <c:v>0.5886</c:v>
                </c:pt>
                <c:pt idx="12">
                  <c:v>0.65</c:v>
                </c:pt>
                <c:pt idx="13">
                  <c:v>0.6545</c:v>
                </c:pt>
                <c:pt idx="14">
                  <c:v>0.7382</c:v>
                </c:pt>
                <c:pt idx="15">
                  <c:v>0.7547</c:v>
                </c:pt>
                <c:pt idx="16">
                  <c:v>0.7892</c:v>
                </c:pt>
                <c:pt idx="17">
                  <c:v>0.8438</c:v>
                </c:pt>
                <c:pt idx="18">
                  <c:v>0.8827</c:v>
                </c:pt>
                <c:pt idx="19">
                  <c:v>0.8707</c:v>
                </c:pt>
                <c:pt idx="20">
                  <c:v>0.9007</c:v>
                </c:pt>
                <c:pt idx="21">
                  <c:v>0.9469</c:v>
                </c:pt>
                <c:pt idx="22">
                  <c:v>0.9777</c:v>
                </c:pt>
                <c:pt idx="23">
                  <c:v>1.0</c:v>
                </c:pt>
                <c:pt idx="24">
                  <c:v>0.9394</c:v>
                </c:pt>
                <c:pt idx="25">
                  <c:v>0.9155</c:v>
                </c:pt>
                <c:pt idx="26">
                  <c:v>0.917</c:v>
                </c:pt>
                <c:pt idx="27">
                  <c:v>0.8266</c:v>
                </c:pt>
                <c:pt idx="28">
                  <c:v>0.7316</c:v>
                </c:pt>
                <c:pt idx="29">
                  <c:v>0.6725</c:v>
                </c:pt>
                <c:pt idx="30">
                  <c:v>0.591</c:v>
                </c:pt>
                <c:pt idx="31">
                  <c:v>0.519</c:v>
                </c:pt>
                <c:pt idx="32">
                  <c:v>0.4204</c:v>
                </c:pt>
                <c:pt idx="33">
                  <c:v>0.3223</c:v>
                </c:pt>
                <c:pt idx="34">
                  <c:v>0.2087</c:v>
                </c:pt>
                <c:pt idx="35">
                  <c:v>0.1346</c:v>
                </c:pt>
              </c:numCache>
            </c:numRef>
          </c:yVal>
          <c:smooth val="0"/>
        </c:ser>
        <c:ser>
          <c:idx val="4"/>
          <c:order val="4"/>
          <c:tx>
            <c:strRef>
              <c:f>Sheet1!$B$153</c:f>
              <c:strCache>
                <c:ptCount val="1"/>
                <c:pt idx="0">
                  <c:v>Спуск</c:v>
                </c:pt>
              </c:strCache>
            </c:strRef>
          </c:tx>
          <c:spPr>
            <a:ln w="28575">
              <a:solidFill>
                <a:srgbClr val="7888E0"/>
              </a:solidFill>
            </a:ln>
          </c:spPr>
          <c:marker>
            <c:symbol val="none"/>
          </c:marker>
          <c:xVal>
            <c:numRef>
              <c:f>Sheet1!$A$154:$A$189</c:f>
              <c:numCache>
                <c:formatCode>General</c:formatCode>
                <c:ptCount val="36"/>
                <c:pt idx="0">
                  <c:v>0.99</c:v>
                </c:pt>
                <c:pt idx="1">
                  <c:v>1.03</c:v>
                </c:pt>
                <c:pt idx="2">
                  <c:v>1.07</c:v>
                </c:pt>
                <c:pt idx="3">
                  <c:v>1.1</c:v>
                </c:pt>
                <c:pt idx="4">
                  <c:v>1.14</c:v>
                </c:pt>
                <c:pt idx="5">
                  <c:v>1.17</c:v>
                </c:pt>
                <c:pt idx="6">
                  <c:v>1.21</c:v>
                </c:pt>
                <c:pt idx="7">
                  <c:v>1.25</c:v>
                </c:pt>
                <c:pt idx="8">
                  <c:v>1.28</c:v>
                </c:pt>
                <c:pt idx="9">
                  <c:v>1.32</c:v>
                </c:pt>
                <c:pt idx="10">
                  <c:v>1.36</c:v>
                </c:pt>
                <c:pt idx="11">
                  <c:v>1.39</c:v>
                </c:pt>
                <c:pt idx="12">
                  <c:v>1.43</c:v>
                </c:pt>
                <c:pt idx="13">
                  <c:v>1.46</c:v>
                </c:pt>
                <c:pt idx="14">
                  <c:v>1.5</c:v>
                </c:pt>
                <c:pt idx="15">
                  <c:v>1.54</c:v>
                </c:pt>
                <c:pt idx="16">
                  <c:v>1.57</c:v>
                </c:pt>
                <c:pt idx="17">
                  <c:v>1.61</c:v>
                </c:pt>
                <c:pt idx="18">
                  <c:v>1.65</c:v>
                </c:pt>
                <c:pt idx="19">
                  <c:v>1.68</c:v>
                </c:pt>
                <c:pt idx="20">
                  <c:v>1.72</c:v>
                </c:pt>
                <c:pt idx="21">
                  <c:v>1.75</c:v>
                </c:pt>
                <c:pt idx="22">
                  <c:v>1.79</c:v>
                </c:pt>
                <c:pt idx="23">
                  <c:v>1.83</c:v>
                </c:pt>
                <c:pt idx="24">
                  <c:v>1.86</c:v>
                </c:pt>
                <c:pt idx="25">
                  <c:v>1.9</c:v>
                </c:pt>
                <c:pt idx="26">
                  <c:v>1.94</c:v>
                </c:pt>
                <c:pt idx="27">
                  <c:v>1.97</c:v>
                </c:pt>
                <c:pt idx="28">
                  <c:v>2.01</c:v>
                </c:pt>
                <c:pt idx="29">
                  <c:v>2.04</c:v>
                </c:pt>
                <c:pt idx="30">
                  <c:v>2.08</c:v>
                </c:pt>
                <c:pt idx="31">
                  <c:v>2.12</c:v>
                </c:pt>
                <c:pt idx="32">
                  <c:v>2.15</c:v>
                </c:pt>
                <c:pt idx="33">
                  <c:v>2.19</c:v>
                </c:pt>
                <c:pt idx="34">
                  <c:v>2.23</c:v>
                </c:pt>
                <c:pt idx="35">
                  <c:v>2.26</c:v>
                </c:pt>
              </c:numCache>
            </c:numRef>
          </c:xVal>
          <c:yVal>
            <c:numRef>
              <c:f>Sheet1!$B$154:$B$189</c:f>
              <c:numCache>
                <c:formatCode>General</c:formatCode>
                <c:ptCount val="36"/>
                <c:pt idx="0">
                  <c:v>0.0373</c:v>
                </c:pt>
                <c:pt idx="1">
                  <c:v>0.0636</c:v>
                </c:pt>
                <c:pt idx="2">
                  <c:v>0.0886</c:v>
                </c:pt>
                <c:pt idx="3">
                  <c:v>0.1573</c:v>
                </c:pt>
                <c:pt idx="4">
                  <c:v>0.2189</c:v>
                </c:pt>
                <c:pt idx="5">
                  <c:v>0.2825</c:v>
                </c:pt>
                <c:pt idx="6">
                  <c:v>0.3381</c:v>
                </c:pt>
                <c:pt idx="7">
                  <c:v>0.4106</c:v>
                </c:pt>
                <c:pt idx="8">
                  <c:v>0.4613</c:v>
                </c:pt>
                <c:pt idx="9">
                  <c:v>0.5682</c:v>
                </c:pt>
                <c:pt idx="10">
                  <c:v>0.5908</c:v>
                </c:pt>
                <c:pt idx="11">
                  <c:v>0.604</c:v>
                </c:pt>
                <c:pt idx="12">
                  <c:v>0.7043</c:v>
                </c:pt>
                <c:pt idx="13">
                  <c:v>0.751</c:v>
                </c:pt>
                <c:pt idx="14">
                  <c:v>0.7519</c:v>
                </c:pt>
                <c:pt idx="15">
                  <c:v>0.8264</c:v>
                </c:pt>
                <c:pt idx="16">
                  <c:v>0.8719</c:v>
                </c:pt>
                <c:pt idx="17">
                  <c:v>0.902</c:v>
                </c:pt>
                <c:pt idx="18">
                  <c:v>0.8785</c:v>
                </c:pt>
                <c:pt idx="19">
                  <c:v>0.869</c:v>
                </c:pt>
                <c:pt idx="20">
                  <c:v>1.0</c:v>
                </c:pt>
                <c:pt idx="21">
                  <c:v>0.9238</c:v>
                </c:pt>
                <c:pt idx="22">
                  <c:v>0.9298</c:v>
                </c:pt>
                <c:pt idx="23">
                  <c:v>0.9224</c:v>
                </c:pt>
                <c:pt idx="24">
                  <c:v>0.8418</c:v>
                </c:pt>
                <c:pt idx="25">
                  <c:v>0.8404</c:v>
                </c:pt>
                <c:pt idx="26">
                  <c:v>0.8046</c:v>
                </c:pt>
                <c:pt idx="27">
                  <c:v>0.7358</c:v>
                </c:pt>
                <c:pt idx="28">
                  <c:v>0.6654</c:v>
                </c:pt>
                <c:pt idx="29">
                  <c:v>0.6347</c:v>
                </c:pt>
                <c:pt idx="30">
                  <c:v>0.5301</c:v>
                </c:pt>
                <c:pt idx="31">
                  <c:v>0.4267</c:v>
                </c:pt>
                <c:pt idx="32">
                  <c:v>0.3229</c:v>
                </c:pt>
                <c:pt idx="33">
                  <c:v>0.2607</c:v>
                </c:pt>
                <c:pt idx="34">
                  <c:v>0.1837</c:v>
                </c:pt>
                <c:pt idx="35">
                  <c:v>0.1017</c:v>
                </c:pt>
              </c:numCache>
            </c:numRef>
          </c:yVal>
          <c:smooth val="0"/>
        </c:ser>
        <c:ser>
          <c:idx val="5"/>
          <c:order val="5"/>
          <c:tx>
            <c:strRef>
              <c:f>Sheet1!$B$191</c:f>
              <c:strCache>
                <c:ptCount val="1"/>
                <c:pt idx="0">
                  <c:v>Велосипед</c:v>
                </c:pt>
              </c:strCache>
            </c:strRef>
          </c:tx>
          <c:spPr>
            <a:ln w="28575">
              <a:solidFill>
                <a:srgbClr val="C08600"/>
              </a:solidFill>
            </a:ln>
          </c:spPr>
          <c:marker>
            <c:symbol val="none"/>
          </c:marker>
          <c:xVal>
            <c:numRef>
              <c:f>Sheet1!$A$192:$A$227</c:f>
              <c:numCache>
                <c:formatCode>General</c:formatCode>
                <c:ptCount val="36"/>
                <c:pt idx="0">
                  <c:v>0.99</c:v>
                </c:pt>
                <c:pt idx="1">
                  <c:v>1.03</c:v>
                </c:pt>
                <c:pt idx="2">
                  <c:v>1.07</c:v>
                </c:pt>
                <c:pt idx="3">
                  <c:v>1.1</c:v>
                </c:pt>
                <c:pt idx="4">
                  <c:v>1.14</c:v>
                </c:pt>
                <c:pt idx="5">
                  <c:v>1.17</c:v>
                </c:pt>
                <c:pt idx="6">
                  <c:v>1.21</c:v>
                </c:pt>
                <c:pt idx="7">
                  <c:v>1.25</c:v>
                </c:pt>
                <c:pt idx="8">
                  <c:v>1.28</c:v>
                </c:pt>
                <c:pt idx="9">
                  <c:v>1.32</c:v>
                </c:pt>
                <c:pt idx="10">
                  <c:v>1.36</c:v>
                </c:pt>
                <c:pt idx="11">
                  <c:v>1.39</c:v>
                </c:pt>
                <c:pt idx="12">
                  <c:v>1.43</c:v>
                </c:pt>
                <c:pt idx="13">
                  <c:v>1.46</c:v>
                </c:pt>
                <c:pt idx="14">
                  <c:v>1.5</c:v>
                </c:pt>
                <c:pt idx="15">
                  <c:v>1.54</c:v>
                </c:pt>
                <c:pt idx="16">
                  <c:v>1.57</c:v>
                </c:pt>
                <c:pt idx="17">
                  <c:v>1.61</c:v>
                </c:pt>
                <c:pt idx="18">
                  <c:v>1.65</c:v>
                </c:pt>
                <c:pt idx="19">
                  <c:v>1.68</c:v>
                </c:pt>
                <c:pt idx="20">
                  <c:v>1.72</c:v>
                </c:pt>
                <c:pt idx="21">
                  <c:v>1.75</c:v>
                </c:pt>
                <c:pt idx="22">
                  <c:v>1.79</c:v>
                </c:pt>
                <c:pt idx="23">
                  <c:v>1.83</c:v>
                </c:pt>
                <c:pt idx="24">
                  <c:v>1.86</c:v>
                </c:pt>
                <c:pt idx="25">
                  <c:v>1.9</c:v>
                </c:pt>
                <c:pt idx="26">
                  <c:v>1.94</c:v>
                </c:pt>
                <c:pt idx="27">
                  <c:v>1.97</c:v>
                </c:pt>
                <c:pt idx="28">
                  <c:v>2.01</c:v>
                </c:pt>
                <c:pt idx="29">
                  <c:v>2.04</c:v>
                </c:pt>
                <c:pt idx="30">
                  <c:v>2.08</c:v>
                </c:pt>
                <c:pt idx="31">
                  <c:v>2.12</c:v>
                </c:pt>
                <c:pt idx="32">
                  <c:v>2.15</c:v>
                </c:pt>
                <c:pt idx="33">
                  <c:v>2.19</c:v>
                </c:pt>
                <c:pt idx="34">
                  <c:v>2.23</c:v>
                </c:pt>
                <c:pt idx="35">
                  <c:v>2.26</c:v>
                </c:pt>
              </c:numCache>
            </c:numRef>
          </c:xVal>
          <c:yVal>
            <c:numRef>
              <c:f>Sheet1!$B$192:$B$227</c:f>
              <c:numCache>
                <c:formatCode>General</c:formatCode>
                <c:ptCount val="36"/>
                <c:pt idx="0">
                  <c:v>0.0182</c:v>
                </c:pt>
                <c:pt idx="1">
                  <c:v>0.0182</c:v>
                </c:pt>
                <c:pt idx="2">
                  <c:v>0.0109</c:v>
                </c:pt>
                <c:pt idx="3">
                  <c:v>0.0199</c:v>
                </c:pt>
                <c:pt idx="4">
                  <c:v>0.0579</c:v>
                </c:pt>
                <c:pt idx="5">
                  <c:v>0.0652</c:v>
                </c:pt>
                <c:pt idx="6">
                  <c:v>0.0797</c:v>
                </c:pt>
                <c:pt idx="7">
                  <c:v>0.1014</c:v>
                </c:pt>
                <c:pt idx="8">
                  <c:v>0.107</c:v>
                </c:pt>
                <c:pt idx="9">
                  <c:v>0.125</c:v>
                </c:pt>
                <c:pt idx="10">
                  <c:v>0.221</c:v>
                </c:pt>
                <c:pt idx="11">
                  <c:v>0.2373</c:v>
                </c:pt>
                <c:pt idx="12">
                  <c:v>0.2373</c:v>
                </c:pt>
                <c:pt idx="13">
                  <c:v>0.2754</c:v>
                </c:pt>
                <c:pt idx="14">
                  <c:v>0.2862</c:v>
                </c:pt>
                <c:pt idx="15">
                  <c:v>0.3369</c:v>
                </c:pt>
                <c:pt idx="16">
                  <c:v>0.3514</c:v>
                </c:pt>
                <c:pt idx="17">
                  <c:v>0.3369</c:v>
                </c:pt>
                <c:pt idx="18">
                  <c:v>0.3786</c:v>
                </c:pt>
                <c:pt idx="19">
                  <c:v>0.4674</c:v>
                </c:pt>
                <c:pt idx="20">
                  <c:v>0.4837</c:v>
                </c:pt>
                <c:pt idx="21">
                  <c:v>0.5181</c:v>
                </c:pt>
                <c:pt idx="22">
                  <c:v>0.5688</c:v>
                </c:pt>
                <c:pt idx="23">
                  <c:v>0.6358</c:v>
                </c:pt>
                <c:pt idx="24">
                  <c:v>0.6992</c:v>
                </c:pt>
                <c:pt idx="25">
                  <c:v>0.8297</c:v>
                </c:pt>
                <c:pt idx="26">
                  <c:v>0.8858</c:v>
                </c:pt>
                <c:pt idx="27">
                  <c:v>0.971</c:v>
                </c:pt>
                <c:pt idx="28">
                  <c:v>0.9855</c:v>
                </c:pt>
                <c:pt idx="29">
                  <c:v>1.0</c:v>
                </c:pt>
                <c:pt idx="30">
                  <c:v>0.9185</c:v>
                </c:pt>
                <c:pt idx="31">
                  <c:v>0.9655</c:v>
                </c:pt>
                <c:pt idx="32">
                  <c:v>0.7536</c:v>
                </c:pt>
                <c:pt idx="33">
                  <c:v>0.6268</c:v>
                </c:pt>
                <c:pt idx="34">
                  <c:v>0.4022</c:v>
                </c:pt>
                <c:pt idx="35">
                  <c:v>0.2663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  <c:max val="2.28"/>
          <c:min val="0.75"/>
        </c:scaling>
        <c:delete val="0"/>
        <c:axPos val="b"/>
        <c:numFmt formatCode="0.00" sourceLinked="0"/>
        <c:majorTickMark val="out"/>
        <c:minorTickMark val="none"/>
        <c:tickLblPos val="low"/>
        <c:spPr>
          <a:ln w="9525">
            <a:solidFill>
              <a:srgbClr val="C9D0DB"/>
            </a:solidFill>
          </a:ln>
        </c:spPr>
        <c:txPr>
          <a:bodyPr/>
          <a:lstStyle/>
          <a:p>
            <a:pPr>
              <a:defRPr sz="900">
                <a:solidFill>
                  <a:srgbClr val="5B6475"/>
                </a:solidFill>
              </a:defRPr>
            </a:pPr>
          </a:p>
        </c:txPr>
        <c:crossAx val="-2129643912"/>
        <c:crosses val="autoZero"/>
        <c:crossBetween val="midCat"/>
        <c:majorUnit val="0.25"/>
      </c:valAx>
      <c:valAx>
        <c:axId val="-2129643912"/>
        <c:scaling>
          <c:orientation val="minMax"/>
          <c:max val="1.08"/>
          <c:min val="0.0"/>
        </c:scaling>
        <c:delete/>
        <c:axPos val="l"/>
        <c:numFmt formatCode="General" sourceLinked="1"/>
        <c:majorTickMark val="out"/>
        <c:minorTickMark val="none"/>
        <c:tickLblPos val="nextTo"/>
        <c:crossAx val="-2128940872"/>
        <c:crosses val="autoZero"/>
        <c:crossBetween val="midCat"/>
      </c:valAx>
    </c:plotArea>
    <c:plotVisOnly val="1"/>
    <c:dispBlanksAs val="gap"/>
    <c:showDLblsOverMax val="0"/>
  </c:chart>
  <c:txPr>
    <a:bodyPr/>
    <a:lstStyle/>
    <a:p>
      <a:pPr>
        <a:defRPr sz="900">
          <a:latin typeface="Segoe UI"/>
        </a:defRPr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Покой</c:v>
                </c:pt>
              </c:strCache>
            </c:strRef>
          </c:tx>
          <c:spPr>
            <a:ln w="28575">
              <a:solidFill>
                <a:srgbClr val="8C96A8"/>
              </a:solidFill>
              <a:prstDash val="dash"/>
            </a:ln>
          </c:spPr>
          <c:marker>
            <c:symbol val="none"/>
          </c:marker>
          <c:xVal>
            <c:numRef>
              <c:f>Sheet1!$A$2:$A$37</c:f>
              <c:numCache>
                <c:formatCode>General</c:formatCode>
                <c:ptCount val="36"/>
                <c:pt idx="0">
                  <c:v>0.07</c:v>
                </c:pt>
                <c:pt idx="1">
                  <c:v>0.2</c:v>
                </c:pt>
                <c:pt idx="2">
                  <c:v>0.33</c:v>
                </c:pt>
                <c:pt idx="3">
                  <c:v>0.46</c:v>
                </c:pt>
                <c:pt idx="4">
                  <c:v>0.59</c:v>
                </c:pt>
                <c:pt idx="5">
                  <c:v>0.72</c:v>
                </c:pt>
                <c:pt idx="6">
                  <c:v>0.85</c:v>
                </c:pt>
                <c:pt idx="7">
                  <c:v>0.98</c:v>
                </c:pt>
                <c:pt idx="8">
                  <c:v>1.11</c:v>
                </c:pt>
                <c:pt idx="9">
                  <c:v>1.24</c:v>
                </c:pt>
                <c:pt idx="10">
                  <c:v>1.37</c:v>
                </c:pt>
                <c:pt idx="11">
                  <c:v>1.5</c:v>
                </c:pt>
                <c:pt idx="12">
                  <c:v>1.63</c:v>
                </c:pt>
                <c:pt idx="13">
                  <c:v>1.76</c:v>
                </c:pt>
                <c:pt idx="14">
                  <c:v>1.9</c:v>
                </c:pt>
                <c:pt idx="15">
                  <c:v>2.03</c:v>
                </c:pt>
                <c:pt idx="16">
                  <c:v>2.16</c:v>
                </c:pt>
                <c:pt idx="17">
                  <c:v>2.29</c:v>
                </c:pt>
                <c:pt idx="18">
                  <c:v>2.42</c:v>
                </c:pt>
                <c:pt idx="19">
                  <c:v>2.55</c:v>
                </c:pt>
                <c:pt idx="20">
                  <c:v>2.68</c:v>
                </c:pt>
                <c:pt idx="21">
                  <c:v>2.81</c:v>
                </c:pt>
                <c:pt idx="22">
                  <c:v>2.94</c:v>
                </c:pt>
                <c:pt idx="23">
                  <c:v>3.07</c:v>
                </c:pt>
                <c:pt idx="24">
                  <c:v>3.2</c:v>
                </c:pt>
                <c:pt idx="25">
                  <c:v>3.33</c:v>
                </c:pt>
                <c:pt idx="26">
                  <c:v>3.46</c:v>
                </c:pt>
                <c:pt idx="27">
                  <c:v>3.59</c:v>
                </c:pt>
                <c:pt idx="28">
                  <c:v>3.72</c:v>
                </c:pt>
                <c:pt idx="29">
                  <c:v>3.85</c:v>
                </c:pt>
                <c:pt idx="30">
                  <c:v>3.98</c:v>
                </c:pt>
                <c:pt idx="31">
                  <c:v>4.11</c:v>
                </c:pt>
                <c:pt idx="32">
                  <c:v>4.24</c:v>
                </c:pt>
                <c:pt idx="33">
                  <c:v>4.37</c:v>
                </c:pt>
                <c:pt idx="34">
                  <c:v>4.5</c:v>
                </c:pt>
                <c:pt idx="35">
                  <c:v>4.63</c:v>
                </c:pt>
              </c:numCache>
            </c:numRef>
          </c:xVal>
          <c:yVal>
            <c:numRef>
              <c:f>Sheet1!$B$2:$B$37</c:f>
              <c:numCache>
                <c:formatCode>General</c:formatCode>
                <c:ptCount val="36"/>
                <c:pt idx="0">
                  <c:v>1.0</c:v>
                </c:pt>
                <c:pt idx="1">
                  <c:v>0.1888</c:v>
                </c:pt>
                <c:pt idx="2">
                  <c:v>0.0481</c:v>
                </c:pt>
                <c:pt idx="3">
                  <c:v>0.0197</c:v>
                </c:pt>
                <c:pt idx="4">
                  <c:v>0.0099</c:v>
                </c:pt>
                <c:pt idx="5">
                  <c:v>0.0049</c:v>
                </c:pt>
                <c:pt idx="6">
                  <c:v>0.0037</c:v>
                </c:pt>
                <c:pt idx="7">
                  <c:v>0.0022</c:v>
                </c:pt>
                <c:pt idx="8">
                  <c:v>0.0021</c:v>
                </c:pt>
                <c:pt idx="9">
                  <c:v>0.0013</c:v>
                </c:pt>
                <c:pt idx="10">
                  <c:v>0.001</c:v>
                </c:pt>
                <c:pt idx="11">
                  <c:v>0.001</c:v>
                </c:pt>
                <c:pt idx="12">
                  <c:v>0.0006</c:v>
                </c:pt>
                <c:pt idx="13">
                  <c:v>0.0005</c:v>
                </c:pt>
                <c:pt idx="14">
                  <c:v>0.0003</c:v>
                </c:pt>
                <c:pt idx="15">
                  <c:v>0.0003</c:v>
                </c:pt>
                <c:pt idx="16">
                  <c:v>0.0002</c:v>
                </c:pt>
                <c:pt idx="17">
                  <c:v>0.0002</c:v>
                </c:pt>
                <c:pt idx="18">
                  <c:v>0.0002</c:v>
                </c:pt>
                <c:pt idx="19">
                  <c:v>0.0001</c:v>
                </c:pt>
                <c:pt idx="20">
                  <c:v>0.0001</c:v>
                </c:pt>
                <c:pt idx="21">
                  <c:v>0.0001</c:v>
                </c:pt>
                <c:pt idx="22">
                  <c:v>0.0</c:v>
                </c:pt>
                <c:pt idx="23">
                  <c:v>0.0001</c:v>
                </c:pt>
                <c:pt idx="24">
                  <c:v>0.0001</c:v>
                </c:pt>
                <c:pt idx="25">
                  <c:v>0.0</c:v>
                </c:pt>
                <c:pt idx="26">
                  <c:v>0.0001</c:v>
                </c:pt>
                <c:pt idx="27">
                  <c:v>0.0</c:v>
                </c:pt>
                <c:pt idx="28">
                  <c:v>0.0</c:v>
                </c:pt>
                <c:pt idx="29">
                  <c:v>0.0</c:v>
                </c:pt>
                <c:pt idx="30">
                  <c:v>0.0</c:v>
                </c:pt>
                <c:pt idx="31">
                  <c:v>0.0</c:v>
                </c:pt>
                <c:pt idx="32">
                  <c:v>0.0</c:v>
                </c:pt>
                <c:pt idx="33">
                  <c:v>0.0</c:v>
                </c:pt>
                <c:pt idx="34">
                  <c:v>0.0</c:v>
                </c:pt>
                <c:pt idx="35">
                  <c:v>0.0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Sheet1!$B$39</c:f>
              <c:strCache>
                <c:ptCount val="1"/>
                <c:pt idx="0">
                  <c:v>Ходьба</c:v>
                </c:pt>
              </c:strCache>
            </c:strRef>
          </c:tx>
          <c:spPr>
            <a:ln w="28575">
              <a:solidFill>
                <a:srgbClr val="3C8A1E"/>
              </a:solidFill>
            </a:ln>
          </c:spPr>
          <c:marker>
            <c:symbol val="none"/>
          </c:marker>
          <c:xVal>
            <c:numRef>
              <c:f>Sheet1!$A$40:$A$75</c:f>
              <c:numCache>
                <c:formatCode>General</c:formatCode>
                <c:ptCount val="36"/>
                <c:pt idx="0">
                  <c:v>0.07</c:v>
                </c:pt>
                <c:pt idx="1">
                  <c:v>0.2</c:v>
                </c:pt>
                <c:pt idx="2">
                  <c:v>0.33</c:v>
                </c:pt>
                <c:pt idx="3">
                  <c:v>0.46</c:v>
                </c:pt>
                <c:pt idx="4">
                  <c:v>0.59</c:v>
                </c:pt>
                <c:pt idx="5">
                  <c:v>0.72</c:v>
                </c:pt>
                <c:pt idx="6">
                  <c:v>0.85</c:v>
                </c:pt>
                <c:pt idx="7">
                  <c:v>0.98</c:v>
                </c:pt>
                <c:pt idx="8">
                  <c:v>1.11</c:v>
                </c:pt>
                <c:pt idx="9">
                  <c:v>1.24</c:v>
                </c:pt>
                <c:pt idx="10">
                  <c:v>1.37</c:v>
                </c:pt>
                <c:pt idx="11">
                  <c:v>1.5</c:v>
                </c:pt>
                <c:pt idx="12">
                  <c:v>1.63</c:v>
                </c:pt>
                <c:pt idx="13">
                  <c:v>1.76</c:v>
                </c:pt>
                <c:pt idx="14">
                  <c:v>1.9</c:v>
                </c:pt>
                <c:pt idx="15">
                  <c:v>2.03</c:v>
                </c:pt>
                <c:pt idx="16">
                  <c:v>2.16</c:v>
                </c:pt>
                <c:pt idx="17">
                  <c:v>2.29</c:v>
                </c:pt>
                <c:pt idx="18">
                  <c:v>2.42</c:v>
                </c:pt>
                <c:pt idx="19">
                  <c:v>2.55</c:v>
                </c:pt>
                <c:pt idx="20">
                  <c:v>2.68</c:v>
                </c:pt>
                <c:pt idx="21">
                  <c:v>2.81</c:v>
                </c:pt>
                <c:pt idx="22">
                  <c:v>2.94</c:v>
                </c:pt>
                <c:pt idx="23">
                  <c:v>3.07</c:v>
                </c:pt>
                <c:pt idx="24">
                  <c:v>3.2</c:v>
                </c:pt>
                <c:pt idx="25">
                  <c:v>3.33</c:v>
                </c:pt>
                <c:pt idx="26">
                  <c:v>3.46</c:v>
                </c:pt>
                <c:pt idx="27">
                  <c:v>3.59</c:v>
                </c:pt>
                <c:pt idx="28">
                  <c:v>3.72</c:v>
                </c:pt>
                <c:pt idx="29">
                  <c:v>3.85</c:v>
                </c:pt>
                <c:pt idx="30">
                  <c:v>3.98</c:v>
                </c:pt>
                <c:pt idx="31">
                  <c:v>4.11</c:v>
                </c:pt>
                <c:pt idx="32">
                  <c:v>4.24</c:v>
                </c:pt>
                <c:pt idx="33">
                  <c:v>4.37</c:v>
                </c:pt>
                <c:pt idx="34">
                  <c:v>4.5</c:v>
                </c:pt>
                <c:pt idx="35">
                  <c:v>4.63</c:v>
                </c:pt>
              </c:numCache>
            </c:numRef>
          </c:xVal>
          <c:yVal>
            <c:numRef>
              <c:f>Sheet1!$B$40:$B$75</c:f>
              <c:numCache>
                <c:formatCode>General</c:formatCode>
                <c:ptCount val="36"/>
                <c:pt idx="0">
                  <c:v>0.0422</c:v>
                </c:pt>
                <c:pt idx="1">
                  <c:v>0.0385</c:v>
                </c:pt>
                <c:pt idx="2">
                  <c:v>0.2715</c:v>
                </c:pt>
                <c:pt idx="3">
                  <c:v>1.0</c:v>
                </c:pt>
                <c:pt idx="4">
                  <c:v>0.8114</c:v>
                </c:pt>
                <c:pt idx="5">
                  <c:v>0.4562</c:v>
                </c:pt>
                <c:pt idx="6">
                  <c:v>0.3189</c:v>
                </c:pt>
                <c:pt idx="7">
                  <c:v>0.3092</c:v>
                </c:pt>
                <c:pt idx="8">
                  <c:v>0.3549</c:v>
                </c:pt>
                <c:pt idx="9">
                  <c:v>0.4038</c:v>
                </c:pt>
                <c:pt idx="10">
                  <c:v>0.4016</c:v>
                </c:pt>
                <c:pt idx="11">
                  <c:v>0.3994</c:v>
                </c:pt>
                <c:pt idx="12">
                  <c:v>0.3266</c:v>
                </c:pt>
                <c:pt idx="13">
                  <c:v>0.3929</c:v>
                </c:pt>
                <c:pt idx="14">
                  <c:v>0.4366</c:v>
                </c:pt>
                <c:pt idx="15">
                  <c:v>0.416</c:v>
                </c:pt>
                <c:pt idx="16">
                  <c:v>0.4356</c:v>
                </c:pt>
                <c:pt idx="17">
                  <c:v>0.3154</c:v>
                </c:pt>
                <c:pt idx="18">
                  <c:v>0.2688</c:v>
                </c:pt>
                <c:pt idx="19">
                  <c:v>0.2249</c:v>
                </c:pt>
                <c:pt idx="20">
                  <c:v>0.1876</c:v>
                </c:pt>
                <c:pt idx="21">
                  <c:v>0.1464</c:v>
                </c:pt>
                <c:pt idx="22">
                  <c:v>0.1043</c:v>
                </c:pt>
                <c:pt idx="23">
                  <c:v>0.0698</c:v>
                </c:pt>
                <c:pt idx="24">
                  <c:v>0.0397</c:v>
                </c:pt>
                <c:pt idx="25">
                  <c:v>0.0273</c:v>
                </c:pt>
                <c:pt idx="26">
                  <c:v>0.0173</c:v>
                </c:pt>
                <c:pt idx="27">
                  <c:v>0.0168</c:v>
                </c:pt>
                <c:pt idx="28">
                  <c:v>0.0092</c:v>
                </c:pt>
                <c:pt idx="29">
                  <c:v>0.0047</c:v>
                </c:pt>
                <c:pt idx="30">
                  <c:v>0.0037</c:v>
                </c:pt>
                <c:pt idx="31">
                  <c:v>0.0022</c:v>
                </c:pt>
                <c:pt idx="32">
                  <c:v>0.0007</c:v>
                </c:pt>
                <c:pt idx="33">
                  <c:v>0.0002</c:v>
                </c:pt>
                <c:pt idx="34">
                  <c:v>0.0</c:v>
                </c:pt>
                <c:pt idx="35">
                  <c:v>0.0002</c:v>
                </c:pt>
              </c:numCache>
            </c:numRef>
          </c:yVal>
          <c:smooth val="0"/>
        </c:ser>
        <c:ser>
          <c:idx val="2"/>
          <c:order val="2"/>
          <c:tx>
            <c:strRef>
              <c:f>Sheet1!$B$77</c:f>
              <c:strCache>
                <c:ptCount val="1"/>
                <c:pt idx="0">
                  <c:v>Бег</c:v>
                </c:pt>
              </c:strCache>
            </c:strRef>
          </c:tx>
          <c:spPr>
            <a:ln w="28575">
              <a:solidFill>
                <a:srgbClr val="D8602A"/>
              </a:solidFill>
            </a:ln>
          </c:spPr>
          <c:marker>
            <c:symbol val="none"/>
          </c:marker>
          <c:xVal>
            <c:numRef>
              <c:f>Sheet1!$A$78:$A$113</c:f>
              <c:numCache>
                <c:formatCode>General</c:formatCode>
                <c:ptCount val="36"/>
                <c:pt idx="0">
                  <c:v>0.07</c:v>
                </c:pt>
                <c:pt idx="1">
                  <c:v>0.2</c:v>
                </c:pt>
                <c:pt idx="2">
                  <c:v>0.33</c:v>
                </c:pt>
                <c:pt idx="3">
                  <c:v>0.46</c:v>
                </c:pt>
                <c:pt idx="4">
                  <c:v>0.59</c:v>
                </c:pt>
                <c:pt idx="5">
                  <c:v>0.72</c:v>
                </c:pt>
                <c:pt idx="6">
                  <c:v>0.85</c:v>
                </c:pt>
                <c:pt idx="7">
                  <c:v>0.98</c:v>
                </c:pt>
                <c:pt idx="8">
                  <c:v>1.11</c:v>
                </c:pt>
                <c:pt idx="9">
                  <c:v>1.24</c:v>
                </c:pt>
                <c:pt idx="10">
                  <c:v>1.37</c:v>
                </c:pt>
                <c:pt idx="11">
                  <c:v>1.5</c:v>
                </c:pt>
                <c:pt idx="12">
                  <c:v>1.63</c:v>
                </c:pt>
                <c:pt idx="13">
                  <c:v>1.76</c:v>
                </c:pt>
                <c:pt idx="14">
                  <c:v>1.9</c:v>
                </c:pt>
                <c:pt idx="15">
                  <c:v>2.03</c:v>
                </c:pt>
                <c:pt idx="16">
                  <c:v>2.16</c:v>
                </c:pt>
                <c:pt idx="17">
                  <c:v>2.29</c:v>
                </c:pt>
                <c:pt idx="18">
                  <c:v>2.42</c:v>
                </c:pt>
                <c:pt idx="19">
                  <c:v>2.55</c:v>
                </c:pt>
                <c:pt idx="20">
                  <c:v>2.68</c:v>
                </c:pt>
                <c:pt idx="21">
                  <c:v>2.81</c:v>
                </c:pt>
                <c:pt idx="22">
                  <c:v>2.94</c:v>
                </c:pt>
                <c:pt idx="23">
                  <c:v>3.07</c:v>
                </c:pt>
                <c:pt idx="24">
                  <c:v>3.2</c:v>
                </c:pt>
                <c:pt idx="25">
                  <c:v>3.33</c:v>
                </c:pt>
                <c:pt idx="26">
                  <c:v>3.46</c:v>
                </c:pt>
                <c:pt idx="27">
                  <c:v>3.59</c:v>
                </c:pt>
                <c:pt idx="28">
                  <c:v>3.72</c:v>
                </c:pt>
                <c:pt idx="29">
                  <c:v>3.85</c:v>
                </c:pt>
                <c:pt idx="30">
                  <c:v>3.98</c:v>
                </c:pt>
                <c:pt idx="31">
                  <c:v>4.11</c:v>
                </c:pt>
                <c:pt idx="32">
                  <c:v>4.24</c:v>
                </c:pt>
                <c:pt idx="33">
                  <c:v>4.37</c:v>
                </c:pt>
                <c:pt idx="34">
                  <c:v>4.5</c:v>
                </c:pt>
                <c:pt idx="35">
                  <c:v>4.63</c:v>
                </c:pt>
              </c:numCache>
            </c:numRef>
          </c:xVal>
          <c:yVal>
            <c:numRef>
              <c:f>Sheet1!$B$78:$B$113</c:f>
              <c:numCache>
                <c:formatCode>General</c:formatCode>
                <c:ptCount val="36"/>
                <c:pt idx="0">
                  <c:v>0.8093</c:v>
                </c:pt>
                <c:pt idx="1">
                  <c:v>0.5123</c:v>
                </c:pt>
                <c:pt idx="2">
                  <c:v>0.2531</c:v>
                </c:pt>
                <c:pt idx="3">
                  <c:v>0.1757</c:v>
                </c:pt>
                <c:pt idx="4">
                  <c:v>0.375</c:v>
                </c:pt>
                <c:pt idx="5">
                  <c:v>0.5703</c:v>
                </c:pt>
                <c:pt idx="6">
                  <c:v>0.5455</c:v>
                </c:pt>
                <c:pt idx="7">
                  <c:v>0.4708</c:v>
                </c:pt>
                <c:pt idx="8">
                  <c:v>0.4008</c:v>
                </c:pt>
                <c:pt idx="9">
                  <c:v>0.4598</c:v>
                </c:pt>
                <c:pt idx="10">
                  <c:v>0.4316</c:v>
                </c:pt>
                <c:pt idx="11">
                  <c:v>0.633</c:v>
                </c:pt>
                <c:pt idx="12">
                  <c:v>0.8034</c:v>
                </c:pt>
                <c:pt idx="13">
                  <c:v>0.7454</c:v>
                </c:pt>
                <c:pt idx="14">
                  <c:v>0.6815</c:v>
                </c:pt>
                <c:pt idx="15">
                  <c:v>0.6585</c:v>
                </c:pt>
                <c:pt idx="16">
                  <c:v>0.4801</c:v>
                </c:pt>
                <c:pt idx="17">
                  <c:v>0.4491</c:v>
                </c:pt>
                <c:pt idx="18">
                  <c:v>0.5387</c:v>
                </c:pt>
                <c:pt idx="19">
                  <c:v>0.711</c:v>
                </c:pt>
                <c:pt idx="20">
                  <c:v>1.0</c:v>
                </c:pt>
                <c:pt idx="21">
                  <c:v>0.9487</c:v>
                </c:pt>
                <c:pt idx="22">
                  <c:v>0.8618</c:v>
                </c:pt>
                <c:pt idx="23">
                  <c:v>0.7171</c:v>
                </c:pt>
                <c:pt idx="24">
                  <c:v>0.6781</c:v>
                </c:pt>
                <c:pt idx="25">
                  <c:v>0.6895</c:v>
                </c:pt>
                <c:pt idx="26">
                  <c:v>0.6459</c:v>
                </c:pt>
                <c:pt idx="27">
                  <c:v>0.6283</c:v>
                </c:pt>
                <c:pt idx="28">
                  <c:v>0.5252</c:v>
                </c:pt>
                <c:pt idx="29">
                  <c:v>0.4659</c:v>
                </c:pt>
                <c:pt idx="30">
                  <c:v>0.4908</c:v>
                </c:pt>
                <c:pt idx="31">
                  <c:v>0.4008</c:v>
                </c:pt>
                <c:pt idx="32">
                  <c:v>0.3455</c:v>
                </c:pt>
                <c:pt idx="33">
                  <c:v>0.3305</c:v>
                </c:pt>
                <c:pt idx="34">
                  <c:v>0.2727</c:v>
                </c:pt>
                <c:pt idx="35">
                  <c:v>0.2088</c:v>
                </c:pt>
              </c:numCache>
            </c:numRef>
          </c:yVal>
          <c:smooth val="0"/>
        </c:ser>
        <c:ser>
          <c:idx val="3"/>
          <c:order val="3"/>
          <c:tx>
            <c:strRef>
              <c:f>Sheet1!$B$115</c:f>
              <c:strCache>
                <c:ptCount val="1"/>
                <c:pt idx="0">
                  <c:v>Подъём</c:v>
                </c:pt>
              </c:strCache>
            </c:strRef>
          </c:tx>
          <c:spPr>
            <a:ln w="28575">
              <a:solidFill>
                <a:srgbClr val="2D5FA8"/>
              </a:solidFill>
            </a:ln>
          </c:spPr>
          <c:marker>
            <c:symbol val="none"/>
          </c:marker>
          <c:xVal>
            <c:numRef>
              <c:f>Sheet1!$A$116:$A$151</c:f>
              <c:numCache>
                <c:formatCode>General</c:formatCode>
                <c:ptCount val="36"/>
                <c:pt idx="0">
                  <c:v>0.07</c:v>
                </c:pt>
                <c:pt idx="1">
                  <c:v>0.2</c:v>
                </c:pt>
                <c:pt idx="2">
                  <c:v>0.33</c:v>
                </c:pt>
                <c:pt idx="3">
                  <c:v>0.46</c:v>
                </c:pt>
                <c:pt idx="4">
                  <c:v>0.59</c:v>
                </c:pt>
                <c:pt idx="5">
                  <c:v>0.72</c:v>
                </c:pt>
                <c:pt idx="6">
                  <c:v>0.85</c:v>
                </c:pt>
                <c:pt idx="7">
                  <c:v>0.98</c:v>
                </c:pt>
                <c:pt idx="8">
                  <c:v>1.11</c:v>
                </c:pt>
                <c:pt idx="9">
                  <c:v>1.24</c:v>
                </c:pt>
                <c:pt idx="10">
                  <c:v>1.37</c:v>
                </c:pt>
                <c:pt idx="11">
                  <c:v>1.5</c:v>
                </c:pt>
                <c:pt idx="12">
                  <c:v>1.63</c:v>
                </c:pt>
                <c:pt idx="13">
                  <c:v>1.76</c:v>
                </c:pt>
                <c:pt idx="14">
                  <c:v>1.9</c:v>
                </c:pt>
                <c:pt idx="15">
                  <c:v>2.03</c:v>
                </c:pt>
                <c:pt idx="16">
                  <c:v>2.16</c:v>
                </c:pt>
                <c:pt idx="17">
                  <c:v>2.29</c:v>
                </c:pt>
                <c:pt idx="18">
                  <c:v>2.42</c:v>
                </c:pt>
                <c:pt idx="19">
                  <c:v>2.55</c:v>
                </c:pt>
                <c:pt idx="20">
                  <c:v>2.68</c:v>
                </c:pt>
                <c:pt idx="21">
                  <c:v>2.81</c:v>
                </c:pt>
                <c:pt idx="22">
                  <c:v>2.94</c:v>
                </c:pt>
                <c:pt idx="23">
                  <c:v>3.07</c:v>
                </c:pt>
                <c:pt idx="24">
                  <c:v>3.2</c:v>
                </c:pt>
                <c:pt idx="25">
                  <c:v>3.33</c:v>
                </c:pt>
                <c:pt idx="26">
                  <c:v>3.46</c:v>
                </c:pt>
                <c:pt idx="27">
                  <c:v>3.59</c:v>
                </c:pt>
                <c:pt idx="28">
                  <c:v>3.72</c:v>
                </c:pt>
                <c:pt idx="29">
                  <c:v>3.85</c:v>
                </c:pt>
                <c:pt idx="30">
                  <c:v>3.98</c:v>
                </c:pt>
                <c:pt idx="31">
                  <c:v>4.11</c:v>
                </c:pt>
                <c:pt idx="32">
                  <c:v>4.24</c:v>
                </c:pt>
                <c:pt idx="33">
                  <c:v>4.37</c:v>
                </c:pt>
                <c:pt idx="34">
                  <c:v>4.5</c:v>
                </c:pt>
                <c:pt idx="35">
                  <c:v>4.63</c:v>
                </c:pt>
              </c:numCache>
            </c:numRef>
          </c:xVal>
          <c:yVal>
            <c:numRef>
              <c:f>Sheet1!$B$116:$B$151</c:f>
              <c:numCache>
                <c:formatCode>General</c:formatCode>
                <c:ptCount val="36"/>
                <c:pt idx="0">
                  <c:v>0.1137</c:v>
                </c:pt>
                <c:pt idx="1">
                  <c:v>0.1062</c:v>
                </c:pt>
                <c:pt idx="2">
                  <c:v>0.1128</c:v>
                </c:pt>
                <c:pt idx="3">
                  <c:v>0.5311</c:v>
                </c:pt>
                <c:pt idx="4">
                  <c:v>1.0</c:v>
                </c:pt>
                <c:pt idx="5">
                  <c:v>0.9381</c:v>
                </c:pt>
                <c:pt idx="6">
                  <c:v>0.6549</c:v>
                </c:pt>
                <c:pt idx="7">
                  <c:v>0.4631</c:v>
                </c:pt>
                <c:pt idx="8">
                  <c:v>0.5012</c:v>
                </c:pt>
                <c:pt idx="9">
                  <c:v>0.4835</c:v>
                </c:pt>
                <c:pt idx="10">
                  <c:v>0.4711</c:v>
                </c:pt>
                <c:pt idx="11">
                  <c:v>0.4177</c:v>
                </c:pt>
                <c:pt idx="12">
                  <c:v>0.3746</c:v>
                </c:pt>
                <c:pt idx="13">
                  <c:v>0.3444</c:v>
                </c:pt>
                <c:pt idx="14">
                  <c:v>0.3869</c:v>
                </c:pt>
                <c:pt idx="15">
                  <c:v>0.433</c:v>
                </c:pt>
                <c:pt idx="16">
                  <c:v>0.4043</c:v>
                </c:pt>
                <c:pt idx="17">
                  <c:v>0.3364</c:v>
                </c:pt>
                <c:pt idx="18">
                  <c:v>0.2618</c:v>
                </c:pt>
                <c:pt idx="19">
                  <c:v>0.1758</c:v>
                </c:pt>
                <c:pt idx="20">
                  <c:v>0.0966</c:v>
                </c:pt>
                <c:pt idx="21">
                  <c:v>0.0754</c:v>
                </c:pt>
                <c:pt idx="22">
                  <c:v>0.0661</c:v>
                </c:pt>
                <c:pt idx="23">
                  <c:v>0.0453</c:v>
                </c:pt>
                <c:pt idx="24">
                  <c:v>0.0332</c:v>
                </c:pt>
                <c:pt idx="25">
                  <c:v>0.0171</c:v>
                </c:pt>
                <c:pt idx="26">
                  <c:v>0.01</c:v>
                </c:pt>
                <c:pt idx="27">
                  <c:v>0.009</c:v>
                </c:pt>
                <c:pt idx="28">
                  <c:v>0.0065</c:v>
                </c:pt>
                <c:pt idx="29">
                  <c:v>0.0059</c:v>
                </c:pt>
                <c:pt idx="30">
                  <c:v>0.0009</c:v>
                </c:pt>
                <c:pt idx="31">
                  <c:v>0.0028</c:v>
                </c:pt>
                <c:pt idx="32">
                  <c:v>0.0025</c:v>
                </c:pt>
                <c:pt idx="33">
                  <c:v>0.0019</c:v>
                </c:pt>
                <c:pt idx="34">
                  <c:v>0.0009</c:v>
                </c:pt>
                <c:pt idx="35">
                  <c:v>0.0015</c:v>
                </c:pt>
              </c:numCache>
            </c:numRef>
          </c:yVal>
          <c:smooth val="0"/>
        </c:ser>
        <c:ser>
          <c:idx val="4"/>
          <c:order val="4"/>
          <c:tx>
            <c:strRef>
              <c:f>Sheet1!$B$153</c:f>
              <c:strCache>
                <c:ptCount val="1"/>
                <c:pt idx="0">
                  <c:v>Спуск</c:v>
                </c:pt>
              </c:strCache>
            </c:strRef>
          </c:tx>
          <c:spPr>
            <a:ln w="28575">
              <a:solidFill>
                <a:srgbClr val="7888E0"/>
              </a:solidFill>
            </a:ln>
          </c:spPr>
          <c:marker>
            <c:symbol val="none"/>
          </c:marker>
          <c:xVal>
            <c:numRef>
              <c:f>Sheet1!$A$154:$A$189</c:f>
              <c:numCache>
                <c:formatCode>General</c:formatCode>
                <c:ptCount val="36"/>
                <c:pt idx="0">
                  <c:v>0.07</c:v>
                </c:pt>
                <c:pt idx="1">
                  <c:v>0.2</c:v>
                </c:pt>
                <c:pt idx="2">
                  <c:v>0.33</c:v>
                </c:pt>
                <c:pt idx="3">
                  <c:v>0.46</c:v>
                </c:pt>
                <c:pt idx="4">
                  <c:v>0.59</c:v>
                </c:pt>
                <c:pt idx="5">
                  <c:v>0.72</c:v>
                </c:pt>
                <c:pt idx="6">
                  <c:v>0.85</c:v>
                </c:pt>
                <c:pt idx="7">
                  <c:v>0.98</c:v>
                </c:pt>
                <c:pt idx="8">
                  <c:v>1.11</c:v>
                </c:pt>
                <c:pt idx="9">
                  <c:v>1.24</c:v>
                </c:pt>
                <c:pt idx="10">
                  <c:v>1.37</c:v>
                </c:pt>
                <c:pt idx="11">
                  <c:v>1.5</c:v>
                </c:pt>
                <c:pt idx="12">
                  <c:v>1.63</c:v>
                </c:pt>
                <c:pt idx="13">
                  <c:v>1.76</c:v>
                </c:pt>
                <c:pt idx="14">
                  <c:v>1.9</c:v>
                </c:pt>
                <c:pt idx="15">
                  <c:v>2.03</c:v>
                </c:pt>
                <c:pt idx="16">
                  <c:v>2.16</c:v>
                </c:pt>
                <c:pt idx="17">
                  <c:v>2.29</c:v>
                </c:pt>
                <c:pt idx="18">
                  <c:v>2.42</c:v>
                </c:pt>
                <c:pt idx="19">
                  <c:v>2.55</c:v>
                </c:pt>
                <c:pt idx="20">
                  <c:v>2.68</c:v>
                </c:pt>
                <c:pt idx="21">
                  <c:v>2.81</c:v>
                </c:pt>
                <c:pt idx="22">
                  <c:v>2.94</c:v>
                </c:pt>
                <c:pt idx="23">
                  <c:v>3.07</c:v>
                </c:pt>
                <c:pt idx="24">
                  <c:v>3.2</c:v>
                </c:pt>
                <c:pt idx="25">
                  <c:v>3.33</c:v>
                </c:pt>
                <c:pt idx="26">
                  <c:v>3.46</c:v>
                </c:pt>
                <c:pt idx="27">
                  <c:v>3.59</c:v>
                </c:pt>
                <c:pt idx="28">
                  <c:v>3.72</c:v>
                </c:pt>
                <c:pt idx="29">
                  <c:v>3.85</c:v>
                </c:pt>
                <c:pt idx="30">
                  <c:v>3.98</c:v>
                </c:pt>
                <c:pt idx="31">
                  <c:v>4.11</c:v>
                </c:pt>
                <c:pt idx="32">
                  <c:v>4.24</c:v>
                </c:pt>
                <c:pt idx="33">
                  <c:v>4.37</c:v>
                </c:pt>
                <c:pt idx="34">
                  <c:v>4.5</c:v>
                </c:pt>
                <c:pt idx="35">
                  <c:v>4.63</c:v>
                </c:pt>
              </c:numCache>
            </c:numRef>
          </c:xVal>
          <c:yVal>
            <c:numRef>
              <c:f>Sheet1!$B$154:$B$189</c:f>
              <c:numCache>
                <c:formatCode>General</c:formatCode>
                <c:ptCount val="36"/>
                <c:pt idx="0">
                  <c:v>0.072</c:v>
                </c:pt>
                <c:pt idx="1">
                  <c:v>0.0488</c:v>
                </c:pt>
                <c:pt idx="2">
                  <c:v>0.1269</c:v>
                </c:pt>
                <c:pt idx="3">
                  <c:v>0.5537</c:v>
                </c:pt>
                <c:pt idx="4">
                  <c:v>0.8826</c:v>
                </c:pt>
                <c:pt idx="5">
                  <c:v>1.0</c:v>
                </c:pt>
                <c:pt idx="6">
                  <c:v>0.8708</c:v>
                </c:pt>
                <c:pt idx="7">
                  <c:v>0.6898</c:v>
                </c:pt>
                <c:pt idx="8">
                  <c:v>0.6174</c:v>
                </c:pt>
                <c:pt idx="9">
                  <c:v>0.5709</c:v>
                </c:pt>
                <c:pt idx="10">
                  <c:v>0.6017</c:v>
                </c:pt>
                <c:pt idx="11">
                  <c:v>0.6208</c:v>
                </c:pt>
                <c:pt idx="12">
                  <c:v>0.6208</c:v>
                </c:pt>
                <c:pt idx="13">
                  <c:v>0.5652</c:v>
                </c:pt>
                <c:pt idx="14">
                  <c:v>0.5057</c:v>
                </c:pt>
                <c:pt idx="15">
                  <c:v>0.4223</c:v>
                </c:pt>
                <c:pt idx="16">
                  <c:v>0.3446</c:v>
                </c:pt>
                <c:pt idx="17">
                  <c:v>0.3022</c:v>
                </c:pt>
                <c:pt idx="18">
                  <c:v>0.213</c:v>
                </c:pt>
                <c:pt idx="19">
                  <c:v>0.1733</c:v>
                </c:pt>
                <c:pt idx="20">
                  <c:v>0.149</c:v>
                </c:pt>
                <c:pt idx="21">
                  <c:v>0.1258</c:v>
                </c:pt>
                <c:pt idx="22">
                  <c:v>0.1063</c:v>
                </c:pt>
                <c:pt idx="23">
                  <c:v>0.0903</c:v>
                </c:pt>
                <c:pt idx="24">
                  <c:v>0.0679</c:v>
                </c:pt>
                <c:pt idx="25">
                  <c:v>0.0613</c:v>
                </c:pt>
                <c:pt idx="26">
                  <c:v>0.0488</c:v>
                </c:pt>
                <c:pt idx="27">
                  <c:v>0.0468</c:v>
                </c:pt>
                <c:pt idx="28">
                  <c:v>0.0465</c:v>
                </c:pt>
                <c:pt idx="29">
                  <c:v>0.037</c:v>
                </c:pt>
                <c:pt idx="30">
                  <c:v>0.0324</c:v>
                </c:pt>
                <c:pt idx="31">
                  <c:v>0.0255</c:v>
                </c:pt>
                <c:pt idx="32">
                  <c:v>0.0157</c:v>
                </c:pt>
                <c:pt idx="33">
                  <c:v>0.0152</c:v>
                </c:pt>
                <c:pt idx="34">
                  <c:v>0.0149</c:v>
                </c:pt>
                <c:pt idx="35">
                  <c:v>0.0107</c:v>
                </c:pt>
              </c:numCache>
            </c:numRef>
          </c:yVal>
          <c:smooth val="0"/>
        </c:ser>
        <c:ser>
          <c:idx val="5"/>
          <c:order val="5"/>
          <c:tx>
            <c:strRef>
              <c:f>Sheet1!$B$191</c:f>
              <c:strCache>
                <c:ptCount val="1"/>
                <c:pt idx="0">
                  <c:v>Велосипед</c:v>
                </c:pt>
              </c:strCache>
            </c:strRef>
          </c:tx>
          <c:spPr>
            <a:ln w="28575">
              <a:solidFill>
                <a:srgbClr val="C08600"/>
              </a:solidFill>
            </a:ln>
          </c:spPr>
          <c:marker>
            <c:symbol val="none"/>
          </c:marker>
          <c:xVal>
            <c:numRef>
              <c:f>Sheet1!$A$192:$A$227</c:f>
              <c:numCache>
                <c:formatCode>General</c:formatCode>
                <c:ptCount val="36"/>
                <c:pt idx="0">
                  <c:v>0.07</c:v>
                </c:pt>
                <c:pt idx="1">
                  <c:v>0.2</c:v>
                </c:pt>
                <c:pt idx="2">
                  <c:v>0.33</c:v>
                </c:pt>
                <c:pt idx="3">
                  <c:v>0.46</c:v>
                </c:pt>
                <c:pt idx="4">
                  <c:v>0.59</c:v>
                </c:pt>
                <c:pt idx="5">
                  <c:v>0.72</c:v>
                </c:pt>
                <c:pt idx="6">
                  <c:v>0.85</c:v>
                </c:pt>
                <c:pt idx="7">
                  <c:v>0.98</c:v>
                </c:pt>
                <c:pt idx="8">
                  <c:v>1.11</c:v>
                </c:pt>
                <c:pt idx="9">
                  <c:v>1.24</c:v>
                </c:pt>
                <c:pt idx="10">
                  <c:v>1.37</c:v>
                </c:pt>
                <c:pt idx="11">
                  <c:v>1.5</c:v>
                </c:pt>
                <c:pt idx="12">
                  <c:v>1.63</c:v>
                </c:pt>
                <c:pt idx="13">
                  <c:v>1.76</c:v>
                </c:pt>
                <c:pt idx="14">
                  <c:v>1.9</c:v>
                </c:pt>
                <c:pt idx="15">
                  <c:v>2.03</c:v>
                </c:pt>
                <c:pt idx="16">
                  <c:v>2.16</c:v>
                </c:pt>
                <c:pt idx="17">
                  <c:v>2.29</c:v>
                </c:pt>
                <c:pt idx="18">
                  <c:v>2.42</c:v>
                </c:pt>
                <c:pt idx="19">
                  <c:v>2.55</c:v>
                </c:pt>
                <c:pt idx="20">
                  <c:v>2.68</c:v>
                </c:pt>
                <c:pt idx="21">
                  <c:v>2.81</c:v>
                </c:pt>
                <c:pt idx="22">
                  <c:v>2.94</c:v>
                </c:pt>
                <c:pt idx="23">
                  <c:v>3.07</c:v>
                </c:pt>
                <c:pt idx="24">
                  <c:v>3.2</c:v>
                </c:pt>
                <c:pt idx="25">
                  <c:v>3.33</c:v>
                </c:pt>
                <c:pt idx="26">
                  <c:v>3.46</c:v>
                </c:pt>
                <c:pt idx="27">
                  <c:v>3.59</c:v>
                </c:pt>
                <c:pt idx="28">
                  <c:v>3.72</c:v>
                </c:pt>
                <c:pt idx="29">
                  <c:v>3.85</c:v>
                </c:pt>
                <c:pt idx="30">
                  <c:v>3.98</c:v>
                </c:pt>
                <c:pt idx="31">
                  <c:v>4.11</c:v>
                </c:pt>
                <c:pt idx="32">
                  <c:v>4.24</c:v>
                </c:pt>
                <c:pt idx="33">
                  <c:v>4.37</c:v>
                </c:pt>
                <c:pt idx="34">
                  <c:v>4.5</c:v>
                </c:pt>
                <c:pt idx="35">
                  <c:v>4.63</c:v>
                </c:pt>
              </c:numCache>
            </c:numRef>
          </c:xVal>
          <c:yVal>
            <c:numRef>
              <c:f>Sheet1!$B$192:$B$227</c:f>
              <c:numCache>
                <c:formatCode>General</c:formatCode>
                <c:ptCount val="36"/>
                <c:pt idx="0">
                  <c:v>0.0882</c:v>
                </c:pt>
                <c:pt idx="1">
                  <c:v>0.1455</c:v>
                </c:pt>
                <c:pt idx="2">
                  <c:v>0.664</c:v>
                </c:pt>
                <c:pt idx="3">
                  <c:v>1.0</c:v>
                </c:pt>
                <c:pt idx="4">
                  <c:v>0.7091</c:v>
                </c:pt>
                <c:pt idx="5">
                  <c:v>0.3764</c:v>
                </c:pt>
                <c:pt idx="6">
                  <c:v>0.2714</c:v>
                </c:pt>
                <c:pt idx="7">
                  <c:v>0.3091</c:v>
                </c:pt>
                <c:pt idx="8">
                  <c:v>0.264</c:v>
                </c:pt>
                <c:pt idx="9">
                  <c:v>0.3165</c:v>
                </c:pt>
                <c:pt idx="10">
                  <c:v>0.2458</c:v>
                </c:pt>
                <c:pt idx="11">
                  <c:v>0.2337</c:v>
                </c:pt>
                <c:pt idx="12">
                  <c:v>0.2444</c:v>
                </c:pt>
                <c:pt idx="13">
                  <c:v>0.1872</c:v>
                </c:pt>
                <c:pt idx="14">
                  <c:v>0.1381</c:v>
                </c:pt>
                <c:pt idx="15">
                  <c:v>0.1212</c:v>
                </c:pt>
                <c:pt idx="16">
                  <c:v>0.0895</c:v>
                </c:pt>
                <c:pt idx="17">
                  <c:v>0.0398</c:v>
                </c:pt>
                <c:pt idx="18">
                  <c:v>0.0135</c:v>
                </c:pt>
                <c:pt idx="19">
                  <c:v>0.0088</c:v>
                </c:pt>
                <c:pt idx="20">
                  <c:v>0.0068</c:v>
                </c:pt>
                <c:pt idx="21">
                  <c:v>0.0027</c:v>
                </c:pt>
                <c:pt idx="22">
                  <c:v>0.0014</c:v>
                </c:pt>
                <c:pt idx="23">
                  <c:v>0.0</c:v>
                </c:pt>
                <c:pt idx="24">
                  <c:v>0.0007</c:v>
                </c:pt>
                <c:pt idx="25">
                  <c:v>0.0</c:v>
                </c:pt>
                <c:pt idx="26">
                  <c:v>0.0007</c:v>
                </c:pt>
                <c:pt idx="27">
                  <c:v>0.0</c:v>
                </c:pt>
                <c:pt idx="28">
                  <c:v>0.0007</c:v>
                </c:pt>
                <c:pt idx="29">
                  <c:v>0.0</c:v>
                </c:pt>
                <c:pt idx="30">
                  <c:v>0.0</c:v>
                </c:pt>
                <c:pt idx="31">
                  <c:v>0.0</c:v>
                </c:pt>
                <c:pt idx="32">
                  <c:v>0.0</c:v>
                </c:pt>
                <c:pt idx="33">
                  <c:v>0.0</c:v>
                </c:pt>
                <c:pt idx="34">
                  <c:v>0.0</c:v>
                </c:pt>
                <c:pt idx="35">
                  <c:v>0.0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  <c:max val="4.7"/>
          <c:min val="0.0"/>
        </c:scaling>
        <c:delete val="0"/>
        <c:axPos val="b"/>
        <c:numFmt formatCode="0" sourceLinked="0"/>
        <c:majorTickMark val="out"/>
        <c:minorTickMark val="none"/>
        <c:tickLblPos val="low"/>
        <c:spPr>
          <a:ln w="9525">
            <a:solidFill>
              <a:srgbClr val="C9D0DB"/>
            </a:solidFill>
          </a:ln>
        </c:spPr>
        <c:txPr>
          <a:bodyPr/>
          <a:lstStyle/>
          <a:p>
            <a:pPr>
              <a:defRPr sz="900">
                <a:solidFill>
                  <a:srgbClr val="5B6475"/>
                </a:solidFill>
              </a:defRPr>
            </a:pPr>
          </a:p>
        </c:txPr>
        <c:crossAx val="-2129643912"/>
        <c:crosses val="autoZero"/>
        <c:crossBetween val="midCat"/>
        <c:majorUnit val="1.0"/>
      </c:valAx>
      <c:valAx>
        <c:axId val="-2129643912"/>
        <c:scaling>
          <c:orientation val="minMax"/>
          <c:max val="1.08"/>
          <c:min val="0.0"/>
        </c:scaling>
        <c:delete/>
        <c:axPos val="l"/>
        <c:numFmt formatCode="General" sourceLinked="1"/>
        <c:majorTickMark val="out"/>
        <c:minorTickMark val="none"/>
        <c:tickLblPos val="nextTo"/>
        <c:crossAx val="-2128940872"/>
        <c:crosses val="autoZero"/>
        <c:crossBetween val="midCat"/>
      </c:valAx>
    </c:plotArea>
    <c:plotVisOnly val="1"/>
    <c:dispBlanksAs val="gap"/>
    <c:showDLblsOverMax val="0"/>
  </c:chart>
  <c:txPr>
    <a:bodyPr/>
    <a:lstStyle/>
    <a:p>
      <a:pPr>
        <a:defRPr sz="900">
          <a:latin typeface="Segoe UI"/>
        </a:defRPr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Покой</c:v>
                </c:pt>
              </c:strCache>
            </c:strRef>
          </c:tx>
          <c:spPr>
            <a:ln w="28575">
              <a:solidFill>
                <a:srgbClr val="8C96A8"/>
              </a:solidFill>
              <a:prstDash val="dash"/>
            </a:ln>
          </c:spPr>
          <c:marker>
            <c:symbol val="none"/>
          </c:marker>
          <c:xVal>
            <c:numRef>
              <c:f>Sheet1!$A$2:$A$37</c:f>
              <c:numCache>
                <c:formatCode>General</c:formatCode>
                <c:ptCount val="36"/>
                <c:pt idx="0">
                  <c:v>13.15</c:v>
                </c:pt>
                <c:pt idx="1">
                  <c:v>17.41</c:v>
                </c:pt>
                <c:pt idx="2">
                  <c:v>21.66</c:v>
                </c:pt>
                <c:pt idx="3">
                  <c:v>25.91</c:v>
                </c:pt>
                <c:pt idx="4">
                  <c:v>30.17</c:v>
                </c:pt>
                <c:pt idx="5">
                  <c:v>34.42</c:v>
                </c:pt>
                <c:pt idx="6">
                  <c:v>38.67</c:v>
                </c:pt>
                <c:pt idx="7">
                  <c:v>42.93</c:v>
                </c:pt>
                <c:pt idx="8">
                  <c:v>47.18</c:v>
                </c:pt>
                <c:pt idx="9">
                  <c:v>51.43</c:v>
                </c:pt>
                <c:pt idx="10">
                  <c:v>55.69</c:v>
                </c:pt>
                <c:pt idx="11">
                  <c:v>59.94</c:v>
                </c:pt>
                <c:pt idx="12">
                  <c:v>64.19</c:v>
                </c:pt>
                <c:pt idx="13">
                  <c:v>68.45</c:v>
                </c:pt>
                <c:pt idx="14">
                  <c:v>72.7</c:v>
                </c:pt>
                <c:pt idx="15">
                  <c:v>76.95</c:v>
                </c:pt>
                <c:pt idx="16">
                  <c:v>81.21</c:v>
                </c:pt>
                <c:pt idx="17">
                  <c:v>85.46</c:v>
                </c:pt>
                <c:pt idx="18">
                  <c:v>89.71</c:v>
                </c:pt>
                <c:pt idx="19">
                  <c:v>93.97</c:v>
                </c:pt>
                <c:pt idx="20">
                  <c:v>98.22</c:v>
                </c:pt>
                <c:pt idx="21">
                  <c:v>102.47</c:v>
                </c:pt>
                <c:pt idx="22">
                  <c:v>106.73</c:v>
                </c:pt>
                <c:pt idx="23">
                  <c:v>110.98</c:v>
                </c:pt>
                <c:pt idx="24">
                  <c:v>115.23</c:v>
                </c:pt>
                <c:pt idx="25">
                  <c:v>119.49</c:v>
                </c:pt>
                <c:pt idx="26">
                  <c:v>123.74</c:v>
                </c:pt>
                <c:pt idx="27">
                  <c:v>127.99</c:v>
                </c:pt>
                <c:pt idx="28">
                  <c:v>132.25</c:v>
                </c:pt>
                <c:pt idx="29">
                  <c:v>136.5</c:v>
                </c:pt>
                <c:pt idx="30">
                  <c:v>140.75</c:v>
                </c:pt>
                <c:pt idx="31">
                  <c:v>145.01</c:v>
                </c:pt>
                <c:pt idx="32">
                  <c:v>149.26</c:v>
                </c:pt>
                <c:pt idx="33">
                  <c:v>153.51</c:v>
                </c:pt>
                <c:pt idx="34">
                  <c:v>157.77</c:v>
                </c:pt>
                <c:pt idx="35">
                  <c:v>162.02</c:v>
                </c:pt>
              </c:numCache>
            </c:numRef>
          </c:xVal>
          <c:yVal>
            <c:numRef>
              <c:f>Sheet1!$B$2:$B$37</c:f>
              <c:numCache>
                <c:formatCode>General</c:formatCode>
                <c:ptCount val="36"/>
                <c:pt idx="0">
                  <c:v>0.1402</c:v>
                </c:pt>
                <c:pt idx="1">
                  <c:v>0.1654</c:v>
                </c:pt>
                <c:pt idx="2">
                  <c:v>0.0506</c:v>
                </c:pt>
                <c:pt idx="3">
                  <c:v>0.1538</c:v>
                </c:pt>
                <c:pt idx="4">
                  <c:v>0.1339</c:v>
                </c:pt>
                <c:pt idx="5">
                  <c:v>0.1358</c:v>
                </c:pt>
                <c:pt idx="6">
                  <c:v>0.1515</c:v>
                </c:pt>
                <c:pt idx="7">
                  <c:v>0.1833</c:v>
                </c:pt>
                <c:pt idx="8">
                  <c:v>0.1743</c:v>
                </c:pt>
                <c:pt idx="9">
                  <c:v>0.1179</c:v>
                </c:pt>
                <c:pt idx="10">
                  <c:v>0.1485</c:v>
                </c:pt>
                <c:pt idx="11">
                  <c:v>0.1103</c:v>
                </c:pt>
                <c:pt idx="12">
                  <c:v>0.1891</c:v>
                </c:pt>
                <c:pt idx="13">
                  <c:v>0.2163</c:v>
                </c:pt>
                <c:pt idx="14">
                  <c:v>0.2257</c:v>
                </c:pt>
                <c:pt idx="15">
                  <c:v>0.3341</c:v>
                </c:pt>
                <c:pt idx="16">
                  <c:v>0.5918</c:v>
                </c:pt>
                <c:pt idx="17">
                  <c:v>0.9302</c:v>
                </c:pt>
                <c:pt idx="18">
                  <c:v>1.0</c:v>
                </c:pt>
                <c:pt idx="19">
                  <c:v>0.7937</c:v>
                </c:pt>
                <c:pt idx="20">
                  <c:v>0.5382</c:v>
                </c:pt>
                <c:pt idx="21">
                  <c:v>0.3453</c:v>
                </c:pt>
                <c:pt idx="22">
                  <c:v>0.2377</c:v>
                </c:pt>
                <c:pt idx="23">
                  <c:v>0.1172</c:v>
                </c:pt>
                <c:pt idx="24">
                  <c:v>0.0918</c:v>
                </c:pt>
                <c:pt idx="25">
                  <c:v>0.0933</c:v>
                </c:pt>
                <c:pt idx="26">
                  <c:v>0.0974</c:v>
                </c:pt>
                <c:pt idx="27">
                  <c:v>0.0942</c:v>
                </c:pt>
                <c:pt idx="28">
                  <c:v>0.1614</c:v>
                </c:pt>
                <c:pt idx="29">
                  <c:v>0.0898</c:v>
                </c:pt>
                <c:pt idx="30">
                  <c:v>0.0529</c:v>
                </c:pt>
                <c:pt idx="31">
                  <c:v>0.0938</c:v>
                </c:pt>
                <c:pt idx="32">
                  <c:v>0.0467</c:v>
                </c:pt>
                <c:pt idx="33">
                  <c:v>0.1417</c:v>
                </c:pt>
                <c:pt idx="34">
                  <c:v>0.0338</c:v>
                </c:pt>
                <c:pt idx="35">
                  <c:v>0.0401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Sheet1!$B$39</c:f>
              <c:strCache>
                <c:ptCount val="1"/>
                <c:pt idx="0">
                  <c:v>Ходьба</c:v>
                </c:pt>
              </c:strCache>
            </c:strRef>
          </c:tx>
          <c:spPr>
            <a:ln w="28575">
              <a:solidFill>
                <a:srgbClr val="3C8A1E"/>
              </a:solidFill>
            </a:ln>
          </c:spPr>
          <c:marker>
            <c:symbol val="none"/>
          </c:marker>
          <c:xVal>
            <c:numRef>
              <c:f>Sheet1!$A$40:$A$75</c:f>
              <c:numCache>
                <c:formatCode>General</c:formatCode>
                <c:ptCount val="36"/>
                <c:pt idx="0">
                  <c:v>13.15</c:v>
                </c:pt>
                <c:pt idx="1">
                  <c:v>17.41</c:v>
                </c:pt>
                <c:pt idx="2">
                  <c:v>21.66</c:v>
                </c:pt>
                <c:pt idx="3">
                  <c:v>25.91</c:v>
                </c:pt>
                <c:pt idx="4">
                  <c:v>30.17</c:v>
                </c:pt>
                <c:pt idx="5">
                  <c:v>34.42</c:v>
                </c:pt>
                <c:pt idx="6">
                  <c:v>38.67</c:v>
                </c:pt>
                <c:pt idx="7">
                  <c:v>42.93</c:v>
                </c:pt>
                <c:pt idx="8">
                  <c:v>47.18</c:v>
                </c:pt>
                <c:pt idx="9">
                  <c:v>51.43</c:v>
                </c:pt>
                <c:pt idx="10">
                  <c:v>55.69</c:v>
                </c:pt>
                <c:pt idx="11">
                  <c:v>59.94</c:v>
                </c:pt>
                <c:pt idx="12">
                  <c:v>64.19</c:v>
                </c:pt>
                <c:pt idx="13">
                  <c:v>68.45</c:v>
                </c:pt>
                <c:pt idx="14">
                  <c:v>72.7</c:v>
                </c:pt>
                <c:pt idx="15">
                  <c:v>76.95</c:v>
                </c:pt>
                <c:pt idx="16">
                  <c:v>81.21</c:v>
                </c:pt>
                <c:pt idx="17">
                  <c:v>85.46</c:v>
                </c:pt>
                <c:pt idx="18">
                  <c:v>89.71</c:v>
                </c:pt>
                <c:pt idx="19">
                  <c:v>93.97</c:v>
                </c:pt>
                <c:pt idx="20">
                  <c:v>98.22</c:v>
                </c:pt>
                <c:pt idx="21">
                  <c:v>102.47</c:v>
                </c:pt>
                <c:pt idx="22">
                  <c:v>106.73</c:v>
                </c:pt>
                <c:pt idx="23">
                  <c:v>110.98</c:v>
                </c:pt>
                <c:pt idx="24">
                  <c:v>115.23</c:v>
                </c:pt>
                <c:pt idx="25">
                  <c:v>119.49</c:v>
                </c:pt>
                <c:pt idx="26">
                  <c:v>123.74</c:v>
                </c:pt>
                <c:pt idx="27">
                  <c:v>127.99</c:v>
                </c:pt>
                <c:pt idx="28">
                  <c:v>132.25</c:v>
                </c:pt>
                <c:pt idx="29">
                  <c:v>136.5</c:v>
                </c:pt>
                <c:pt idx="30">
                  <c:v>140.75</c:v>
                </c:pt>
                <c:pt idx="31">
                  <c:v>145.01</c:v>
                </c:pt>
                <c:pt idx="32">
                  <c:v>149.26</c:v>
                </c:pt>
                <c:pt idx="33">
                  <c:v>153.51</c:v>
                </c:pt>
                <c:pt idx="34">
                  <c:v>157.77</c:v>
                </c:pt>
                <c:pt idx="35">
                  <c:v>162.02</c:v>
                </c:pt>
              </c:numCache>
            </c:numRef>
          </c:xVal>
          <c:yVal>
            <c:numRef>
              <c:f>Sheet1!$B$40:$B$75</c:f>
              <c:numCache>
                <c:formatCode>General</c:formatCode>
                <c:ptCount val="36"/>
                <c:pt idx="0">
                  <c:v>0.0</c:v>
                </c:pt>
                <c:pt idx="1">
                  <c:v>0.0004</c:v>
                </c:pt>
                <c:pt idx="2">
                  <c:v>0.0021</c:v>
                </c:pt>
                <c:pt idx="3">
                  <c:v>0.0018</c:v>
                </c:pt>
                <c:pt idx="4">
                  <c:v>0.0013</c:v>
                </c:pt>
                <c:pt idx="5">
                  <c:v>0.001</c:v>
                </c:pt>
                <c:pt idx="6">
                  <c:v>0.0012</c:v>
                </c:pt>
                <c:pt idx="7">
                  <c:v>0.0009</c:v>
                </c:pt>
                <c:pt idx="8">
                  <c:v>0.0015</c:v>
                </c:pt>
                <c:pt idx="9">
                  <c:v>0.001</c:v>
                </c:pt>
                <c:pt idx="10">
                  <c:v>0.0012</c:v>
                </c:pt>
                <c:pt idx="11">
                  <c:v>0.0024</c:v>
                </c:pt>
                <c:pt idx="12">
                  <c:v>0.0043</c:v>
                </c:pt>
                <c:pt idx="13">
                  <c:v>0.0217</c:v>
                </c:pt>
                <c:pt idx="14">
                  <c:v>0.179</c:v>
                </c:pt>
                <c:pt idx="15">
                  <c:v>0.2696</c:v>
                </c:pt>
                <c:pt idx="16">
                  <c:v>0.6877</c:v>
                </c:pt>
                <c:pt idx="17">
                  <c:v>0.95</c:v>
                </c:pt>
                <c:pt idx="18">
                  <c:v>1.0</c:v>
                </c:pt>
                <c:pt idx="19">
                  <c:v>0.9318</c:v>
                </c:pt>
                <c:pt idx="20">
                  <c:v>0.5963</c:v>
                </c:pt>
                <c:pt idx="21">
                  <c:v>0.2449</c:v>
                </c:pt>
                <c:pt idx="22">
                  <c:v>0.04</c:v>
                </c:pt>
                <c:pt idx="23">
                  <c:v>0.0281</c:v>
                </c:pt>
                <c:pt idx="24">
                  <c:v>0.0112</c:v>
                </c:pt>
                <c:pt idx="25">
                  <c:v>0.0004</c:v>
                </c:pt>
                <c:pt idx="26">
                  <c:v>0.0001</c:v>
                </c:pt>
                <c:pt idx="27">
                  <c:v>0.0004</c:v>
                </c:pt>
                <c:pt idx="28">
                  <c:v>0.0009</c:v>
                </c:pt>
                <c:pt idx="29">
                  <c:v>0.0001</c:v>
                </c:pt>
                <c:pt idx="30">
                  <c:v>0.0</c:v>
                </c:pt>
                <c:pt idx="31">
                  <c:v>0.0001</c:v>
                </c:pt>
                <c:pt idx="32">
                  <c:v>0.0</c:v>
                </c:pt>
                <c:pt idx="33">
                  <c:v>0.0</c:v>
                </c:pt>
                <c:pt idx="34">
                  <c:v>0.0</c:v>
                </c:pt>
                <c:pt idx="35">
                  <c:v>0.0</c:v>
                </c:pt>
              </c:numCache>
            </c:numRef>
          </c:yVal>
          <c:smooth val="0"/>
        </c:ser>
        <c:ser>
          <c:idx val="2"/>
          <c:order val="2"/>
          <c:tx>
            <c:strRef>
              <c:f>Sheet1!$B$77</c:f>
              <c:strCache>
                <c:ptCount val="1"/>
                <c:pt idx="0">
                  <c:v>Бег</c:v>
                </c:pt>
              </c:strCache>
            </c:strRef>
          </c:tx>
          <c:spPr>
            <a:ln w="28575">
              <a:solidFill>
                <a:srgbClr val="D8602A"/>
              </a:solidFill>
            </a:ln>
          </c:spPr>
          <c:marker>
            <c:symbol val="none"/>
          </c:marker>
          <c:xVal>
            <c:numRef>
              <c:f>Sheet1!$A$78:$A$113</c:f>
              <c:numCache>
                <c:formatCode>General</c:formatCode>
                <c:ptCount val="36"/>
                <c:pt idx="0">
                  <c:v>13.15</c:v>
                </c:pt>
                <c:pt idx="1">
                  <c:v>17.41</c:v>
                </c:pt>
                <c:pt idx="2">
                  <c:v>21.66</c:v>
                </c:pt>
                <c:pt idx="3">
                  <c:v>25.91</c:v>
                </c:pt>
                <c:pt idx="4">
                  <c:v>30.17</c:v>
                </c:pt>
                <c:pt idx="5">
                  <c:v>34.42</c:v>
                </c:pt>
                <c:pt idx="6">
                  <c:v>38.67</c:v>
                </c:pt>
                <c:pt idx="7">
                  <c:v>42.93</c:v>
                </c:pt>
                <c:pt idx="8">
                  <c:v>47.18</c:v>
                </c:pt>
                <c:pt idx="9">
                  <c:v>51.43</c:v>
                </c:pt>
                <c:pt idx="10">
                  <c:v>55.69</c:v>
                </c:pt>
                <c:pt idx="11">
                  <c:v>59.94</c:v>
                </c:pt>
                <c:pt idx="12">
                  <c:v>64.19</c:v>
                </c:pt>
                <c:pt idx="13">
                  <c:v>68.45</c:v>
                </c:pt>
                <c:pt idx="14">
                  <c:v>72.7</c:v>
                </c:pt>
                <c:pt idx="15">
                  <c:v>76.95</c:v>
                </c:pt>
                <c:pt idx="16">
                  <c:v>81.21</c:v>
                </c:pt>
                <c:pt idx="17">
                  <c:v>85.46</c:v>
                </c:pt>
                <c:pt idx="18">
                  <c:v>89.71</c:v>
                </c:pt>
                <c:pt idx="19">
                  <c:v>93.97</c:v>
                </c:pt>
                <c:pt idx="20">
                  <c:v>98.22</c:v>
                </c:pt>
                <c:pt idx="21">
                  <c:v>102.47</c:v>
                </c:pt>
                <c:pt idx="22">
                  <c:v>106.73</c:v>
                </c:pt>
                <c:pt idx="23">
                  <c:v>110.98</c:v>
                </c:pt>
                <c:pt idx="24">
                  <c:v>115.23</c:v>
                </c:pt>
                <c:pt idx="25">
                  <c:v>119.49</c:v>
                </c:pt>
                <c:pt idx="26">
                  <c:v>123.74</c:v>
                </c:pt>
                <c:pt idx="27">
                  <c:v>127.99</c:v>
                </c:pt>
                <c:pt idx="28">
                  <c:v>132.25</c:v>
                </c:pt>
                <c:pt idx="29">
                  <c:v>136.5</c:v>
                </c:pt>
                <c:pt idx="30">
                  <c:v>140.75</c:v>
                </c:pt>
                <c:pt idx="31">
                  <c:v>145.01</c:v>
                </c:pt>
                <c:pt idx="32">
                  <c:v>149.26</c:v>
                </c:pt>
                <c:pt idx="33">
                  <c:v>153.51</c:v>
                </c:pt>
                <c:pt idx="34">
                  <c:v>157.77</c:v>
                </c:pt>
                <c:pt idx="35">
                  <c:v>162.02</c:v>
                </c:pt>
              </c:numCache>
            </c:numRef>
          </c:xVal>
          <c:yVal>
            <c:numRef>
              <c:f>Sheet1!$B$78:$B$113</c:f>
              <c:numCache>
                <c:formatCode>General</c:formatCode>
                <c:ptCount val="36"/>
                <c:pt idx="0">
                  <c:v>0.0004</c:v>
                </c:pt>
                <c:pt idx="1">
                  <c:v>0.0007</c:v>
                </c:pt>
                <c:pt idx="2">
                  <c:v>0.0057</c:v>
                </c:pt>
                <c:pt idx="3">
                  <c:v>0.0013</c:v>
                </c:pt>
                <c:pt idx="4">
                  <c:v>0.0007</c:v>
                </c:pt>
                <c:pt idx="5">
                  <c:v>0.0004</c:v>
                </c:pt>
                <c:pt idx="6">
                  <c:v>0.0038</c:v>
                </c:pt>
                <c:pt idx="7">
                  <c:v>0.0178</c:v>
                </c:pt>
                <c:pt idx="8">
                  <c:v>0.0178</c:v>
                </c:pt>
                <c:pt idx="9">
                  <c:v>0.0146</c:v>
                </c:pt>
                <c:pt idx="10">
                  <c:v>0.0252</c:v>
                </c:pt>
                <c:pt idx="11">
                  <c:v>0.0279</c:v>
                </c:pt>
                <c:pt idx="12">
                  <c:v>0.0588</c:v>
                </c:pt>
                <c:pt idx="13">
                  <c:v>0.1374</c:v>
                </c:pt>
                <c:pt idx="14">
                  <c:v>0.2575</c:v>
                </c:pt>
                <c:pt idx="15">
                  <c:v>0.3049</c:v>
                </c:pt>
                <c:pt idx="16">
                  <c:v>0.5953</c:v>
                </c:pt>
                <c:pt idx="17">
                  <c:v>0.7774</c:v>
                </c:pt>
                <c:pt idx="18">
                  <c:v>0.9534</c:v>
                </c:pt>
                <c:pt idx="19">
                  <c:v>1.0</c:v>
                </c:pt>
                <c:pt idx="20">
                  <c:v>0.745</c:v>
                </c:pt>
                <c:pt idx="21">
                  <c:v>0.4174</c:v>
                </c:pt>
                <c:pt idx="22">
                  <c:v>0.3371</c:v>
                </c:pt>
                <c:pt idx="23">
                  <c:v>0.2762</c:v>
                </c:pt>
                <c:pt idx="24">
                  <c:v>0.2726</c:v>
                </c:pt>
                <c:pt idx="25">
                  <c:v>0.1887</c:v>
                </c:pt>
                <c:pt idx="26">
                  <c:v>0.0826</c:v>
                </c:pt>
                <c:pt idx="27">
                  <c:v>0.0474</c:v>
                </c:pt>
                <c:pt idx="28">
                  <c:v>0.0233</c:v>
                </c:pt>
                <c:pt idx="29">
                  <c:v>0.0161</c:v>
                </c:pt>
                <c:pt idx="30">
                  <c:v>0.0085</c:v>
                </c:pt>
                <c:pt idx="31">
                  <c:v>0.0057</c:v>
                </c:pt>
                <c:pt idx="32">
                  <c:v>0.004</c:v>
                </c:pt>
                <c:pt idx="33">
                  <c:v>0.0015</c:v>
                </c:pt>
                <c:pt idx="34">
                  <c:v>0.0032</c:v>
                </c:pt>
                <c:pt idx="35">
                  <c:v>0.0011</c:v>
                </c:pt>
              </c:numCache>
            </c:numRef>
          </c:yVal>
          <c:smooth val="0"/>
        </c:ser>
        <c:ser>
          <c:idx val="3"/>
          <c:order val="3"/>
          <c:tx>
            <c:strRef>
              <c:f>Sheet1!$B$115</c:f>
              <c:strCache>
                <c:ptCount val="1"/>
                <c:pt idx="0">
                  <c:v>Подъём</c:v>
                </c:pt>
              </c:strCache>
            </c:strRef>
          </c:tx>
          <c:spPr>
            <a:ln w="28575">
              <a:solidFill>
                <a:srgbClr val="2D5FA8"/>
              </a:solidFill>
            </a:ln>
          </c:spPr>
          <c:marker>
            <c:symbol val="none"/>
          </c:marker>
          <c:xVal>
            <c:numRef>
              <c:f>Sheet1!$A$116:$A$151</c:f>
              <c:numCache>
                <c:formatCode>General</c:formatCode>
                <c:ptCount val="36"/>
                <c:pt idx="0">
                  <c:v>13.15</c:v>
                </c:pt>
                <c:pt idx="1">
                  <c:v>17.41</c:v>
                </c:pt>
                <c:pt idx="2">
                  <c:v>21.66</c:v>
                </c:pt>
                <c:pt idx="3">
                  <c:v>25.91</c:v>
                </c:pt>
                <c:pt idx="4">
                  <c:v>30.17</c:v>
                </c:pt>
                <c:pt idx="5">
                  <c:v>34.42</c:v>
                </c:pt>
                <c:pt idx="6">
                  <c:v>38.67</c:v>
                </c:pt>
                <c:pt idx="7">
                  <c:v>42.93</c:v>
                </c:pt>
                <c:pt idx="8">
                  <c:v>47.18</c:v>
                </c:pt>
                <c:pt idx="9">
                  <c:v>51.43</c:v>
                </c:pt>
                <c:pt idx="10">
                  <c:v>55.69</c:v>
                </c:pt>
                <c:pt idx="11">
                  <c:v>59.94</c:v>
                </c:pt>
                <c:pt idx="12">
                  <c:v>64.19</c:v>
                </c:pt>
                <c:pt idx="13">
                  <c:v>68.45</c:v>
                </c:pt>
                <c:pt idx="14">
                  <c:v>72.7</c:v>
                </c:pt>
                <c:pt idx="15">
                  <c:v>76.95</c:v>
                </c:pt>
                <c:pt idx="16">
                  <c:v>81.21</c:v>
                </c:pt>
                <c:pt idx="17">
                  <c:v>85.46</c:v>
                </c:pt>
                <c:pt idx="18">
                  <c:v>89.71</c:v>
                </c:pt>
                <c:pt idx="19">
                  <c:v>93.97</c:v>
                </c:pt>
                <c:pt idx="20">
                  <c:v>98.22</c:v>
                </c:pt>
                <c:pt idx="21">
                  <c:v>102.47</c:v>
                </c:pt>
                <c:pt idx="22">
                  <c:v>106.73</c:v>
                </c:pt>
                <c:pt idx="23">
                  <c:v>110.98</c:v>
                </c:pt>
                <c:pt idx="24">
                  <c:v>115.23</c:v>
                </c:pt>
                <c:pt idx="25">
                  <c:v>119.49</c:v>
                </c:pt>
                <c:pt idx="26">
                  <c:v>123.74</c:v>
                </c:pt>
                <c:pt idx="27">
                  <c:v>127.99</c:v>
                </c:pt>
                <c:pt idx="28">
                  <c:v>132.25</c:v>
                </c:pt>
                <c:pt idx="29">
                  <c:v>136.5</c:v>
                </c:pt>
                <c:pt idx="30">
                  <c:v>140.75</c:v>
                </c:pt>
                <c:pt idx="31">
                  <c:v>145.01</c:v>
                </c:pt>
                <c:pt idx="32">
                  <c:v>149.26</c:v>
                </c:pt>
                <c:pt idx="33">
                  <c:v>153.51</c:v>
                </c:pt>
                <c:pt idx="34">
                  <c:v>157.77</c:v>
                </c:pt>
                <c:pt idx="35">
                  <c:v>162.02</c:v>
                </c:pt>
              </c:numCache>
            </c:numRef>
          </c:xVal>
          <c:yVal>
            <c:numRef>
              <c:f>Sheet1!$B$116:$B$151</c:f>
              <c:numCache>
                <c:formatCode>General</c:formatCode>
                <c:ptCount val="36"/>
                <c:pt idx="0">
                  <c:v>0.0</c:v>
                </c:pt>
                <c:pt idx="1">
                  <c:v>0.0006</c:v>
                </c:pt>
                <c:pt idx="2">
                  <c:v>0.0011</c:v>
                </c:pt>
                <c:pt idx="3">
                  <c:v>0.0019</c:v>
                </c:pt>
                <c:pt idx="4">
                  <c:v>0.0031</c:v>
                </c:pt>
                <c:pt idx="5">
                  <c:v>0.0053</c:v>
                </c:pt>
                <c:pt idx="6">
                  <c:v>0.0054</c:v>
                </c:pt>
                <c:pt idx="7">
                  <c:v>0.0079</c:v>
                </c:pt>
                <c:pt idx="8">
                  <c:v>0.0125</c:v>
                </c:pt>
                <c:pt idx="9">
                  <c:v>0.0131</c:v>
                </c:pt>
                <c:pt idx="10">
                  <c:v>0.0153</c:v>
                </c:pt>
                <c:pt idx="11">
                  <c:v>0.0218</c:v>
                </c:pt>
                <c:pt idx="12">
                  <c:v>0.0381</c:v>
                </c:pt>
                <c:pt idx="13">
                  <c:v>0.0812</c:v>
                </c:pt>
                <c:pt idx="14">
                  <c:v>0.1361</c:v>
                </c:pt>
                <c:pt idx="15">
                  <c:v>0.3968</c:v>
                </c:pt>
                <c:pt idx="16">
                  <c:v>0.7869</c:v>
                </c:pt>
                <c:pt idx="17">
                  <c:v>0.8749</c:v>
                </c:pt>
                <c:pt idx="18">
                  <c:v>0.8287</c:v>
                </c:pt>
                <c:pt idx="19">
                  <c:v>0.8377</c:v>
                </c:pt>
                <c:pt idx="20">
                  <c:v>1.0</c:v>
                </c:pt>
                <c:pt idx="21">
                  <c:v>0.5959</c:v>
                </c:pt>
                <c:pt idx="22">
                  <c:v>0.2656</c:v>
                </c:pt>
                <c:pt idx="23">
                  <c:v>0.1564</c:v>
                </c:pt>
                <c:pt idx="24">
                  <c:v>0.0965</c:v>
                </c:pt>
                <c:pt idx="25">
                  <c:v>0.0398</c:v>
                </c:pt>
                <c:pt idx="26">
                  <c:v>0.0149</c:v>
                </c:pt>
                <c:pt idx="27">
                  <c:v>0.0033</c:v>
                </c:pt>
                <c:pt idx="28">
                  <c:v>0.0022</c:v>
                </c:pt>
                <c:pt idx="29">
                  <c:v>0.0013</c:v>
                </c:pt>
                <c:pt idx="30">
                  <c:v>0.0006</c:v>
                </c:pt>
                <c:pt idx="31">
                  <c:v>0.0011</c:v>
                </c:pt>
                <c:pt idx="32">
                  <c:v>0.0019</c:v>
                </c:pt>
                <c:pt idx="33">
                  <c:v>0.0063</c:v>
                </c:pt>
                <c:pt idx="34">
                  <c:v>0.0031</c:v>
                </c:pt>
                <c:pt idx="35">
                  <c:v>0.0022</c:v>
                </c:pt>
              </c:numCache>
            </c:numRef>
          </c:yVal>
          <c:smooth val="0"/>
        </c:ser>
        <c:ser>
          <c:idx val="4"/>
          <c:order val="4"/>
          <c:tx>
            <c:strRef>
              <c:f>Sheet1!$B$153</c:f>
              <c:strCache>
                <c:ptCount val="1"/>
                <c:pt idx="0">
                  <c:v>Спуск</c:v>
                </c:pt>
              </c:strCache>
            </c:strRef>
          </c:tx>
          <c:spPr>
            <a:ln w="28575">
              <a:solidFill>
                <a:srgbClr val="7888E0"/>
              </a:solidFill>
            </a:ln>
          </c:spPr>
          <c:marker>
            <c:symbol val="none"/>
          </c:marker>
          <c:xVal>
            <c:numRef>
              <c:f>Sheet1!$A$154:$A$189</c:f>
              <c:numCache>
                <c:formatCode>General</c:formatCode>
                <c:ptCount val="36"/>
                <c:pt idx="0">
                  <c:v>13.15</c:v>
                </c:pt>
                <c:pt idx="1">
                  <c:v>17.41</c:v>
                </c:pt>
                <c:pt idx="2">
                  <c:v>21.66</c:v>
                </c:pt>
                <c:pt idx="3">
                  <c:v>25.91</c:v>
                </c:pt>
                <c:pt idx="4">
                  <c:v>30.17</c:v>
                </c:pt>
                <c:pt idx="5">
                  <c:v>34.42</c:v>
                </c:pt>
                <c:pt idx="6">
                  <c:v>38.67</c:v>
                </c:pt>
                <c:pt idx="7">
                  <c:v>42.93</c:v>
                </c:pt>
                <c:pt idx="8">
                  <c:v>47.18</c:v>
                </c:pt>
                <c:pt idx="9">
                  <c:v>51.43</c:v>
                </c:pt>
                <c:pt idx="10">
                  <c:v>55.69</c:v>
                </c:pt>
                <c:pt idx="11">
                  <c:v>59.94</c:v>
                </c:pt>
                <c:pt idx="12">
                  <c:v>64.19</c:v>
                </c:pt>
                <c:pt idx="13">
                  <c:v>68.45</c:v>
                </c:pt>
                <c:pt idx="14">
                  <c:v>72.7</c:v>
                </c:pt>
                <c:pt idx="15">
                  <c:v>76.95</c:v>
                </c:pt>
                <c:pt idx="16">
                  <c:v>81.21</c:v>
                </c:pt>
                <c:pt idx="17">
                  <c:v>85.46</c:v>
                </c:pt>
                <c:pt idx="18">
                  <c:v>89.71</c:v>
                </c:pt>
                <c:pt idx="19">
                  <c:v>93.97</c:v>
                </c:pt>
                <c:pt idx="20">
                  <c:v>98.22</c:v>
                </c:pt>
                <c:pt idx="21">
                  <c:v>102.47</c:v>
                </c:pt>
                <c:pt idx="22">
                  <c:v>106.73</c:v>
                </c:pt>
                <c:pt idx="23">
                  <c:v>110.98</c:v>
                </c:pt>
                <c:pt idx="24">
                  <c:v>115.23</c:v>
                </c:pt>
                <c:pt idx="25">
                  <c:v>119.49</c:v>
                </c:pt>
                <c:pt idx="26">
                  <c:v>123.74</c:v>
                </c:pt>
                <c:pt idx="27">
                  <c:v>127.99</c:v>
                </c:pt>
                <c:pt idx="28">
                  <c:v>132.25</c:v>
                </c:pt>
                <c:pt idx="29">
                  <c:v>136.5</c:v>
                </c:pt>
                <c:pt idx="30">
                  <c:v>140.75</c:v>
                </c:pt>
                <c:pt idx="31">
                  <c:v>145.01</c:v>
                </c:pt>
                <c:pt idx="32">
                  <c:v>149.26</c:v>
                </c:pt>
                <c:pt idx="33">
                  <c:v>153.51</c:v>
                </c:pt>
                <c:pt idx="34">
                  <c:v>157.77</c:v>
                </c:pt>
                <c:pt idx="35">
                  <c:v>162.02</c:v>
                </c:pt>
              </c:numCache>
            </c:numRef>
          </c:xVal>
          <c:yVal>
            <c:numRef>
              <c:f>Sheet1!$B$154:$B$189</c:f>
              <c:numCache>
                <c:formatCode>General</c:formatCode>
                <c:ptCount val="36"/>
                <c:pt idx="0">
                  <c:v>0.0005</c:v>
                </c:pt>
                <c:pt idx="1">
                  <c:v>0.0012</c:v>
                </c:pt>
                <c:pt idx="2">
                  <c:v>0.0018</c:v>
                </c:pt>
                <c:pt idx="3">
                  <c:v>0.0012</c:v>
                </c:pt>
                <c:pt idx="4">
                  <c:v>0.0007</c:v>
                </c:pt>
                <c:pt idx="5">
                  <c:v>0.0016</c:v>
                </c:pt>
                <c:pt idx="6">
                  <c:v>0.003</c:v>
                </c:pt>
                <c:pt idx="7">
                  <c:v>0.003</c:v>
                </c:pt>
                <c:pt idx="8">
                  <c:v>0.0051</c:v>
                </c:pt>
                <c:pt idx="9">
                  <c:v>0.0076</c:v>
                </c:pt>
                <c:pt idx="10">
                  <c:v>0.0113</c:v>
                </c:pt>
                <c:pt idx="11">
                  <c:v>0.0154</c:v>
                </c:pt>
                <c:pt idx="12">
                  <c:v>0.0341</c:v>
                </c:pt>
                <c:pt idx="13">
                  <c:v>0.0866</c:v>
                </c:pt>
                <c:pt idx="14">
                  <c:v>0.2297</c:v>
                </c:pt>
                <c:pt idx="15">
                  <c:v>0.4584</c:v>
                </c:pt>
                <c:pt idx="16">
                  <c:v>0.8768</c:v>
                </c:pt>
                <c:pt idx="17">
                  <c:v>0.9772</c:v>
                </c:pt>
                <c:pt idx="18">
                  <c:v>0.9475</c:v>
                </c:pt>
                <c:pt idx="19">
                  <c:v>0.8443</c:v>
                </c:pt>
                <c:pt idx="20">
                  <c:v>1.0</c:v>
                </c:pt>
                <c:pt idx="21">
                  <c:v>0.6324</c:v>
                </c:pt>
                <c:pt idx="22">
                  <c:v>0.2382</c:v>
                </c:pt>
                <c:pt idx="23">
                  <c:v>0.0603</c:v>
                </c:pt>
                <c:pt idx="24">
                  <c:v>0.017</c:v>
                </c:pt>
                <c:pt idx="25">
                  <c:v>0.0127</c:v>
                </c:pt>
                <c:pt idx="26">
                  <c:v>0.0053</c:v>
                </c:pt>
                <c:pt idx="27">
                  <c:v>0.0023</c:v>
                </c:pt>
                <c:pt idx="28">
                  <c:v>0.0012</c:v>
                </c:pt>
                <c:pt idx="29">
                  <c:v>0.0016</c:v>
                </c:pt>
                <c:pt idx="30">
                  <c:v>0.0</c:v>
                </c:pt>
                <c:pt idx="31">
                  <c:v>0.0005</c:v>
                </c:pt>
                <c:pt idx="32">
                  <c:v>0.0</c:v>
                </c:pt>
                <c:pt idx="33">
                  <c:v>0.0</c:v>
                </c:pt>
                <c:pt idx="34">
                  <c:v>0.0</c:v>
                </c:pt>
                <c:pt idx="35">
                  <c:v>0.0</c:v>
                </c:pt>
              </c:numCache>
            </c:numRef>
          </c:yVal>
          <c:smooth val="0"/>
        </c:ser>
        <c:ser>
          <c:idx val="5"/>
          <c:order val="5"/>
          <c:tx>
            <c:strRef>
              <c:f>Sheet1!$B$191</c:f>
              <c:strCache>
                <c:ptCount val="1"/>
                <c:pt idx="0">
                  <c:v>Велосипед</c:v>
                </c:pt>
              </c:strCache>
            </c:strRef>
          </c:tx>
          <c:spPr>
            <a:ln w="28575">
              <a:solidFill>
                <a:srgbClr val="C08600"/>
              </a:solidFill>
            </a:ln>
          </c:spPr>
          <c:marker>
            <c:symbol val="none"/>
          </c:marker>
          <c:xVal>
            <c:numRef>
              <c:f>Sheet1!$A$192:$A$227</c:f>
              <c:numCache>
                <c:formatCode>General</c:formatCode>
                <c:ptCount val="36"/>
                <c:pt idx="0">
                  <c:v>13.15</c:v>
                </c:pt>
                <c:pt idx="1">
                  <c:v>17.41</c:v>
                </c:pt>
                <c:pt idx="2">
                  <c:v>21.66</c:v>
                </c:pt>
                <c:pt idx="3">
                  <c:v>25.91</c:v>
                </c:pt>
                <c:pt idx="4">
                  <c:v>30.17</c:v>
                </c:pt>
                <c:pt idx="5">
                  <c:v>34.42</c:v>
                </c:pt>
                <c:pt idx="6">
                  <c:v>38.67</c:v>
                </c:pt>
                <c:pt idx="7">
                  <c:v>42.93</c:v>
                </c:pt>
                <c:pt idx="8">
                  <c:v>47.18</c:v>
                </c:pt>
                <c:pt idx="9">
                  <c:v>51.43</c:v>
                </c:pt>
                <c:pt idx="10">
                  <c:v>55.69</c:v>
                </c:pt>
                <c:pt idx="11">
                  <c:v>59.94</c:v>
                </c:pt>
                <c:pt idx="12">
                  <c:v>64.19</c:v>
                </c:pt>
                <c:pt idx="13">
                  <c:v>68.45</c:v>
                </c:pt>
                <c:pt idx="14">
                  <c:v>72.7</c:v>
                </c:pt>
                <c:pt idx="15">
                  <c:v>76.95</c:v>
                </c:pt>
                <c:pt idx="16">
                  <c:v>81.21</c:v>
                </c:pt>
                <c:pt idx="17">
                  <c:v>85.46</c:v>
                </c:pt>
                <c:pt idx="18">
                  <c:v>89.71</c:v>
                </c:pt>
                <c:pt idx="19">
                  <c:v>93.97</c:v>
                </c:pt>
                <c:pt idx="20">
                  <c:v>98.22</c:v>
                </c:pt>
                <c:pt idx="21">
                  <c:v>102.47</c:v>
                </c:pt>
                <c:pt idx="22">
                  <c:v>106.73</c:v>
                </c:pt>
                <c:pt idx="23">
                  <c:v>110.98</c:v>
                </c:pt>
                <c:pt idx="24">
                  <c:v>115.23</c:v>
                </c:pt>
                <c:pt idx="25">
                  <c:v>119.49</c:v>
                </c:pt>
                <c:pt idx="26">
                  <c:v>123.74</c:v>
                </c:pt>
                <c:pt idx="27">
                  <c:v>127.99</c:v>
                </c:pt>
                <c:pt idx="28">
                  <c:v>132.25</c:v>
                </c:pt>
                <c:pt idx="29">
                  <c:v>136.5</c:v>
                </c:pt>
                <c:pt idx="30">
                  <c:v>140.75</c:v>
                </c:pt>
                <c:pt idx="31">
                  <c:v>145.01</c:v>
                </c:pt>
                <c:pt idx="32">
                  <c:v>149.26</c:v>
                </c:pt>
                <c:pt idx="33">
                  <c:v>153.51</c:v>
                </c:pt>
                <c:pt idx="34">
                  <c:v>157.77</c:v>
                </c:pt>
                <c:pt idx="35">
                  <c:v>162.02</c:v>
                </c:pt>
              </c:numCache>
            </c:numRef>
          </c:xVal>
          <c:yVal>
            <c:numRef>
              <c:f>Sheet1!$B$192:$B$227</c:f>
              <c:numCache>
                <c:formatCode>General</c:formatCode>
                <c:ptCount val="36"/>
                <c:pt idx="0">
                  <c:v>0.0011</c:v>
                </c:pt>
                <c:pt idx="1">
                  <c:v>0.0</c:v>
                </c:pt>
                <c:pt idx="2">
                  <c:v>0.0045</c:v>
                </c:pt>
                <c:pt idx="3">
                  <c:v>0.0112</c:v>
                </c:pt>
                <c:pt idx="4">
                  <c:v>0.0045</c:v>
                </c:pt>
                <c:pt idx="5">
                  <c:v>0.0033</c:v>
                </c:pt>
                <c:pt idx="6">
                  <c:v>0.0067</c:v>
                </c:pt>
                <c:pt idx="7">
                  <c:v>0.0023</c:v>
                </c:pt>
                <c:pt idx="8">
                  <c:v>0.0011</c:v>
                </c:pt>
                <c:pt idx="9">
                  <c:v>0.0023</c:v>
                </c:pt>
                <c:pt idx="10">
                  <c:v>0.0011</c:v>
                </c:pt>
                <c:pt idx="11">
                  <c:v>0.0011</c:v>
                </c:pt>
                <c:pt idx="12">
                  <c:v>0.0023</c:v>
                </c:pt>
                <c:pt idx="13">
                  <c:v>0.0011</c:v>
                </c:pt>
                <c:pt idx="14">
                  <c:v>0.0011</c:v>
                </c:pt>
                <c:pt idx="15">
                  <c:v>0.181</c:v>
                </c:pt>
                <c:pt idx="16">
                  <c:v>0.1609</c:v>
                </c:pt>
                <c:pt idx="17">
                  <c:v>0.0145</c:v>
                </c:pt>
                <c:pt idx="18">
                  <c:v>0.1173</c:v>
                </c:pt>
                <c:pt idx="19">
                  <c:v>0.0749</c:v>
                </c:pt>
                <c:pt idx="20">
                  <c:v>0.2559</c:v>
                </c:pt>
                <c:pt idx="21">
                  <c:v>0.8804</c:v>
                </c:pt>
                <c:pt idx="22">
                  <c:v>0.7888</c:v>
                </c:pt>
                <c:pt idx="23">
                  <c:v>0.6592</c:v>
                </c:pt>
                <c:pt idx="24">
                  <c:v>1.0</c:v>
                </c:pt>
                <c:pt idx="25">
                  <c:v>0.7397</c:v>
                </c:pt>
                <c:pt idx="26">
                  <c:v>0.41</c:v>
                </c:pt>
                <c:pt idx="27">
                  <c:v>0.4626</c:v>
                </c:pt>
                <c:pt idx="28">
                  <c:v>0.4011</c:v>
                </c:pt>
                <c:pt idx="29">
                  <c:v>0.429</c:v>
                </c:pt>
                <c:pt idx="30">
                  <c:v>0.9218</c:v>
                </c:pt>
                <c:pt idx="31">
                  <c:v>0.8234</c:v>
                </c:pt>
                <c:pt idx="32">
                  <c:v>0.4223</c:v>
                </c:pt>
                <c:pt idx="33">
                  <c:v>0.105</c:v>
                </c:pt>
                <c:pt idx="34">
                  <c:v>0.0212</c:v>
                </c:pt>
                <c:pt idx="35">
                  <c:v>0.0202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  <c:max val="164.0"/>
          <c:min val="0.0"/>
        </c:scaling>
        <c:delete val="0"/>
        <c:axPos val="b"/>
        <c:numFmt formatCode="0" sourceLinked="0"/>
        <c:majorTickMark val="out"/>
        <c:minorTickMark val="none"/>
        <c:tickLblPos val="low"/>
        <c:spPr>
          <a:ln w="9525">
            <a:solidFill>
              <a:srgbClr val="C9D0DB"/>
            </a:solidFill>
          </a:ln>
        </c:spPr>
        <c:txPr>
          <a:bodyPr/>
          <a:lstStyle/>
          <a:p>
            <a:pPr>
              <a:defRPr sz="900">
                <a:solidFill>
                  <a:srgbClr val="5B6475"/>
                </a:solidFill>
              </a:defRPr>
            </a:pPr>
          </a:p>
        </c:txPr>
        <c:crossAx val="-2129643912"/>
        <c:crosses val="autoZero"/>
        <c:crossBetween val="midCat"/>
        <c:majorUnit val="50.0"/>
      </c:valAx>
      <c:valAx>
        <c:axId val="-2129643912"/>
        <c:scaling>
          <c:orientation val="minMax"/>
          <c:max val="1.08"/>
          <c:min val="0.0"/>
        </c:scaling>
        <c:delete/>
        <c:axPos val="l"/>
        <c:numFmt formatCode="General" sourceLinked="1"/>
        <c:majorTickMark val="out"/>
        <c:minorTickMark val="none"/>
        <c:tickLblPos val="nextTo"/>
        <c:crossAx val="-2128940872"/>
        <c:crosses val="autoZero"/>
        <c:crossBetween val="midCat"/>
      </c:valAx>
    </c:plotArea>
    <c:plotVisOnly val="1"/>
    <c:dispBlanksAs val="gap"/>
    <c:showDLblsOverMax val="0"/>
  </c:chart>
  <c:txPr>
    <a:bodyPr/>
    <a:lstStyle/>
    <a:p>
      <a:pPr>
        <a:defRPr sz="900">
          <a:latin typeface="Segoe UI"/>
        </a:defRPr>
      </a:pPr>
      <a:endParaRPr lang="en-US"/>
    </a:p>
  </c:txPr>
  <c:externalData r:id="rId1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Покой</c:v>
                </c:pt>
              </c:strCache>
            </c:strRef>
          </c:tx>
          <c:spPr>
            <a:ln w="28575">
              <a:solidFill>
                <a:srgbClr val="8C96A8"/>
              </a:solidFill>
              <a:prstDash val="dash"/>
            </a:ln>
          </c:spPr>
          <c:marker>
            <c:symbol val="none"/>
          </c:marker>
          <c:xVal>
            <c:numRef>
              <c:f>Sheet1!$A$2:$A$37</c:f>
              <c:numCache>
                <c:formatCode>General</c:formatCode>
                <c:ptCount val="36"/>
                <c:pt idx="0">
                  <c:v>0.07</c:v>
                </c:pt>
                <c:pt idx="1">
                  <c:v>0.2</c:v>
                </c:pt>
                <c:pt idx="2">
                  <c:v>0.34</c:v>
                </c:pt>
                <c:pt idx="3">
                  <c:v>0.47</c:v>
                </c:pt>
                <c:pt idx="4">
                  <c:v>0.61</c:v>
                </c:pt>
                <c:pt idx="5">
                  <c:v>0.74</c:v>
                </c:pt>
                <c:pt idx="6">
                  <c:v>0.88</c:v>
                </c:pt>
                <c:pt idx="7">
                  <c:v>1.01</c:v>
                </c:pt>
                <c:pt idx="8">
                  <c:v>1.15</c:v>
                </c:pt>
                <c:pt idx="9">
                  <c:v>1.28</c:v>
                </c:pt>
                <c:pt idx="10">
                  <c:v>1.42</c:v>
                </c:pt>
                <c:pt idx="11">
                  <c:v>1.55</c:v>
                </c:pt>
                <c:pt idx="12">
                  <c:v>1.69</c:v>
                </c:pt>
                <c:pt idx="13">
                  <c:v>1.82</c:v>
                </c:pt>
                <c:pt idx="14">
                  <c:v>1.95</c:v>
                </c:pt>
                <c:pt idx="15">
                  <c:v>2.09</c:v>
                </c:pt>
                <c:pt idx="16">
                  <c:v>2.22</c:v>
                </c:pt>
                <c:pt idx="17">
                  <c:v>2.36</c:v>
                </c:pt>
                <c:pt idx="18">
                  <c:v>2.49</c:v>
                </c:pt>
                <c:pt idx="19">
                  <c:v>2.63</c:v>
                </c:pt>
                <c:pt idx="20">
                  <c:v>2.76</c:v>
                </c:pt>
                <c:pt idx="21">
                  <c:v>2.9</c:v>
                </c:pt>
                <c:pt idx="22">
                  <c:v>3.03</c:v>
                </c:pt>
                <c:pt idx="23">
                  <c:v>3.17</c:v>
                </c:pt>
                <c:pt idx="24">
                  <c:v>3.3</c:v>
                </c:pt>
                <c:pt idx="25">
                  <c:v>3.44</c:v>
                </c:pt>
                <c:pt idx="26">
                  <c:v>3.57</c:v>
                </c:pt>
                <c:pt idx="27">
                  <c:v>3.7</c:v>
                </c:pt>
                <c:pt idx="28">
                  <c:v>3.84</c:v>
                </c:pt>
                <c:pt idx="29">
                  <c:v>3.97</c:v>
                </c:pt>
                <c:pt idx="30">
                  <c:v>4.11</c:v>
                </c:pt>
                <c:pt idx="31">
                  <c:v>4.24</c:v>
                </c:pt>
                <c:pt idx="32">
                  <c:v>4.38</c:v>
                </c:pt>
                <c:pt idx="33">
                  <c:v>4.51</c:v>
                </c:pt>
                <c:pt idx="34">
                  <c:v>4.65</c:v>
                </c:pt>
                <c:pt idx="35">
                  <c:v>4.78</c:v>
                </c:pt>
              </c:numCache>
            </c:numRef>
          </c:xVal>
          <c:yVal>
            <c:numRef>
              <c:f>Sheet1!$B$2:$B$37</c:f>
              <c:numCache>
                <c:formatCode>General</c:formatCode>
                <c:ptCount val="36"/>
                <c:pt idx="0">
                  <c:v>1.0</c:v>
                </c:pt>
                <c:pt idx="1">
                  <c:v>0.0184</c:v>
                </c:pt>
                <c:pt idx="2">
                  <c:v>0.0048</c:v>
                </c:pt>
                <c:pt idx="3">
                  <c:v>0.002</c:v>
                </c:pt>
                <c:pt idx="4">
                  <c:v>0.0014</c:v>
                </c:pt>
                <c:pt idx="5">
                  <c:v>0.0006</c:v>
                </c:pt>
                <c:pt idx="6">
                  <c:v>0.0005</c:v>
                </c:pt>
                <c:pt idx="7">
                  <c:v>0.0003</c:v>
                </c:pt>
                <c:pt idx="8">
                  <c:v>0.0003</c:v>
                </c:pt>
                <c:pt idx="9">
                  <c:v>0.0002</c:v>
                </c:pt>
                <c:pt idx="10">
                  <c:v>0.0001</c:v>
                </c:pt>
                <c:pt idx="11">
                  <c:v>0.0002</c:v>
                </c:pt>
                <c:pt idx="12">
                  <c:v>0.0</c:v>
                </c:pt>
                <c:pt idx="13">
                  <c:v>0.0001</c:v>
                </c:pt>
                <c:pt idx="14">
                  <c:v>0.0</c:v>
                </c:pt>
                <c:pt idx="15">
                  <c:v>0.0</c:v>
                </c:pt>
                <c:pt idx="16">
                  <c:v>0.0</c:v>
                </c:pt>
                <c:pt idx="17">
                  <c:v>0.0</c:v>
                </c:pt>
                <c:pt idx="18">
                  <c:v>0.0</c:v>
                </c:pt>
                <c:pt idx="19">
                  <c:v>0.0</c:v>
                </c:pt>
                <c:pt idx="20">
                  <c:v>0.0</c:v>
                </c:pt>
                <c:pt idx="21">
                  <c:v>0.0</c:v>
                </c:pt>
                <c:pt idx="22">
                  <c:v>0.0</c:v>
                </c:pt>
                <c:pt idx="23">
                  <c:v>0.0</c:v>
                </c:pt>
                <c:pt idx="24">
                  <c:v>0.0</c:v>
                </c:pt>
                <c:pt idx="25">
                  <c:v>0.0</c:v>
                </c:pt>
                <c:pt idx="26">
                  <c:v>0.0</c:v>
                </c:pt>
                <c:pt idx="27">
                  <c:v>0.0</c:v>
                </c:pt>
                <c:pt idx="28">
                  <c:v>0.0</c:v>
                </c:pt>
                <c:pt idx="29">
                  <c:v>0.0</c:v>
                </c:pt>
                <c:pt idx="30">
                  <c:v>0.0</c:v>
                </c:pt>
                <c:pt idx="31">
                  <c:v>0.0</c:v>
                </c:pt>
                <c:pt idx="32">
                  <c:v>0.0</c:v>
                </c:pt>
                <c:pt idx="33">
                  <c:v>0.0</c:v>
                </c:pt>
                <c:pt idx="34">
                  <c:v>0.0</c:v>
                </c:pt>
                <c:pt idx="35">
                  <c:v>0.0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Sheet1!$B$39</c:f>
              <c:strCache>
                <c:ptCount val="1"/>
                <c:pt idx="0">
                  <c:v>Ходьба</c:v>
                </c:pt>
              </c:strCache>
            </c:strRef>
          </c:tx>
          <c:spPr>
            <a:ln w="28575">
              <a:solidFill>
                <a:srgbClr val="3C8A1E"/>
              </a:solidFill>
            </a:ln>
          </c:spPr>
          <c:marker>
            <c:symbol val="none"/>
          </c:marker>
          <c:xVal>
            <c:numRef>
              <c:f>Sheet1!$A$40:$A$75</c:f>
              <c:numCache>
                <c:formatCode>General</c:formatCode>
                <c:ptCount val="36"/>
                <c:pt idx="0">
                  <c:v>0.07</c:v>
                </c:pt>
                <c:pt idx="1">
                  <c:v>0.2</c:v>
                </c:pt>
                <c:pt idx="2">
                  <c:v>0.34</c:v>
                </c:pt>
                <c:pt idx="3">
                  <c:v>0.47</c:v>
                </c:pt>
                <c:pt idx="4">
                  <c:v>0.61</c:v>
                </c:pt>
                <c:pt idx="5">
                  <c:v>0.74</c:v>
                </c:pt>
                <c:pt idx="6">
                  <c:v>0.88</c:v>
                </c:pt>
                <c:pt idx="7">
                  <c:v>1.01</c:v>
                </c:pt>
                <c:pt idx="8">
                  <c:v>1.15</c:v>
                </c:pt>
                <c:pt idx="9">
                  <c:v>1.28</c:v>
                </c:pt>
                <c:pt idx="10">
                  <c:v>1.42</c:v>
                </c:pt>
                <c:pt idx="11">
                  <c:v>1.55</c:v>
                </c:pt>
                <c:pt idx="12">
                  <c:v>1.69</c:v>
                </c:pt>
                <c:pt idx="13">
                  <c:v>1.82</c:v>
                </c:pt>
                <c:pt idx="14">
                  <c:v>1.95</c:v>
                </c:pt>
                <c:pt idx="15">
                  <c:v>2.09</c:v>
                </c:pt>
                <c:pt idx="16">
                  <c:v>2.22</c:v>
                </c:pt>
                <c:pt idx="17">
                  <c:v>2.36</c:v>
                </c:pt>
                <c:pt idx="18">
                  <c:v>2.49</c:v>
                </c:pt>
                <c:pt idx="19">
                  <c:v>2.63</c:v>
                </c:pt>
                <c:pt idx="20">
                  <c:v>2.76</c:v>
                </c:pt>
                <c:pt idx="21">
                  <c:v>2.9</c:v>
                </c:pt>
                <c:pt idx="22">
                  <c:v>3.03</c:v>
                </c:pt>
                <c:pt idx="23">
                  <c:v>3.17</c:v>
                </c:pt>
                <c:pt idx="24">
                  <c:v>3.3</c:v>
                </c:pt>
                <c:pt idx="25">
                  <c:v>3.44</c:v>
                </c:pt>
                <c:pt idx="26">
                  <c:v>3.57</c:v>
                </c:pt>
                <c:pt idx="27">
                  <c:v>3.7</c:v>
                </c:pt>
                <c:pt idx="28">
                  <c:v>3.84</c:v>
                </c:pt>
                <c:pt idx="29">
                  <c:v>3.97</c:v>
                </c:pt>
                <c:pt idx="30">
                  <c:v>4.11</c:v>
                </c:pt>
                <c:pt idx="31">
                  <c:v>4.24</c:v>
                </c:pt>
                <c:pt idx="32">
                  <c:v>4.38</c:v>
                </c:pt>
                <c:pt idx="33">
                  <c:v>4.51</c:v>
                </c:pt>
                <c:pt idx="34">
                  <c:v>4.65</c:v>
                </c:pt>
                <c:pt idx="35">
                  <c:v>4.78</c:v>
                </c:pt>
              </c:numCache>
            </c:numRef>
          </c:xVal>
          <c:yVal>
            <c:numRef>
              <c:f>Sheet1!$B$40:$B$75</c:f>
              <c:numCache>
                <c:formatCode>General</c:formatCode>
                <c:ptCount val="36"/>
                <c:pt idx="0">
                  <c:v>0.0993</c:v>
                </c:pt>
                <c:pt idx="1">
                  <c:v>0.0295</c:v>
                </c:pt>
                <c:pt idx="2">
                  <c:v>0.0491</c:v>
                </c:pt>
                <c:pt idx="3">
                  <c:v>0.0645</c:v>
                </c:pt>
                <c:pt idx="4">
                  <c:v>0.13</c:v>
                </c:pt>
                <c:pt idx="5">
                  <c:v>0.2828</c:v>
                </c:pt>
                <c:pt idx="6">
                  <c:v>0.497</c:v>
                </c:pt>
                <c:pt idx="7">
                  <c:v>0.8185</c:v>
                </c:pt>
                <c:pt idx="8">
                  <c:v>1.0</c:v>
                </c:pt>
                <c:pt idx="9">
                  <c:v>0.9198</c:v>
                </c:pt>
                <c:pt idx="10">
                  <c:v>0.8297</c:v>
                </c:pt>
                <c:pt idx="11">
                  <c:v>0.7023</c:v>
                </c:pt>
                <c:pt idx="12">
                  <c:v>0.6263</c:v>
                </c:pt>
                <c:pt idx="13">
                  <c:v>0.5059</c:v>
                </c:pt>
                <c:pt idx="14">
                  <c:v>0.4247</c:v>
                </c:pt>
                <c:pt idx="15">
                  <c:v>0.3173</c:v>
                </c:pt>
                <c:pt idx="16">
                  <c:v>0.2677</c:v>
                </c:pt>
                <c:pt idx="17">
                  <c:v>0.2275</c:v>
                </c:pt>
                <c:pt idx="18">
                  <c:v>0.1959</c:v>
                </c:pt>
                <c:pt idx="19">
                  <c:v>0.1852</c:v>
                </c:pt>
                <c:pt idx="20">
                  <c:v>0.1716</c:v>
                </c:pt>
                <c:pt idx="21">
                  <c:v>0.1207</c:v>
                </c:pt>
                <c:pt idx="22">
                  <c:v>0.0875</c:v>
                </c:pt>
                <c:pt idx="23">
                  <c:v>0.0604</c:v>
                </c:pt>
                <c:pt idx="24">
                  <c:v>0.0387</c:v>
                </c:pt>
                <c:pt idx="25">
                  <c:v>0.0199</c:v>
                </c:pt>
                <c:pt idx="26">
                  <c:v>0.0086</c:v>
                </c:pt>
                <c:pt idx="27">
                  <c:v>0.0026</c:v>
                </c:pt>
                <c:pt idx="28">
                  <c:v>0.0003</c:v>
                </c:pt>
                <c:pt idx="29">
                  <c:v>0.0003</c:v>
                </c:pt>
                <c:pt idx="30">
                  <c:v>0.0</c:v>
                </c:pt>
                <c:pt idx="31">
                  <c:v>0.0</c:v>
                </c:pt>
                <c:pt idx="32">
                  <c:v>0.0</c:v>
                </c:pt>
                <c:pt idx="33">
                  <c:v>0.0</c:v>
                </c:pt>
                <c:pt idx="34">
                  <c:v>0.0</c:v>
                </c:pt>
                <c:pt idx="35">
                  <c:v>0.0</c:v>
                </c:pt>
              </c:numCache>
            </c:numRef>
          </c:yVal>
          <c:smooth val="0"/>
        </c:ser>
        <c:ser>
          <c:idx val="2"/>
          <c:order val="2"/>
          <c:tx>
            <c:strRef>
              <c:f>Sheet1!$B$77</c:f>
              <c:strCache>
                <c:ptCount val="1"/>
                <c:pt idx="0">
                  <c:v>Бег</c:v>
                </c:pt>
              </c:strCache>
            </c:strRef>
          </c:tx>
          <c:spPr>
            <a:ln w="28575">
              <a:solidFill>
                <a:srgbClr val="D8602A"/>
              </a:solidFill>
            </a:ln>
          </c:spPr>
          <c:marker>
            <c:symbol val="none"/>
          </c:marker>
          <c:xVal>
            <c:numRef>
              <c:f>Sheet1!$A$78:$A$113</c:f>
              <c:numCache>
                <c:formatCode>General</c:formatCode>
                <c:ptCount val="36"/>
                <c:pt idx="0">
                  <c:v>0.07</c:v>
                </c:pt>
                <c:pt idx="1">
                  <c:v>0.2</c:v>
                </c:pt>
                <c:pt idx="2">
                  <c:v>0.34</c:v>
                </c:pt>
                <c:pt idx="3">
                  <c:v>0.47</c:v>
                </c:pt>
                <c:pt idx="4">
                  <c:v>0.61</c:v>
                </c:pt>
                <c:pt idx="5">
                  <c:v>0.74</c:v>
                </c:pt>
                <c:pt idx="6">
                  <c:v>0.88</c:v>
                </c:pt>
                <c:pt idx="7">
                  <c:v>1.01</c:v>
                </c:pt>
                <c:pt idx="8">
                  <c:v>1.15</c:v>
                </c:pt>
                <c:pt idx="9">
                  <c:v>1.28</c:v>
                </c:pt>
                <c:pt idx="10">
                  <c:v>1.42</c:v>
                </c:pt>
                <c:pt idx="11">
                  <c:v>1.55</c:v>
                </c:pt>
                <c:pt idx="12">
                  <c:v>1.69</c:v>
                </c:pt>
                <c:pt idx="13">
                  <c:v>1.82</c:v>
                </c:pt>
                <c:pt idx="14">
                  <c:v>1.95</c:v>
                </c:pt>
                <c:pt idx="15">
                  <c:v>2.09</c:v>
                </c:pt>
                <c:pt idx="16">
                  <c:v>2.22</c:v>
                </c:pt>
                <c:pt idx="17">
                  <c:v>2.36</c:v>
                </c:pt>
                <c:pt idx="18">
                  <c:v>2.49</c:v>
                </c:pt>
                <c:pt idx="19">
                  <c:v>2.63</c:v>
                </c:pt>
                <c:pt idx="20">
                  <c:v>2.76</c:v>
                </c:pt>
                <c:pt idx="21">
                  <c:v>2.9</c:v>
                </c:pt>
                <c:pt idx="22">
                  <c:v>3.03</c:v>
                </c:pt>
                <c:pt idx="23">
                  <c:v>3.17</c:v>
                </c:pt>
                <c:pt idx="24">
                  <c:v>3.3</c:v>
                </c:pt>
                <c:pt idx="25">
                  <c:v>3.44</c:v>
                </c:pt>
                <c:pt idx="26">
                  <c:v>3.57</c:v>
                </c:pt>
                <c:pt idx="27">
                  <c:v>3.7</c:v>
                </c:pt>
                <c:pt idx="28">
                  <c:v>3.84</c:v>
                </c:pt>
                <c:pt idx="29">
                  <c:v>3.97</c:v>
                </c:pt>
                <c:pt idx="30">
                  <c:v>4.11</c:v>
                </c:pt>
                <c:pt idx="31">
                  <c:v>4.24</c:v>
                </c:pt>
                <c:pt idx="32">
                  <c:v>4.38</c:v>
                </c:pt>
                <c:pt idx="33">
                  <c:v>4.51</c:v>
                </c:pt>
                <c:pt idx="34">
                  <c:v>4.65</c:v>
                </c:pt>
                <c:pt idx="35">
                  <c:v>4.78</c:v>
                </c:pt>
              </c:numCache>
            </c:numRef>
          </c:xVal>
          <c:yVal>
            <c:numRef>
              <c:f>Sheet1!$B$78:$B$113</c:f>
              <c:numCache>
                <c:formatCode>General</c:formatCode>
                <c:ptCount val="36"/>
                <c:pt idx="0">
                  <c:v>1.0</c:v>
                </c:pt>
                <c:pt idx="1">
                  <c:v>0.143</c:v>
                </c:pt>
                <c:pt idx="2">
                  <c:v>0.0613</c:v>
                </c:pt>
                <c:pt idx="3">
                  <c:v>0.0438</c:v>
                </c:pt>
                <c:pt idx="4">
                  <c:v>0.0388</c:v>
                </c:pt>
                <c:pt idx="5">
                  <c:v>0.0356</c:v>
                </c:pt>
                <c:pt idx="6">
                  <c:v>0.0295</c:v>
                </c:pt>
                <c:pt idx="7">
                  <c:v>0.0347</c:v>
                </c:pt>
                <c:pt idx="8">
                  <c:v>0.0213</c:v>
                </c:pt>
                <c:pt idx="9">
                  <c:v>0.0278</c:v>
                </c:pt>
                <c:pt idx="10">
                  <c:v>0.0319</c:v>
                </c:pt>
                <c:pt idx="11">
                  <c:v>0.0397</c:v>
                </c:pt>
                <c:pt idx="12">
                  <c:v>0.0466</c:v>
                </c:pt>
                <c:pt idx="13">
                  <c:v>0.0752</c:v>
                </c:pt>
                <c:pt idx="14">
                  <c:v>0.1124</c:v>
                </c:pt>
                <c:pt idx="15">
                  <c:v>0.1742</c:v>
                </c:pt>
                <c:pt idx="16">
                  <c:v>0.2048</c:v>
                </c:pt>
                <c:pt idx="17">
                  <c:v>0.2551</c:v>
                </c:pt>
                <c:pt idx="18">
                  <c:v>0.3054</c:v>
                </c:pt>
                <c:pt idx="19">
                  <c:v>0.3496</c:v>
                </c:pt>
                <c:pt idx="20">
                  <c:v>0.4072</c:v>
                </c:pt>
                <c:pt idx="21">
                  <c:v>0.5029</c:v>
                </c:pt>
                <c:pt idx="22">
                  <c:v>0.5609</c:v>
                </c:pt>
                <c:pt idx="23">
                  <c:v>0.6493</c:v>
                </c:pt>
                <c:pt idx="24">
                  <c:v>0.7429</c:v>
                </c:pt>
                <c:pt idx="25">
                  <c:v>0.7224</c:v>
                </c:pt>
                <c:pt idx="26">
                  <c:v>0.7248</c:v>
                </c:pt>
                <c:pt idx="27">
                  <c:v>0.7121</c:v>
                </c:pt>
                <c:pt idx="28">
                  <c:v>0.6946</c:v>
                </c:pt>
                <c:pt idx="29">
                  <c:v>0.6484</c:v>
                </c:pt>
                <c:pt idx="30">
                  <c:v>0.6194</c:v>
                </c:pt>
                <c:pt idx="31">
                  <c:v>0.554</c:v>
                </c:pt>
                <c:pt idx="32">
                  <c:v>0.4837</c:v>
                </c:pt>
                <c:pt idx="33">
                  <c:v>0.408</c:v>
                </c:pt>
                <c:pt idx="34">
                  <c:v>0.3177</c:v>
                </c:pt>
                <c:pt idx="35">
                  <c:v>0.2821</c:v>
                </c:pt>
              </c:numCache>
            </c:numRef>
          </c:yVal>
          <c:smooth val="0"/>
        </c:ser>
        <c:ser>
          <c:idx val="3"/>
          <c:order val="3"/>
          <c:tx>
            <c:strRef>
              <c:f>Sheet1!$B$115</c:f>
              <c:strCache>
                <c:ptCount val="1"/>
                <c:pt idx="0">
                  <c:v>Подъём</c:v>
                </c:pt>
              </c:strCache>
            </c:strRef>
          </c:tx>
          <c:spPr>
            <a:ln w="28575">
              <a:solidFill>
                <a:srgbClr val="2D5FA8"/>
              </a:solidFill>
            </a:ln>
          </c:spPr>
          <c:marker>
            <c:symbol val="none"/>
          </c:marker>
          <c:xVal>
            <c:numRef>
              <c:f>Sheet1!$A$116:$A$151</c:f>
              <c:numCache>
                <c:formatCode>General</c:formatCode>
                <c:ptCount val="36"/>
                <c:pt idx="0">
                  <c:v>0.07</c:v>
                </c:pt>
                <c:pt idx="1">
                  <c:v>0.2</c:v>
                </c:pt>
                <c:pt idx="2">
                  <c:v>0.34</c:v>
                </c:pt>
                <c:pt idx="3">
                  <c:v>0.47</c:v>
                </c:pt>
                <c:pt idx="4">
                  <c:v>0.61</c:v>
                </c:pt>
                <c:pt idx="5">
                  <c:v>0.74</c:v>
                </c:pt>
                <c:pt idx="6">
                  <c:v>0.88</c:v>
                </c:pt>
                <c:pt idx="7">
                  <c:v>1.01</c:v>
                </c:pt>
                <c:pt idx="8">
                  <c:v>1.15</c:v>
                </c:pt>
                <c:pt idx="9">
                  <c:v>1.28</c:v>
                </c:pt>
                <c:pt idx="10">
                  <c:v>1.42</c:v>
                </c:pt>
                <c:pt idx="11">
                  <c:v>1.55</c:v>
                </c:pt>
                <c:pt idx="12">
                  <c:v>1.69</c:v>
                </c:pt>
                <c:pt idx="13">
                  <c:v>1.82</c:v>
                </c:pt>
                <c:pt idx="14">
                  <c:v>1.95</c:v>
                </c:pt>
                <c:pt idx="15">
                  <c:v>2.09</c:v>
                </c:pt>
                <c:pt idx="16">
                  <c:v>2.22</c:v>
                </c:pt>
                <c:pt idx="17">
                  <c:v>2.36</c:v>
                </c:pt>
                <c:pt idx="18">
                  <c:v>2.49</c:v>
                </c:pt>
                <c:pt idx="19">
                  <c:v>2.63</c:v>
                </c:pt>
                <c:pt idx="20">
                  <c:v>2.76</c:v>
                </c:pt>
                <c:pt idx="21">
                  <c:v>2.9</c:v>
                </c:pt>
                <c:pt idx="22">
                  <c:v>3.03</c:v>
                </c:pt>
                <c:pt idx="23">
                  <c:v>3.17</c:v>
                </c:pt>
                <c:pt idx="24">
                  <c:v>3.3</c:v>
                </c:pt>
                <c:pt idx="25">
                  <c:v>3.44</c:v>
                </c:pt>
                <c:pt idx="26">
                  <c:v>3.57</c:v>
                </c:pt>
                <c:pt idx="27">
                  <c:v>3.7</c:v>
                </c:pt>
                <c:pt idx="28">
                  <c:v>3.84</c:v>
                </c:pt>
                <c:pt idx="29">
                  <c:v>3.97</c:v>
                </c:pt>
                <c:pt idx="30">
                  <c:v>4.11</c:v>
                </c:pt>
                <c:pt idx="31">
                  <c:v>4.24</c:v>
                </c:pt>
                <c:pt idx="32">
                  <c:v>4.38</c:v>
                </c:pt>
                <c:pt idx="33">
                  <c:v>4.51</c:v>
                </c:pt>
                <c:pt idx="34">
                  <c:v>4.65</c:v>
                </c:pt>
                <c:pt idx="35">
                  <c:v>4.78</c:v>
                </c:pt>
              </c:numCache>
            </c:numRef>
          </c:xVal>
          <c:yVal>
            <c:numRef>
              <c:f>Sheet1!$B$116:$B$151</c:f>
              <c:numCache>
                <c:formatCode>General</c:formatCode>
                <c:ptCount val="36"/>
                <c:pt idx="0">
                  <c:v>0.2821</c:v>
                </c:pt>
                <c:pt idx="1">
                  <c:v>0.0647</c:v>
                </c:pt>
                <c:pt idx="2">
                  <c:v>0.0749</c:v>
                </c:pt>
                <c:pt idx="3">
                  <c:v>0.138</c:v>
                </c:pt>
                <c:pt idx="4">
                  <c:v>0.2549</c:v>
                </c:pt>
                <c:pt idx="5">
                  <c:v>0.3899</c:v>
                </c:pt>
                <c:pt idx="6">
                  <c:v>0.5424</c:v>
                </c:pt>
                <c:pt idx="7">
                  <c:v>0.7328</c:v>
                </c:pt>
                <c:pt idx="8">
                  <c:v>0.8997</c:v>
                </c:pt>
                <c:pt idx="9">
                  <c:v>1.0</c:v>
                </c:pt>
                <c:pt idx="10">
                  <c:v>0.9872</c:v>
                </c:pt>
                <c:pt idx="11">
                  <c:v>0.869</c:v>
                </c:pt>
                <c:pt idx="12">
                  <c:v>0.7332</c:v>
                </c:pt>
                <c:pt idx="13">
                  <c:v>0.5036</c:v>
                </c:pt>
                <c:pt idx="14">
                  <c:v>0.3457</c:v>
                </c:pt>
                <c:pt idx="15">
                  <c:v>0.2385</c:v>
                </c:pt>
                <c:pt idx="16">
                  <c:v>0.1561</c:v>
                </c:pt>
                <c:pt idx="17">
                  <c:v>0.1233</c:v>
                </c:pt>
                <c:pt idx="18">
                  <c:v>0.0731</c:v>
                </c:pt>
                <c:pt idx="19">
                  <c:v>0.0481</c:v>
                </c:pt>
                <c:pt idx="20">
                  <c:v>0.0337</c:v>
                </c:pt>
                <c:pt idx="21">
                  <c:v>0.02</c:v>
                </c:pt>
                <c:pt idx="22">
                  <c:v>0.012</c:v>
                </c:pt>
                <c:pt idx="23">
                  <c:v>0.0072</c:v>
                </c:pt>
                <c:pt idx="24">
                  <c:v>0.0024</c:v>
                </c:pt>
                <c:pt idx="25">
                  <c:v>0.0015</c:v>
                </c:pt>
                <c:pt idx="26">
                  <c:v>0.0015</c:v>
                </c:pt>
                <c:pt idx="27">
                  <c:v>0.0015</c:v>
                </c:pt>
                <c:pt idx="28">
                  <c:v>0.0</c:v>
                </c:pt>
                <c:pt idx="29">
                  <c:v>0.0003</c:v>
                </c:pt>
                <c:pt idx="30">
                  <c:v>0.0006</c:v>
                </c:pt>
                <c:pt idx="31">
                  <c:v>0.0</c:v>
                </c:pt>
                <c:pt idx="32">
                  <c:v>0.0</c:v>
                </c:pt>
                <c:pt idx="33">
                  <c:v>0.0</c:v>
                </c:pt>
                <c:pt idx="34">
                  <c:v>0.0</c:v>
                </c:pt>
                <c:pt idx="35">
                  <c:v>0.0</c:v>
                </c:pt>
              </c:numCache>
            </c:numRef>
          </c:yVal>
          <c:smooth val="0"/>
        </c:ser>
        <c:ser>
          <c:idx val="4"/>
          <c:order val="4"/>
          <c:tx>
            <c:strRef>
              <c:f>Sheet1!$B$153</c:f>
              <c:strCache>
                <c:ptCount val="1"/>
                <c:pt idx="0">
                  <c:v>Спуск</c:v>
                </c:pt>
              </c:strCache>
            </c:strRef>
          </c:tx>
          <c:spPr>
            <a:ln w="28575">
              <a:solidFill>
                <a:srgbClr val="7888E0"/>
              </a:solidFill>
            </a:ln>
          </c:spPr>
          <c:marker>
            <c:symbol val="none"/>
          </c:marker>
          <c:xVal>
            <c:numRef>
              <c:f>Sheet1!$A$154:$A$189</c:f>
              <c:numCache>
                <c:formatCode>General</c:formatCode>
                <c:ptCount val="36"/>
                <c:pt idx="0">
                  <c:v>0.07</c:v>
                </c:pt>
                <c:pt idx="1">
                  <c:v>0.2</c:v>
                </c:pt>
                <c:pt idx="2">
                  <c:v>0.34</c:v>
                </c:pt>
                <c:pt idx="3">
                  <c:v>0.47</c:v>
                </c:pt>
                <c:pt idx="4">
                  <c:v>0.61</c:v>
                </c:pt>
                <c:pt idx="5">
                  <c:v>0.74</c:v>
                </c:pt>
                <c:pt idx="6">
                  <c:v>0.88</c:v>
                </c:pt>
                <c:pt idx="7">
                  <c:v>1.01</c:v>
                </c:pt>
                <c:pt idx="8">
                  <c:v>1.15</c:v>
                </c:pt>
                <c:pt idx="9">
                  <c:v>1.28</c:v>
                </c:pt>
                <c:pt idx="10">
                  <c:v>1.42</c:v>
                </c:pt>
                <c:pt idx="11">
                  <c:v>1.55</c:v>
                </c:pt>
                <c:pt idx="12">
                  <c:v>1.69</c:v>
                </c:pt>
                <c:pt idx="13">
                  <c:v>1.82</c:v>
                </c:pt>
                <c:pt idx="14">
                  <c:v>1.95</c:v>
                </c:pt>
                <c:pt idx="15">
                  <c:v>2.09</c:v>
                </c:pt>
                <c:pt idx="16">
                  <c:v>2.22</c:v>
                </c:pt>
                <c:pt idx="17">
                  <c:v>2.36</c:v>
                </c:pt>
                <c:pt idx="18">
                  <c:v>2.49</c:v>
                </c:pt>
                <c:pt idx="19">
                  <c:v>2.63</c:v>
                </c:pt>
                <c:pt idx="20">
                  <c:v>2.76</c:v>
                </c:pt>
                <c:pt idx="21">
                  <c:v>2.9</c:v>
                </c:pt>
                <c:pt idx="22">
                  <c:v>3.03</c:v>
                </c:pt>
                <c:pt idx="23">
                  <c:v>3.17</c:v>
                </c:pt>
                <c:pt idx="24">
                  <c:v>3.3</c:v>
                </c:pt>
                <c:pt idx="25">
                  <c:v>3.44</c:v>
                </c:pt>
                <c:pt idx="26">
                  <c:v>3.57</c:v>
                </c:pt>
                <c:pt idx="27">
                  <c:v>3.7</c:v>
                </c:pt>
                <c:pt idx="28">
                  <c:v>3.84</c:v>
                </c:pt>
                <c:pt idx="29">
                  <c:v>3.97</c:v>
                </c:pt>
                <c:pt idx="30">
                  <c:v>4.11</c:v>
                </c:pt>
                <c:pt idx="31">
                  <c:v>4.24</c:v>
                </c:pt>
                <c:pt idx="32">
                  <c:v>4.38</c:v>
                </c:pt>
                <c:pt idx="33">
                  <c:v>4.51</c:v>
                </c:pt>
                <c:pt idx="34">
                  <c:v>4.65</c:v>
                </c:pt>
                <c:pt idx="35">
                  <c:v>4.78</c:v>
                </c:pt>
              </c:numCache>
            </c:numRef>
          </c:xVal>
          <c:yVal>
            <c:numRef>
              <c:f>Sheet1!$B$154:$B$189</c:f>
              <c:numCache>
                <c:formatCode>General</c:formatCode>
                <c:ptCount val="36"/>
                <c:pt idx="0">
                  <c:v>0.1905</c:v>
                </c:pt>
                <c:pt idx="1">
                  <c:v>0.0572</c:v>
                </c:pt>
                <c:pt idx="2">
                  <c:v>0.0752</c:v>
                </c:pt>
                <c:pt idx="3">
                  <c:v>0.1223</c:v>
                </c:pt>
                <c:pt idx="4">
                  <c:v>0.1975</c:v>
                </c:pt>
                <c:pt idx="5">
                  <c:v>0.3027</c:v>
                </c:pt>
                <c:pt idx="6">
                  <c:v>0.4558</c:v>
                </c:pt>
                <c:pt idx="7">
                  <c:v>0.5728</c:v>
                </c:pt>
                <c:pt idx="8">
                  <c:v>0.6762</c:v>
                </c:pt>
                <c:pt idx="9">
                  <c:v>0.7796</c:v>
                </c:pt>
                <c:pt idx="10">
                  <c:v>0.8429</c:v>
                </c:pt>
                <c:pt idx="11">
                  <c:v>0.8918</c:v>
                </c:pt>
                <c:pt idx="12">
                  <c:v>0.9507</c:v>
                </c:pt>
                <c:pt idx="13">
                  <c:v>1.0</c:v>
                </c:pt>
                <c:pt idx="14">
                  <c:v>0.9745</c:v>
                </c:pt>
                <c:pt idx="15">
                  <c:v>0.8724</c:v>
                </c:pt>
                <c:pt idx="16">
                  <c:v>0.7536</c:v>
                </c:pt>
                <c:pt idx="17">
                  <c:v>0.6344</c:v>
                </c:pt>
                <c:pt idx="18">
                  <c:v>0.546</c:v>
                </c:pt>
                <c:pt idx="19">
                  <c:v>0.4061</c:v>
                </c:pt>
                <c:pt idx="20">
                  <c:v>0.3101</c:v>
                </c:pt>
                <c:pt idx="21">
                  <c:v>0.2442</c:v>
                </c:pt>
                <c:pt idx="22">
                  <c:v>0.1808</c:v>
                </c:pt>
                <c:pt idx="23">
                  <c:v>0.1245</c:v>
                </c:pt>
                <c:pt idx="24">
                  <c:v>0.0858</c:v>
                </c:pt>
                <c:pt idx="25">
                  <c:v>0.058</c:v>
                </c:pt>
                <c:pt idx="26">
                  <c:v>0.0325</c:v>
                </c:pt>
                <c:pt idx="27">
                  <c:v>0.0172</c:v>
                </c:pt>
                <c:pt idx="28">
                  <c:v>0.0093</c:v>
                </c:pt>
                <c:pt idx="29">
                  <c:v>0.0035</c:v>
                </c:pt>
                <c:pt idx="30">
                  <c:v>0.0017</c:v>
                </c:pt>
                <c:pt idx="31">
                  <c:v>0.0017</c:v>
                </c:pt>
                <c:pt idx="32">
                  <c:v>0.0005</c:v>
                </c:pt>
                <c:pt idx="33">
                  <c:v>0.0009</c:v>
                </c:pt>
                <c:pt idx="34">
                  <c:v>0.0</c:v>
                </c:pt>
                <c:pt idx="35">
                  <c:v>0.0005</c:v>
                </c:pt>
              </c:numCache>
            </c:numRef>
          </c:yVal>
          <c:smooth val="0"/>
        </c:ser>
        <c:ser>
          <c:idx val="5"/>
          <c:order val="5"/>
          <c:tx>
            <c:strRef>
              <c:f>Sheet1!$B$191</c:f>
              <c:strCache>
                <c:ptCount val="1"/>
                <c:pt idx="0">
                  <c:v>Велосипед</c:v>
                </c:pt>
              </c:strCache>
            </c:strRef>
          </c:tx>
          <c:spPr>
            <a:ln w="28575">
              <a:solidFill>
                <a:srgbClr val="C08600"/>
              </a:solidFill>
            </a:ln>
          </c:spPr>
          <c:marker>
            <c:symbol val="none"/>
          </c:marker>
          <c:xVal>
            <c:numRef>
              <c:f>Sheet1!$A$192:$A$227</c:f>
              <c:numCache>
                <c:formatCode>General</c:formatCode>
                <c:ptCount val="36"/>
                <c:pt idx="0">
                  <c:v>0.07</c:v>
                </c:pt>
                <c:pt idx="1">
                  <c:v>0.2</c:v>
                </c:pt>
                <c:pt idx="2">
                  <c:v>0.34</c:v>
                </c:pt>
                <c:pt idx="3">
                  <c:v>0.47</c:v>
                </c:pt>
                <c:pt idx="4">
                  <c:v>0.61</c:v>
                </c:pt>
                <c:pt idx="5">
                  <c:v>0.74</c:v>
                </c:pt>
                <c:pt idx="6">
                  <c:v>0.88</c:v>
                </c:pt>
                <c:pt idx="7">
                  <c:v>1.01</c:v>
                </c:pt>
                <c:pt idx="8">
                  <c:v>1.15</c:v>
                </c:pt>
                <c:pt idx="9">
                  <c:v>1.28</c:v>
                </c:pt>
                <c:pt idx="10">
                  <c:v>1.42</c:v>
                </c:pt>
                <c:pt idx="11">
                  <c:v>1.55</c:v>
                </c:pt>
                <c:pt idx="12">
                  <c:v>1.69</c:v>
                </c:pt>
                <c:pt idx="13">
                  <c:v>1.82</c:v>
                </c:pt>
                <c:pt idx="14">
                  <c:v>1.95</c:v>
                </c:pt>
                <c:pt idx="15">
                  <c:v>2.09</c:v>
                </c:pt>
                <c:pt idx="16">
                  <c:v>2.22</c:v>
                </c:pt>
                <c:pt idx="17">
                  <c:v>2.36</c:v>
                </c:pt>
                <c:pt idx="18">
                  <c:v>2.49</c:v>
                </c:pt>
                <c:pt idx="19">
                  <c:v>2.63</c:v>
                </c:pt>
                <c:pt idx="20">
                  <c:v>2.76</c:v>
                </c:pt>
                <c:pt idx="21">
                  <c:v>2.9</c:v>
                </c:pt>
                <c:pt idx="22">
                  <c:v>3.03</c:v>
                </c:pt>
                <c:pt idx="23">
                  <c:v>3.17</c:v>
                </c:pt>
                <c:pt idx="24">
                  <c:v>3.3</c:v>
                </c:pt>
                <c:pt idx="25">
                  <c:v>3.44</c:v>
                </c:pt>
                <c:pt idx="26">
                  <c:v>3.57</c:v>
                </c:pt>
                <c:pt idx="27">
                  <c:v>3.7</c:v>
                </c:pt>
                <c:pt idx="28">
                  <c:v>3.84</c:v>
                </c:pt>
                <c:pt idx="29">
                  <c:v>3.97</c:v>
                </c:pt>
                <c:pt idx="30">
                  <c:v>4.11</c:v>
                </c:pt>
                <c:pt idx="31">
                  <c:v>4.24</c:v>
                </c:pt>
                <c:pt idx="32">
                  <c:v>4.38</c:v>
                </c:pt>
                <c:pt idx="33">
                  <c:v>4.51</c:v>
                </c:pt>
                <c:pt idx="34">
                  <c:v>4.65</c:v>
                </c:pt>
                <c:pt idx="35">
                  <c:v>4.78</c:v>
                </c:pt>
              </c:numCache>
            </c:numRef>
          </c:xVal>
          <c:yVal>
            <c:numRef>
              <c:f>Sheet1!$B$192:$B$227</c:f>
              <c:numCache>
                <c:formatCode>General</c:formatCode>
                <c:ptCount val="36"/>
                <c:pt idx="0">
                  <c:v>0.4121</c:v>
                </c:pt>
                <c:pt idx="1">
                  <c:v>1.0</c:v>
                </c:pt>
                <c:pt idx="2">
                  <c:v>0.9166</c:v>
                </c:pt>
                <c:pt idx="3">
                  <c:v>0.6444</c:v>
                </c:pt>
                <c:pt idx="4">
                  <c:v>0.5</c:v>
                </c:pt>
                <c:pt idx="5">
                  <c:v>0.561</c:v>
                </c:pt>
                <c:pt idx="6">
                  <c:v>0.4557</c:v>
                </c:pt>
                <c:pt idx="7">
                  <c:v>0.2921</c:v>
                </c:pt>
                <c:pt idx="8">
                  <c:v>0.147</c:v>
                </c:pt>
                <c:pt idx="9">
                  <c:v>0.0944</c:v>
                </c:pt>
                <c:pt idx="10">
                  <c:v>0.0494</c:v>
                </c:pt>
                <c:pt idx="11">
                  <c:v>0.0301</c:v>
                </c:pt>
                <c:pt idx="12">
                  <c:v>0.0301</c:v>
                </c:pt>
                <c:pt idx="13">
                  <c:v>0.0636</c:v>
                </c:pt>
                <c:pt idx="14">
                  <c:v>0.0699</c:v>
                </c:pt>
                <c:pt idx="15">
                  <c:v>0.0443</c:v>
                </c:pt>
                <c:pt idx="16">
                  <c:v>0.0064</c:v>
                </c:pt>
                <c:pt idx="17">
                  <c:v>0.0039</c:v>
                </c:pt>
                <c:pt idx="18">
                  <c:v>0.0007</c:v>
                </c:pt>
                <c:pt idx="19">
                  <c:v>0.0032</c:v>
                </c:pt>
                <c:pt idx="20">
                  <c:v>0.0019</c:v>
                </c:pt>
                <c:pt idx="21">
                  <c:v>0.0026</c:v>
                </c:pt>
                <c:pt idx="22">
                  <c:v>0.0039</c:v>
                </c:pt>
                <c:pt idx="23">
                  <c:v>0.0032</c:v>
                </c:pt>
                <c:pt idx="24">
                  <c:v>0.0007</c:v>
                </c:pt>
                <c:pt idx="25">
                  <c:v>0.0007</c:v>
                </c:pt>
                <c:pt idx="26">
                  <c:v>0.0007</c:v>
                </c:pt>
                <c:pt idx="27">
                  <c:v>0.0</c:v>
                </c:pt>
                <c:pt idx="28">
                  <c:v>0.0</c:v>
                </c:pt>
                <c:pt idx="29">
                  <c:v>0.0</c:v>
                </c:pt>
                <c:pt idx="30">
                  <c:v>0.0</c:v>
                </c:pt>
                <c:pt idx="31">
                  <c:v>0.0</c:v>
                </c:pt>
                <c:pt idx="32">
                  <c:v>0.0</c:v>
                </c:pt>
                <c:pt idx="33">
                  <c:v>0.0</c:v>
                </c:pt>
                <c:pt idx="34">
                  <c:v>0.0</c:v>
                </c:pt>
                <c:pt idx="35">
                  <c:v>0.0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  <c:max val="4.85"/>
          <c:min val="0.0"/>
        </c:scaling>
        <c:delete val="0"/>
        <c:axPos val="b"/>
        <c:numFmt formatCode="0" sourceLinked="0"/>
        <c:majorTickMark val="out"/>
        <c:minorTickMark val="none"/>
        <c:tickLblPos val="low"/>
        <c:spPr>
          <a:ln w="9525">
            <a:solidFill>
              <a:srgbClr val="C9D0DB"/>
            </a:solidFill>
          </a:ln>
        </c:spPr>
        <c:txPr>
          <a:bodyPr/>
          <a:lstStyle/>
          <a:p>
            <a:pPr>
              <a:defRPr sz="900">
                <a:solidFill>
                  <a:srgbClr val="5B6475"/>
                </a:solidFill>
              </a:defRPr>
            </a:pPr>
          </a:p>
        </c:txPr>
        <c:crossAx val="-2129643912"/>
        <c:crosses val="autoZero"/>
        <c:crossBetween val="midCat"/>
        <c:majorUnit val="1.0"/>
      </c:valAx>
      <c:valAx>
        <c:axId val="-2129643912"/>
        <c:scaling>
          <c:orientation val="minMax"/>
          <c:max val="1.08"/>
          <c:min val="0.0"/>
        </c:scaling>
        <c:delete/>
        <c:axPos val="l"/>
        <c:numFmt formatCode="General" sourceLinked="1"/>
        <c:majorTickMark val="out"/>
        <c:minorTickMark val="none"/>
        <c:tickLblPos val="nextTo"/>
        <c:crossAx val="-2128940872"/>
        <c:crosses val="autoZero"/>
        <c:crossBetween val="midCat"/>
      </c:valAx>
    </c:plotArea>
    <c:plotVisOnly val="1"/>
    <c:dispBlanksAs val="gap"/>
    <c:showDLblsOverMax val="0"/>
  </c:chart>
  <c:txPr>
    <a:bodyPr/>
    <a:lstStyle/>
    <a:p>
      <a:pPr>
        <a:defRPr sz="900">
          <a:latin typeface="Segoe UI"/>
        </a:defRPr>
      </a:pPr>
      <a:endParaRPr lang="en-US"/>
    </a:p>
  </c:txPr>
  <c:externalData r:id="rId1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Покой</c:v>
                </c:pt>
              </c:strCache>
            </c:strRef>
          </c:tx>
          <c:spPr>
            <a:ln w="28575">
              <a:solidFill>
                <a:srgbClr val="8C96A8"/>
              </a:solidFill>
              <a:prstDash val="dash"/>
            </a:ln>
          </c:spPr>
          <c:marker>
            <c:symbol val="none"/>
          </c:marker>
          <c:xVal>
            <c:numRef>
              <c:f>Sheet1!$A$2:$A$37</c:f>
              <c:numCache>
                <c:formatCode>General</c:formatCode>
                <c:ptCount val="36"/>
                <c:pt idx="0">
                  <c:v>0.56</c:v>
                </c:pt>
                <c:pt idx="1">
                  <c:v>0.69</c:v>
                </c:pt>
                <c:pt idx="2">
                  <c:v>0.81</c:v>
                </c:pt>
                <c:pt idx="3">
                  <c:v>0.94</c:v>
                </c:pt>
                <c:pt idx="4">
                  <c:v>1.06</c:v>
                </c:pt>
                <c:pt idx="5">
                  <c:v>1.19</c:v>
                </c:pt>
                <c:pt idx="6">
                  <c:v>1.31</c:v>
                </c:pt>
                <c:pt idx="7">
                  <c:v>1.44</c:v>
                </c:pt>
                <c:pt idx="8">
                  <c:v>1.56</c:v>
                </c:pt>
                <c:pt idx="9">
                  <c:v>1.69</c:v>
                </c:pt>
                <c:pt idx="10">
                  <c:v>1.81</c:v>
                </c:pt>
                <c:pt idx="11">
                  <c:v>1.94</c:v>
                </c:pt>
                <c:pt idx="12">
                  <c:v>2.06</c:v>
                </c:pt>
                <c:pt idx="13">
                  <c:v>2.19</c:v>
                </c:pt>
                <c:pt idx="14">
                  <c:v>2.31</c:v>
                </c:pt>
                <c:pt idx="15">
                  <c:v>2.44</c:v>
                </c:pt>
                <c:pt idx="16">
                  <c:v>2.56</c:v>
                </c:pt>
                <c:pt idx="17">
                  <c:v>2.69</c:v>
                </c:pt>
                <c:pt idx="18">
                  <c:v>2.81</c:v>
                </c:pt>
                <c:pt idx="19">
                  <c:v>2.94</c:v>
                </c:pt>
                <c:pt idx="20">
                  <c:v>3.06</c:v>
                </c:pt>
                <c:pt idx="21">
                  <c:v>3.19</c:v>
                </c:pt>
                <c:pt idx="22">
                  <c:v>3.31</c:v>
                </c:pt>
                <c:pt idx="23">
                  <c:v>3.44</c:v>
                </c:pt>
                <c:pt idx="24">
                  <c:v>3.56</c:v>
                </c:pt>
                <c:pt idx="25">
                  <c:v>3.69</c:v>
                </c:pt>
                <c:pt idx="26">
                  <c:v>3.81</c:v>
                </c:pt>
                <c:pt idx="27">
                  <c:v>3.94</c:v>
                </c:pt>
                <c:pt idx="28">
                  <c:v>4.06</c:v>
                </c:pt>
                <c:pt idx="29">
                  <c:v>4.19</c:v>
                </c:pt>
                <c:pt idx="30">
                  <c:v>4.31</c:v>
                </c:pt>
                <c:pt idx="31">
                  <c:v>4.44</c:v>
                </c:pt>
                <c:pt idx="32">
                  <c:v>4.56</c:v>
                </c:pt>
                <c:pt idx="33">
                  <c:v>4.69</c:v>
                </c:pt>
                <c:pt idx="34">
                  <c:v>4.81</c:v>
                </c:pt>
                <c:pt idx="35">
                  <c:v>4.94</c:v>
                </c:pt>
              </c:numCache>
            </c:numRef>
          </c:xVal>
          <c:yVal>
            <c:numRef>
              <c:f>Sheet1!$B$2:$B$37</c:f>
              <c:numCache>
                <c:formatCode>General</c:formatCode>
                <c:ptCount val="36"/>
                <c:pt idx="0">
                  <c:v>0.3813</c:v>
                </c:pt>
                <c:pt idx="1">
                  <c:v>0.3767</c:v>
                </c:pt>
                <c:pt idx="2">
                  <c:v>0.4434</c:v>
                </c:pt>
                <c:pt idx="3">
                  <c:v>0.4668</c:v>
                </c:pt>
                <c:pt idx="4">
                  <c:v>0.3718</c:v>
                </c:pt>
                <c:pt idx="5">
                  <c:v>0.5214</c:v>
                </c:pt>
                <c:pt idx="6">
                  <c:v>0.329</c:v>
                </c:pt>
                <c:pt idx="7">
                  <c:v>0.3687</c:v>
                </c:pt>
                <c:pt idx="8">
                  <c:v>0.6021</c:v>
                </c:pt>
                <c:pt idx="9">
                  <c:v>0.3893</c:v>
                </c:pt>
                <c:pt idx="10">
                  <c:v>0.3678</c:v>
                </c:pt>
                <c:pt idx="11">
                  <c:v>0.5764</c:v>
                </c:pt>
                <c:pt idx="12">
                  <c:v>0.459</c:v>
                </c:pt>
                <c:pt idx="13">
                  <c:v>0.3701</c:v>
                </c:pt>
                <c:pt idx="14">
                  <c:v>0.6444</c:v>
                </c:pt>
                <c:pt idx="15">
                  <c:v>0.5393</c:v>
                </c:pt>
                <c:pt idx="16">
                  <c:v>0.4129</c:v>
                </c:pt>
                <c:pt idx="17">
                  <c:v>0.723</c:v>
                </c:pt>
                <c:pt idx="18">
                  <c:v>0.7021</c:v>
                </c:pt>
                <c:pt idx="19">
                  <c:v>0.4224</c:v>
                </c:pt>
                <c:pt idx="20">
                  <c:v>0.7535</c:v>
                </c:pt>
                <c:pt idx="21">
                  <c:v>0.7335</c:v>
                </c:pt>
                <c:pt idx="22">
                  <c:v>0.4175</c:v>
                </c:pt>
                <c:pt idx="23">
                  <c:v>0.7466</c:v>
                </c:pt>
                <c:pt idx="24">
                  <c:v>0.819</c:v>
                </c:pt>
                <c:pt idx="25">
                  <c:v>0.4774</c:v>
                </c:pt>
                <c:pt idx="26">
                  <c:v>0.7177</c:v>
                </c:pt>
                <c:pt idx="27">
                  <c:v>0.9364</c:v>
                </c:pt>
                <c:pt idx="28">
                  <c:v>0.5536</c:v>
                </c:pt>
                <c:pt idx="29">
                  <c:v>0.7221</c:v>
                </c:pt>
                <c:pt idx="30">
                  <c:v>1.0</c:v>
                </c:pt>
                <c:pt idx="31">
                  <c:v>0.9067</c:v>
                </c:pt>
                <c:pt idx="32">
                  <c:v>0.5869</c:v>
                </c:pt>
                <c:pt idx="33">
                  <c:v>0.8631</c:v>
                </c:pt>
                <c:pt idx="34">
                  <c:v>0.6</c:v>
                </c:pt>
                <c:pt idx="35">
                  <c:v>0.7645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Sheet1!$B$39</c:f>
              <c:strCache>
                <c:ptCount val="1"/>
                <c:pt idx="0">
                  <c:v>Ходьба</c:v>
                </c:pt>
              </c:strCache>
            </c:strRef>
          </c:tx>
          <c:spPr>
            <a:ln w="28575">
              <a:solidFill>
                <a:srgbClr val="3C8A1E"/>
              </a:solidFill>
            </a:ln>
          </c:spPr>
          <c:marker>
            <c:symbol val="none"/>
          </c:marker>
          <c:xVal>
            <c:numRef>
              <c:f>Sheet1!$A$40:$A$75</c:f>
              <c:numCache>
                <c:formatCode>General</c:formatCode>
                <c:ptCount val="36"/>
                <c:pt idx="0">
                  <c:v>0.56</c:v>
                </c:pt>
                <c:pt idx="1">
                  <c:v>0.69</c:v>
                </c:pt>
                <c:pt idx="2">
                  <c:v>0.81</c:v>
                </c:pt>
                <c:pt idx="3">
                  <c:v>0.94</c:v>
                </c:pt>
                <c:pt idx="4">
                  <c:v>1.06</c:v>
                </c:pt>
                <c:pt idx="5">
                  <c:v>1.19</c:v>
                </c:pt>
                <c:pt idx="6">
                  <c:v>1.31</c:v>
                </c:pt>
                <c:pt idx="7">
                  <c:v>1.44</c:v>
                </c:pt>
                <c:pt idx="8">
                  <c:v>1.56</c:v>
                </c:pt>
                <c:pt idx="9">
                  <c:v>1.69</c:v>
                </c:pt>
                <c:pt idx="10">
                  <c:v>1.81</c:v>
                </c:pt>
                <c:pt idx="11">
                  <c:v>1.94</c:v>
                </c:pt>
                <c:pt idx="12">
                  <c:v>2.06</c:v>
                </c:pt>
                <c:pt idx="13">
                  <c:v>2.19</c:v>
                </c:pt>
                <c:pt idx="14">
                  <c:v>2.31</c:v>
                </c:pt>
                <c:pt idx="15">
                  <c:v>2.44</c:v>
                </c:pt>
                <c:pt idx="16">
                  <c:v>2.56</c:v>
                </c:pt>
                <c:pt idx="17">
                  <c:v>2.69</c:v>
                </c:pt>
                <c:pt idx="18">
                  <c:v>2.81</c:v>
                </c:pt>
                <c:pt idx="19">
                  <c:v>2.94</c:v>
                </c:pt>
                <c:pt idx="20">
                  <c:v>3.06</c:v>
                </c:pt>
                <c:pt idx="21">
                  <c:v>3.19</c:v>
                </c:pt>
                <c:pt idx="22">
                  <c:v>3.31</c:v>
                </c:pt>
                <c:pt idx="23">
                  <c:v>3.44</c:v>
                </c:pt>
                <c:pt idx="24">
                  <c:v>3.56</c:v>
                </c:pt>
                <c:pt idx="25">
                  <c:v>3.69</c:v>
                </c:pt>
                <c:pt idx="26">
                  <c:v>3.81</c:v>
                </c:pt>
                <c:pt idx="27">
                  <c:v>3.94</c:v>
                </c:pt>
                <c:pt idx="28">
                  <c:v>4.06</c:v>
                </c:pt>
                <c:pt idx="29">
                  <c:v>4.19</c:v>
                </c:pt>
                <c:pt idx="30">
                  <c:v>4.31</c:v>
                </c:pt>
                <c:pt idx="31">
                  <c:v>4.44</c:v>
                </c:pt>
                <c:pt idx="32">
                  <c:v>4.56</c:v>
                </c:pt>
                <c:pt idx="33">
                  <c:v>4.69</c:v>
                </c:pt>
                <c:pt idx="34">
                  <c:v>4.81</c:v>
                </c:pt>
                <c:pt idx="35">
                  <c:v>4.94</c:v>
                </c:pt>
              </c:numCache>
            </c:numRef>
          </c:xVal>
          <c:yVal>
            <c:numRef>
              <c:f>Sheet1!$B$40:$B$75</c:f>
              <c:numCache>
                <c:formatCode>General</c:formatCode>
                <c:ptCount val="36"/>
                <c:pt idx="0">
                  <c:v>0.0041</c:v>
                </c:pt>
                <c:pt idx="1">
                  <c:v>0.0033</c:v>
                </c:pt>
                <c:pt idx="2">
                  <c:v>0.0116</c:v>
                </c:pt>
                <c:pt idx="3">
                  <c:v>0.0633</c:v>
                </c:pt>
                <c:pt idx="4">
                  <c:v>0.025</c:v>
                </c:pt>
                <c:pt idx="5">
                  <c:v>0.0089</c:v>
                </c:pt>
                <c:pt idx="6">
                  <c:v>0.0102</c:v>
                </c:pt>
                <c:pt idx="7">
                  <c:v>0.032</c:v>
                </c:pt>
                <c:pt idx="8">
                  <c:v>0.3266</c:v>
                </c:pt>
                <c:pt idx="9">
                  <c:v>0.6937</c:v>
                </c:pt>
                <c:pt idx="10">
                  <c:v>0.8279</c:v>
                </c:pt>
                <c:pt idx="11">
                  <c:v>1.0</c:v>
                </c:pt>
                <c:pt idx="12">
                  <c:v>0.2201</c:v>
                </c:pt>
                <c:pt idx="13">
                  <c:v>0.0224</c:v>
                </c:pt>
                <c:pt idx="14">
                  <c:v>0.0171</c:v>
                </c:pt>
                <c:pt idx="15">
                  <c:v>0.0038</c:v>
                </c:pt>
                <c:pt idx="16">
                  <c:v>0.0047</c:v>
                </c:pt>
                <c:pt idx="17">
                  <c:v>0.014</c:v>
                </c:pt>
                <c:pt idx="18">
                  <c:v>0.0054</c:v>
                </c:pt>
                <c:pt idx="19">
                  <c:v>0.0028</c:v>
                </c:pt>
                <c:pt idx="20">
                  <c:v>0.0065</c:v>
                </c:pt>
                <c:pt idx="21">
                  <c:v>0.0042</c:v>
                </c:pt>
                <c:pt idx="22">
                  <c:v>0.0018</c:v>
                </c:pt>
                <c:pt idx="23">
                  <c:v>0.0056</c:v>
                </c:pt>
                <c:pt idx="24">
                  <c:v>0.0133</c:v>
                </c:pt>
                <c:pt idx="25">
                  <c:v>0.0033</c:v>
                </c:pt>
                <c:pt idx="26">
                  <c:v>0.004</c:v>
                </c:pt>
                <c:pt idx="27">
                  <c:v>0.0039</c:v>
                </c:pt>
                <c:pt idx="28">
                  <c:v>0.0014</c:v>
                </c:pt>
                <c:pt idx="29">
                  <c:v>0.0031</c:v>
                </c:pt>
                <c:pt idx="30">
                  <c:v>0.0044</c:v>
                </c:pt>
                <c:pt idx="31">
                  <c:v>0.0019</c:v>
                </c:pt>
                <c:pt idx="32">
                  <c:v>0.002</c:v>
                </c:pt>
                <c:pt idx="33">
                  <c:v>0.0033</c:v>
                </c:pt>
                <c:pt idx="34">
                  <c:v>0.0023</c:v>
                </c:pt>
                <c:pt idx="35">
                  <c:v>0.0016</c:v>
                </c:pt>
              </c:numCache>
            </c:numRef>
          </c:yVal>
          <c:smooth val="0"/>
        </c:ser>
        <c:ser>
          <c:idx val="2"/>
          <c:order val="2"/>
          <c:tx>
            <c:strRef>
              <c:f>Sheet1!$B$77</c:f>
              <c:strCache>
                <c:ptCount val="1"/>
                <c:pt idx="0">
                  <c:v>Бег</c:v>
                </c:pt>
              </c:strCache>
            </c:strRef>
          </c:tx>
          <c:spPr>
            <a:ln w="28575">
              <a:solidFill>
                <a:srgbClr val="D8602A"/>
              </a:solidFill>
            </a:ln>
          </c:spPr>
          <c:marker>
            <c:symbol val="none"/>
          </c:marker>
          <c:xVal>
            <c:numRef>
              <c:f>Sheet1!$A$78:$A$113</c:f>
              <c:numCache>
                <c:formatCode>General</c:formatCode>
                <c:ptCount val="36"/>
                <c:pt idx="0">
                  <c:v>0.56</c:v>
                </c:pt>
                <c:pt idx="1">
                  <c:v>0.69</c:v>
                </c:pt>
                <c:pt idx="2">
                  <c:v>0.81</c:v>
                </c:pt>
                <c:pt idx="3">
                  <c:v>0.94</c:v>
                </c:pt>
                <c:pt idx="4">
                  <c:v>1.06</c:v>
                </c:pt>
                <c:pt idx="5">
                  <c:v>1.19</c:v>
                </c:pt>
                <c:pt idx="6">
                  <c:v>1.31</c:v>
                </c:pt>
                <c:pt idx="7">
                  <c:v>1.44</c:v>
                </c:pt>
                <c:pt idx="8">
                  <c:v>1.56</c:v>
                </c:pt>
                <c:pt idx="9">
                  <c:v>1.69</c:v>
                </c:pt>
                <c:pt idx="10">
                  <c:v>1.81</c:v>
                </c:pt>
                <c:pt idx="11">
                  <c:v>1.94</c:v>
                </c:pt>
                <c:pt idx="12">
                  <c:v>2.06</c:v>
                </c:pt>
                <c:pt idx="13">
                  <c:v>2.19</c:v>
                </c:pt>
                <c:pt idx="14">
                  <c:v>2.31</c:v>
                </c:pt>
                <c:pt idx="15">
                  <c:v>2.44</c:v>
                </c:pt>
                <c:pt idx="16">
                  <c:v>2.56</c:v>
                </c:pt>
                <c:pt idx="17">
                  <c:v>2.69</c:v>
                </c:pt>
                <c:pt idx="18">
                  <c:v>2.81</c:v>
                </c:pt>
                <c:pt idx="19">
                  <c:v>2.94</c:v>
                </c:pt>
                <c:pt idx="20">
                  <c:v>3.06</c:v>
                </c:pt>
                <c:pt idx="21">
                  <c:v>3.19</c:v>
                </c:pt>
                <c:pt idx="22">
                  <c:v>3.31</c:v>
                </c:pt>
                <c:pt idx="23">
                  <c:v>3.44</c:v>
                </c:pt>
                <c:pt idx="24">
                  <c:v>3.56</c:v>
                </c:pt>
                <c:pt idx="25">
                  <c:v>3.69</c:v>
                </c:pt>
                <c:pt idx="26">
                  <c:v>3.81</c:v>
                </c:pt>
                <c:pt idx="27">
                  <c:v>3.94</c:v>
                </c:pt>
                <c:pt idx="28">
                  <c:v>4.06</c:v>
                </c:pt>
                <c:pt idx="29">
                  <c:v>4.19</c:v>
                </c:pt>
                <c:pt idx="30">
                  <c:v>4.31</c:v>
                </c:pt>
                <c:pt idx="31">
                  <c:v>4.44</c:v>
                </c:pt>
                <c:pt idx="32">
                  <c:v>4.56</c:v>
                </c:pt>
                <c:pt idx="33">
                  <c:v>4.69</c:v>
                </c:pt>
                <c:pt idx="34">
                  <c:v>4.81</c:v>
                </c:pt>
                <c:pt idx="35">
                  <c:v>4.94</c:v>
                </c:pt>
              </c:numCache>
            </c:numRef>
          </c:xVal>
          <c:yVal>
            <c:numRef>
              <c:f>Sheet1!$B$78:$B$113</c:f>
              <c:numCache>
                <c:formatCode>General</c:formatCode>
                <c:ptCount val="36"/>
                <c:pt idx="0">
                  <c:v>0.0106</c:v>
                </c:pt>
                <c:pt idx="1">
                  <c:v>0.0071</c:v>
                </c:pt>
                <c:pt idx="2">
                  <c:v>0.0104</c:v>
                </c:pt>
                <c:pt idx="3">
                  <c:v>0.0279</c:v>
                </c:pt>
                <c:pt idx="4">
                  <c:v>0.0094</c:v>
                </c:pt>
                <c:pt idx="5">
                  <c:v>0.0158</c:v>
                </c:pt>
                <c:pt idx="6">
                  <c:v>0.0129</c:v>
                </c:pt>
                <c:pt idx="7">
                  <c:v>0.0118</c:v>
                </c:pt>
                <c:pt idx="8">
                  <c:v>0.0125</c:v>
                </c:pt>
                <c:pt idx="9">
                  <c:v>0.0078</c:v>
                </c:pt>
                <c:pt idx="10">
                  <c:v>0.0081</c:v>
                </c:pt>
                <c:pt idx="11">
                  <c:v>0.0162</c:v>
                </c:pt>
                <c:pt idx="12">
                  <c:v>0.0107</c:v>
                </c:pt>
                <c:pt idx="13">
                  <c:v>0.0108</c:v>
                </c:pt>
                <c:pt idx="14">
                  <c:v>0.0457</c:v>
                </c:pt>
                <c:pt idx="15">
                  <c:v>0.2352</c:v>
                </c:pt>
                <c:pt idx="16">
                  <c:v>0.5014</c:v>
                </c:pt>
                <c:pt idx="17">
                  <c:v>1.0</c:v>
                </c:pt>
                <c:pt idx="18">
                  <c:v>0.5674</c:v>
                </c:pt>
                <c:pt idx="19">
                  <c:v>0.1153</c:v>
                </c:pt>
                <c:pt idx="20">
                  <c:v>0.0678</c:v>
                </c:pt>
                <c:pt idx="21">
                  <c:v>0.0278</c:v>
                </c:pt>
                <c:pt idx="22">
                  <c:v>0.0076</c:v>
                </c:pt>
                <c:pt idx="23">
                  <c:v>0.014</c:v>
                </c:pt>
                <c:pt idx="24">
                  <c:v>0.0111</c:v>
                </c:pt>
                <c:pt idx="25">
                  <c:v>0.0076</c:v>
                </c:pt>
                <c:pt idx="26">
                  <c:v>0.0181</c:v>
                </c:pt>
                <c:pt idx="27">
                  <c:v>0.0408</c:v>
                </c:pt>
                <c:pt idx="28">
                  <c:v>0.0238</c:v>
                </c:pt>
                <c:pt idx="29">
                  <c:v>0.0247</c:v>
                </c:pt>
                <c:pt idx="30">
                  <c:v>0.0327</c:v>
                </c:pt>
                <c:pt idx="31">
                  <c:v>0.0131</c:v>
                </c:pt>
                <c:pt idx="32">
                  <c:v>0.0069</c:v>
                </c:pt>
                <c:pt idx="33">
                  <c:v>0.0113</c:v>
                </c:pt>
                <c:pt idx="34">
                  <c:v>0.0079</c:v>
                </c:pt>
                <c:pt idx="35">
                  <c:v>0.0092</c:v>
                </c:pt>
              </c:numCache>
            </c:numRef>
          </c:yVal>
          <c:smooth val="0"/>
        </c:ser>
        <c:ser>
          <c:idx val="3"/>
          <c:order val="3"/>
          <c:tx>
            <c:strRef>
              <c:f>Sheet1!$B$115</c:f>
              <c:strCache>
                <c:ptCount val="1"/>
                <c:pt idx="0">
                  <c:v>Подъём</c:v>
                </c:pt>
              </c:strCache>
            </c:strRef>
          </c:tx>
          <c:spPr>
            <a:ln w="28575">
              <a:solidFill>
                <a:srgbClr val="2D5FA8"/>
              </a:solidFill>
            </a:ln>
          </c:spPr>
          <c:marker>
            <c:symbol val="none"/>
          </c:marker>
          <c:xVal>
            <c:numRef>
              <c:f>Sheet1!$A$116:$A$151</c:f>
              <c:numCache>
                <c:formatCode>General</c:formatCode>
                <c:ptCount val="36"/>
                <c:pt idx="0">
                  <c:v>0.56</c:v>
                </c:pt>
                <c:pt idx="1">
                  <c:v>0.69</c:v>
                </c:pt>
                <c:pt idx="2">
                  <c:v>0.81</c:v>
                </c:pt>
                <c:pt idx="3">
                  <c:v>0.94</c:v>
                </c:pt>
                <c:pt idx="4">
                  <c:v>1.06</c:v>
                </c:pt>
                <c:pt idx="5">
                  <c:v>1.19</c:v>
                </c:pt>
                <c:pt idx="6">
                  <c:v>1.31</c:v>
                </c:pt>
                <c:pt idx="7">
                  <c:v>1.44</c:v>
                </c:pt>
                <c:pt idx="8">
                  <c:v>1.56</c:v>
                </c:pt>
                <c:pt idx="9">
                  <c:v>1.69</c:v>
                </c:pt>
                <c:pt idx="10">
                  <c:v>1.81</c:v>
                </c:pt>
                <c:pt idx="11">
                  <c:v>1.94</c:v>
                </c:pt>
                <c:pt idx="12">
                  <c:v>2.06</c:v>
                </c:pt>
                <c:pt idx="13">
                  <c:v>2.19</c:v>
                </c:pt>
                <c:pt idx="14">
                  <c:v>2.31</c:v>
                </c:pt>
                <c:pt idx="15">
                  <c:v>2.44</c:v>
                </c:pt>
                <c:pt idx="16">
                  <c:v>2.56</c:v>
                </c:pt>
                <c:pt idx="17">
                  <c:v>2.69</c:v>
                </c:pt>
                <c:pt idx="18">
                  <c:v>2.81</c:v>
                </c:pt>
                <c:pt idx="19">
                  <c:v>2.94</c:v>
                </c:pt>
                <c:pt idx="20">
                  <c:v>3.06</c:v>
                </c:pt>
                <c:pt idx="21">
                  <c:v>3.19</c:v>
                </c:pt>
                <c:pt idx="22">
                  <c:v>3.31</c:v>
                </c:pt>
                <c:pt idx="23">
                  <c:v>3.44</c:v>
                </c:pt>
                <c:pt idx="24">
                  <c:v>3.56</c:v>
                </c:pt>
                <c:pt idx="25">
                  <c:v>3.69</c:v>
                </c:pt>
                <c:pt idx="26">
                  <c:v>3.81</c:v>
                </c:pt>
                <c:pt idx="27">
                  <c:v>3.94</c:v>
                </c:pt>
                <c:pt idx="28">
                  <c:v>4.06</c:v>
                </c:pt>
                <c:pt idx="29">
                  <c:v>4.19</c:v>
                </c:pt>
                <c:pt idx="30">
                  <c:v>4.31</c:v>
                </c:pt>
                <c:pt idx="31">
                  <c:v>4.44</c:v>
                </c:pt>
                <c:pt idx="32">
                  <c:v>4.56</c:v>
                </c:pt>
                <c:pt idx="33">
                  <c:v>4.69</c:v>
                </c:pt>
                <c:pt idx="34">
                  <c:v>4.81</c:v>
                </c:pt>
                <c:pt idx="35">
                  <c:v>4.94</c:v>
                </c:pt>
              </c:numCache>
            </c:numRef>
          </c:xVal>
          <c:yVal>
            <c:numRef>
              <c:f>Sheet1!$B$116:$B$151</c:f>
              <c:numCache>
                <c:formatCode>General</c:formatCode>
                <c:ptCount val="36"/>
                <c:pt idx="0">
                  <c:v>0.0176</c:v>
                </c:pt>
                <c:pt idx="1">
                  <c:v>0.0116</c:v>
                </c:pt>
                <c:pt idx="2">
                  <c:v>0.0269</c:v>
                </c:pt>
                <c:pt idx="3">
                  <c:v>0.0593</c:v>
                </c:pt>
                <c:pt idx="4">
                  <c:v>0.0589</c:v>
                </c:pt>
                <c:pt idx="5">
                  <c:v>0.1933</c:v>
                </c:pt>
                <c:pt idx="6">
                  <c:v>0.2615</c:v>
                </c:pt>
                <c:pt idx="7">
                  <c:v>0.4853</c:v>
                </c:pt>
                <c:pt idx="8">
                  <c:v>1.0</c:v>
                </c:pt>
                <c:pt idx="9">
                  <c:v>0.6402</c:v>
                </c:pt>
                <c:pt idx="10">
                  <c:v>0.391</c:v>
                </c:pt>
                <c:pt idx="11">
                  <c:v>0.3691</c:v>
                </c:pt>
                <c:pt idx="12">
                  <c:v>0.0742</c:v>
                </c:pt>
                <c:pt idx="13">
                  <c:v>0.026</c:v>
                </c:pt>
                <c:pt idx="14">
                  <c:v>0.0281</c:v>
                </c:pt>
                <c:pt idx="15">
                  <c:v>0.0185</c:v>
                </c:pt>
                <c:pt idx="16">
                  <c:v>0.013</c:v>
                </c:pt>
                <c:pt idx="17">
                  <c:v>0.0255</c:v>
                </c:pt>
                <c:pt idx="18">
                  <c:v>0.0193</c:v>
                </c:pt>
                <c:pt idx="19">
                  <c:v>0.0072</c:v>
                </c:pt>
                <c:pt idx="20">
                  <c:v>0.0183</c:v>
                </c:pt>
                <c:pt idx="21">
                  <c:v>0.0176</c:v>
                </c:pt>
                <c:pt idx="22">
                  <c:v>0.0074</c:v>
                </c:pt>
                <c:pt idx="23">
                  <c:v>0.0138</c:v>
                </c:pt>
                <c:pt idx="24">
                  <c:v>0.0139</c:v>
                </c:pt>
                <c:pt idx="25">
                  <c:v>0.0076</c:v>
                </c:pt>
                <c:pt idx="26">
                  <c:v>0.0095</c:v>
                </c:pt>
                <c:pt idx="27">
                  <c:v>0.0095</c:v>
                </c:pt>
                <c:pt idx="28">
                  <c:v>0.0053</c:v>
                </c:pt>
                <c:pt idx="29">
                  <c:v>0.0057</c:v>
                </c:pt>
                <c:pt idx="30">
                  <c:v>0.0073</c:v>
                </c:pt>
                <c:pt idx="31">
                  <c:v>0.0055</c:v>
                </c:pt>
                <c:pt idx="32">
                  <c:v>0.0039</c:v>
                </c:pt>
                <c:pt idx="33">
                  <c:v>0.0073</c:v>
                </c:pt>
                <c:pt idx="34">
                  <c:v>0.0044</c:v>
                </c:pt>
                <c:pt idx="35">
                  <c:v>0.0043</c:v>
                </c:pt>
              </c:numCache>
            </c:numRef>
          </c:yVal>
          <c:smooth val="0"/>
        </c:ser>
        <c:ser>
          <c:idx val="4"/>
          <c:order val="4"/>
          <c:tx>
            <c:strRef>
              <c:f>Sheet1!$B$153</c:f>
              <c:strCache>
                <c:ptCount val="1"/>
                <c:pt idx="0">
                  <c:v>Спуск</c:v>
                </c:pt>
              </c:strCache>
            </c:strRef>
          </c:tx>
          <c:spPr>
            <a:ln w="28575">
              <a:solidFill>
                <a:srgbClr val="7888E0"/>
              </a:solidFill>
            </a:ln>
          </c:spPr>
          <c:marker>
            <c:symbol val="none"/>
          </c:marker>
          <c:xVal>
            <c:numRef>
              <c:f>Sheet1!$A$154:$A$189</c:f>
              <c:numCache>
                <c:formatCode>General</c:formatCode>
                <c:ptCount val="36"/>
                <c:pt idx="0">
                  <c:v>0.56</c:v>
                </c:pt>
                <c:pt idx="1">
                  <c:v>0.69</c:v>
                </c:pt>
                <c:pt idx="2">
                  <c:v>0.81</c:v>
                </c:pt>
                <c:pt idx="3">
                  <c:v>0.94</c:v>
                </c:pt>
                <c:pt idx="4">
                  <c:v>1.06</c:v>
                </c:pt>
                <c:pt idx="5">
                  <c:v>1.19</c:v>
                </c:pt>
                <c:pt idx="6">
                  <c:v>1.31</c:v>
                </c:pt>
                <c:pt idx="7">
                  <c:v>1.44</c:v>
                </c:pt>
                <c:pt idx="8">
                  <c:v>1.56</c:v>
                </c:pt>
                <c:pt idx="9">
                  <c:v>1.69</c:v>
                </c:pt>
                <c:pt idx="10">
                  <c:v>1.81</c:v>
                </c:pt>
                <c:pt idx="11">
                  <c:v>1.94</c:v>
                </c:pt>
                <c:pt idx="12">
                  <c:v>2.06</c:v>
                </c:pt>
                <c:pt idx="13">
                  <c:v>2.19</c:v>
                </c:pt>
                <c:pt idx="14">
                  <c:v>2.31</c:v>
                </c:pt>
                <c:pt idx="15">
                  <c:v>2.44</c:v>
                </c:pt>
                <c:pt idx="16">
                  <c:v>2.56</c:v>
                </c:pt>
                <c:pt idx="17">
                  <c:v>2.69</c:v>
                </c:pt>
                <c:pt idx="18">
                  <c:v>2.81</c:v>
                </c:pt>
                <c:pt idx="19">
                  <c:v>2.94</c:v>
                </c:pt>
                <c:pt idx="20">
                  <c:v>3.06</c:v>
                </c:pt>
                <c:pt idx="21">
                  <c:v>3.19</c:v>
                </c:pt>
                <c:pt idx="22">
                  <c:v>3.31</c:v>
                </c:pt>
                <c:pt idx="23">
                  <c:v>3.44</c:v>
                </c:pt>
                <c:pt idx="24">
                  <c:v>3.56</c:v>
                </c:pt>
                <c:pt idx="25">
                  <c:v>3.69</c:v>
                </c:pt>
                <c:pt idx="26">
                  <c:v>3.81</c:v>
                </c:pt>
                <c:pt idx="27">
                  <c:v>3.94</c:v>
                </c:pt>
                <c:pt idx="28">
                  <c:v>4.06</c:v>
                </c:pt>
                <c:pt idx="29">
                  <c:v>4.19</c:v>
                </c:pt>
                <c:pt idx="30">
                  <c:v>4.31</c:v>
                </c:pt>
                <c:pt idx="31">
                  <c:v>4.44</c:v>
                </c:pt>
                <c:pt idx="32">
                  <c:v>4.56</c:v>
                </c:pt>
                <c:pt idx="33">
                  <c:v>4.69</c:v>
                </c:pt>
                <c:pt idx="34">
                  <c:v>4.81</c:v>
                </c:pt>
                <c:pt idx="35">
                  <c:v>4.94</c:v>
                </c:pt>
              </c:numCache>
            </c:numRef>
          </c:xVal>
          <c:yVal>
            <c:numRef>
              <c:f>Sheet1!$B$154:$B$189</c:f>
              <c:numCache>
                <c:formatCode>General</c:formatCode>
                <c:ptCount val="36"/>
                <c:pt idx="0">
                  <c:v>0.0075</c:v>
                </c:pt>
                <c:pt idx="1">
                  <c:v>0.0049</c:v>
                </c:pt>
                <c:pt idx="2">
                  <c:v>0.0081</c:v>
                </c:pt>
                <c:pt idx="3">
                  <c:v>0.0391</c:v>
                </c:pt>
                <c:pt idx="4">
                  <c:v>0.0229</c:v>
                </c:pt>
                <c:pt idx="5">
                  <c:v>0.0514</c:v>
                </c:pt>
                <c:pt idx="6">
                  <c:v>0.0547</c:v>
                </c:pt>
                <c:pt idx="7">
                  <c:v>0.119</c:v>
                </c:pt>
                <c:pt idx="8">
                  <c:v>0.4258</c:v>
                </c:pt>
                <c:pt idx="9">
                  <c:v>0.5386</c:v>
                </c:pt>
                <c:pt idx="10">
                  <c:v>0.6886</c:v>
                </c:pt>
                <c:pt idx="11">
                  <c:v>1.0</c:v>
                </c:pt>
                <c:pt idx="12">
                  <c:v>0.5077</c:v>
                </c:pt>
                <c:pt idx="13">
                  <c:v>0.2087</c:v>
                </c:pt>
                <c:pt idx="14">
                  <c:v>0.2224</c:v>
                </c:pt>
                <c:pt idx="15">
                  <c:v>0.122</c:v>
                </c:pt>
                <c:pt idx="16">
                  <c:v>0.0582</c:v>
                </c:pt>
                <c:pt idx="17">
                  <c:v>0.0759</c:v>
                </c:pt>
                <c:pt idx="18">
                  <c:v>0.049</c:v>
                </c:pt>
                <c:pt idx="19">
                  <c:v>0.0191</c:v>
                </c:pt>
                <c:pt idx="20">
                  <c:v>0.0362</c:v>
                </c:pt>
                <c:pt idx="21">
                  <c:v>0.0313</c:v>
                </c:pt>
                <c:pt idx="22">
                  <c:v>0.0123</c:v>
                </c:pt>
                <c:pt idx="23">
                  <c:v>0.0192</c:v>
                </c:pt>
                <c:pt idx="24">
                  <c:v>0.0227</c:v>
                </c:pt>
                <c:pt idx="25">
                  <c:v>0.0111</c:v>
                </c:pt>
                <c:pt idx="26">
                  <c:v>0.0124</c:v>
                </c:pt>
                <c:pt idx="27">
                  <c:v>0.0123</c:v>
                </c:pt>
                <c:pt idx="28">
                  <c:v>0.0073</c:v>
                </c:pt>
                <c:pt idx="29">
                  <c:v>0.0094</c:v>
                </c:pt>
                <c:pt idx="30">
                  <c:v>0.0191</c:v>
                </c:pt>
                <c:pt idx="31">
                  <c:v>0.0118</c:v>
                </c:pt>
                <c:pt idx="32">
                  <c:v>0.0102</c:v>
                </c:pt>
                <c:pt idx="33">
                  <c:v>0.0159</c:v>
                </c:pt>
                <c:pt idx="34">
                  <c:v>0.011</c:v>
                </c:pt>
                <c:pt idx="35">
                  <c:v>0.0088</c:v>
                </c:pt>
              </c:numCache>
            </c:numRef>
          </c:yVal>
          <c:smooth val="0"/>
        </c:ser>
        <c:ser>
          <c:idx val="5"/>
          <c:order val="5"/>
          <c:tx>
            <c:strRef>
              <c:f>Sheet1!$B$191</c:f>
              <c:strCache>
                <c:ptCount val="1"/>
                <c:pt idx="0">
                  <c:v>Велосипед</c:v>
                </c:pt>
              </c:strCache>
            </c:strRef>
          </c:tx>
          <c:spPr>
            <a:ln w="28575">
              <a:solidFill>
                <a:srgbClr val="C08600"/>
              </a:solidFill>
            </a:ln>
          </c:spPr>
          <c:marker>
            <c:symbol val="none"/>
          </c:marker>
          <c:xVal>
            <c:numRef>
              <c:f>Sheet1!$A$192:$A$227</c:f>
              <c:numCache>
                <c:formatCode>General</c:formatCode>
                <c:ptCount val="36"/>
                <c:pt idx="0">
                  <c:v>0.56</c:v>
                </c:pt>
                <c:pt idx="1">
                  <c:v>0.69</c:v>
                </c:pt>
                <c:pt idx="2">
                  <c:v>0.81</c:v>
                </c:pt>
                <c:pt idx="3">
                  <c:v>0.94</c:v>
                </c:pt>
                <c:pt idx="4">
                  <c:v>1.06</c:v>
                </c:pt>
                <c:pt idx="5">
                  <c:v>1.19</c:v>
                </c:pt>
                <c:pt idx="6">
                  <c:v>1.31</c:v>
                </c:pt>
                <c:pt idx="7">
                  <c:v>1.44</c:v>
                </c:pt>
                <c:pt idx="8">
                  <c:v>1.56</c:v>
                </c:pt>
                <c:pt idx="9">
                  <c:v>1.69</c:v>
                </c:pt>
                <c:pt idx="10">
                  <c:v>1.81</c:v>
                </c:pt>
                <c:pt idx="11">
                  <c:v>1.94</c:v>
                </c:pt>
                <c:pt idx="12">
                  <c:v>2.06</c:v>
                </c:pt>
                <c:pt idx="13">
                  <c:v>2.19</c:v>
                </c:pt>
                <c:pt idx="14">
                  <c:v>2.31</c:v>
                </c:pt>
                <c:pt idx="15">
                  <c:v>2.44</c:v>
                </c:pt>
                <c:pt idx="16">
                  <c:v>2.56</c:v>
                </c:pt>
                <c:pt idx="17">
                  <c:v>2.69</c:v>
                </c:pt>
                <c:pt idx="18">
                  <c:v>2.81</c:v>
                </c:pt>
                <c:pt idx="19">
                  <c:v>2.94</c:v>
                </c:pt>
                <c:pt idx="20">
                  <c:v>3.06</c:v>
                </c:pt>
                <c:pt idx="21">
                  <c:v>3.19</c:v>
                </c:pt>
                <c:pt idx="22">
                  <c:v>3.31</c:v>
                </c:pt>
                <c:pt idx="23">
                  <c:v>3.44</c:v>
                </c:pt>
                <c:pt idx="24">
                  <c:v>3.56</c:v>
                </c:pt>
                <c:pt idx="25">
                  <c:v>3.69</c:v>
                </c:pt>
                <c:pt idx="26">
                  <c:v>3.81</c:v>
                </c:pt>
                <c:pt idx="27">
                  <c:v>3.94</c:v>
                </c:pt>
                <c:pt idx="28">
                  <c:v>4.06</c:v>
                </c:pt>
                <c:pt idx="29">
                  <c:v>4.19</c:v>
                </c:pt>
                <c:pt idx="30">
                  <c:v>4.31</c:v>
                </c:pt>
                <c:pt idx="31">
                  <c:v>4.44</c:v>
                </c:pt>
                <c:pt idx="32">
                  <c:v>4.56</c:v>
                </c:pt>
                <c:pt idx="33">
                  <c:v>4.69</c:v>
                </c:pt>
                <c:pt idx="34">
                  <c:v>4.81</c:v>
                </c:pt>
                <c:pt idx="35">
                  <c:v>4.94</c:v>
                </c:pt>
              </c:numCache>
            </c:numRef>
          </c:xVal>
          <c:yVal>
            <c:numRef>
              <c:f>Sheet1!$B$192:$B$227</c:f>
              <c:numCache>
                <c:formatCode>General</c:formatCode>
                <c:ptCount val="36"/>
                <c:pt idx="0">
                  <c:v>0.3387</c:v>
                </c:pt>
                <c:pt idx="1">
                  <c:v>0.5254</c:v>
                </c:pt>
                <c:pt idx="2">
                  <c:v>1.0</c:v>
                </c:pt>
                <c:pt idx="3">
                  <c:v>0.5341</c:v>
                </c:pt>
                <c:pt idx="4">
                  <c:v>0.5127</c:v>
                </c:pt>
                <c:pt idx="5">
                  <c:v>0.2742</c:v>
                </c:pt>
                <c:pt idx="6">
                  <c:v>0.0684</c:v>
                </c:pt>
                <c:pt idx="7">
                  <c:v>0.0628</c:v>
                </c:pt>
                <c:pt idx="8">
                  <c:v>0.1145</c:v>
                </c:pt>
                <c:pt idx="9">
                  <c:v>0.1097</c:v>
                </c:pt>
                <c:pt idx="10">
                  <c:v>0.0699</c:v>
                </c:pt>
                <c:pt idx="11">
                  <c:v>0.1065</c:v>
                </c:pt>
                <c:pt idx="12">
                  <c:v>0.0652</c:v>
                </c:pt>
                <c:pt idx="13">
                  <c:v>0.0652</c:v>
                </c:pt>
                <c:pt idx="14">
                  <c:v>0.1256</c:v>
                </c:pt>
                <c:pt idx="15">
                  <c:v>0.0755</c:v>
                </c:pt>
                <c:pt idx="16">
                  <c:v>0.0477</c:v>
                </c:pt>
                <c:pt idx="17">
                  <c:v>0.1025</c:v>
                </c:pt>
                <c:pt idx="18">
                  <c:v>0.0978</c:v>
                </c:pt>
                <c:pt idx="19">
                  <c:v>0.0755</c:v>
                </c:pt>
                <c:pt idx="20">
                  <c:v>0.1526</c:v>
                </c:pt>
                <c:pt idx="21">
                  <c:v>0.2051</c:v>
                </c:pt>
                <c:pt idx="22">
                  <c:v>0.1327</c:v>
                </c:pt>
                <c:pt idx="23">
                  <c:v>0.2337</c:v>
                </c:pt>
                <c:pt idx="24">
                  <c:v>0.2679</c:v>
                </c:pt>
                <c:pt idx="25">
                  <c:v>0.1582</c:v>
                </c:pt>
                <c:pt idx="26">
                  <c:v>0.2051</c:v>
                </c:pt>
                <c:pt idx="27">
                  <c:v>0.2353</c:v>
                </c:pt>
                <c:pt idx="28">
                  <c:v>0.1232</c:v>
                </c:pt>
                <c:pt idx="29">
                  <c:v>0.1367</c:v>
                </c:pt>
                <c:pt idx="30">
                  <c:v>0.1463</c:v>
                </c:pt>
                <c:pt idx="31">
                  <c:v>0.1137</c:v>
                </c:pt>
                <c:pt idx="32">
                  <c:v>0.0636</c:v>
                </c:pt>
                <c:pt idx="33">
                  <c:v>0.1113</c:v>
                </c:pt>
                <c:pt idx="34">
                  <c:v>0.0477</c:v>
                </c:pt>
                <c:pt idx="35">
                  <c:v>0.0572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  <c:max val="5.0"/>
          <c:min val="0.0"/>
        </c:scaling>
        <c:delete val="0"/>
        <c:axPos val="b"/>
        <c:numFmt formatCode="0" sourceLinked="0"/>
        <c:majorTickMark val="out"/>
        <c:minorTickMark val="none"/>
        <c:tickLblPos val="low"/>
        <c:spPr>
          <a:ln w="9525">
            <a:solidFill>
              <a:srgbClr val="C9D0DB"/>
            </a:solidFill>
          </a:ln>
        </c:spPr>
        <c:txPr>
          <a:bodyPr/>
          <a:lstStyle/>
          <a:p>
            <a:pPr>
              <a:defRPr sz="900">
                <a:solidFill>
                  <a:srgbClr val="5B6475"/>
                </a:solidFill>
              </a:defRPr>
            </a:pPr>
          </a:p>
        </c:txPr>
        <c:crossAx val="-2129643912"/>
        <c:crosses val="autoZero"/>
        <c:crossBetween val="midCat"/>
        <c:majorUnit val="1.0"/>
      </c:valAx>
      <c:valAx>
        <c:axId val="-2129643912"/>
        <c:scaling>
          <c:orientation val="minMax"/>
          <c:max val="1.08"/>
          <c:min val="0.0"/>
        </c:scaling>
        <c:delete/>
        <c:axPos val="l"/>
        <c:numFmt formatCode="General" sourceLinked="1"/>
        <c:majorTickMark val="out"/>
        <c:minorTickMark val="none"/>
        <c:tickLblPos val="nextTo"/>
        <c:crossAx val="-2128940872"/>
        <c:crosses val="autoZero"/>
        <c:crossBetween val="midCat"/>
      </c:valAx>
    </c:plotArea>
    <c:plotVisOnly val="1"/>
    <c:dispBlanksAs val="gap"/>
    <c:showDLblsOverMax val="0"/>
  </c:chart>
  <c:txPr>
    <a:bodyPr/>
    <a:lstStyle/>
    <a:p>
      <a:pPr>
        <a:defRPr sz="900">
          <a:latin typeface="Segoe UI"/>
        </a:defRPr>
      </a:pPr>
      <a:endParaRPr lang="en-US"/>
    </a:p>
  </c:txPr>
  <c:externalData r:id="rId1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Покой</c:v>
                </c:pt>
              </c:strCache>
            </c:strRef>
          </c:tx>
          <c:spPr>
            <a:ln w="28575">
              <a:solidFill>
                <a:srgbClr val="8C96A8"/>
              </a:solidFill>
              <a:prstDash val="dash"/>
            </a:ln>
          </c:spPr>
          <c:marker>
            <c:symbol val="none"/>
          </c:marker>
          <c:xVal>
            <c:numRef>
              <c:f>Sheet1!$A$2:$A$37</c:f>
              <c:numCache>
                <c:formatCode>General</c:formatCode>
                <c:ptCount val="36"/>
                <c:pt idx="0">
                  <c:v>0.14</c:v>
                </c:pt>
                <c:pt idx="1">
                  <c:v>0.4</c:v>
                </c:pt>
                <c:pt idx="2">
                  <c:v>0.66</c:v>
                </c:pt>
                <c:pt idx="3">
                  <c:v>0.92</c:v>
                </c:pt>
                <c:pt idx="4">
                  <c:v>1.17</c:v>
                </c:pt>
                <c:pt idx="5">
                  <c:v>1.43</c:v>
                </c:pt>
                <c:pt idx="6">
                  <c:v>1.69</c:v>
                </c:pt>
                <c:pt idx="7">
                  <c:v>1.95</c:v>
                </c:pt>
                <c:pt idx="8">
                  <c:v>2.2</c:v>
                </c:pt>
                <c:pt idx="9">
                  <c:v>2.46</c:v>
                </c:pt>
                <c:pt idx="10">
                  <c:v>2.72</c:v>
                </c:pt>
                <c:pt idx="11">
                  <c:v>2.98</c:v>
                </c:pt>
                <c:pt idx="12">
                  <c:v>3.23</c:v>
                </c:pt>
                <c:pt idx="13">
                  <c:v>3.49</c:v>
                </c:pt>
                <c:pt idx="14">
                  <c:v>3.75</c:v>
                </c:pt>
                <c:pt idx="15">
                  <c:v>4.01</c:v>
                </c:pt>
                <c:pt idx="16">
                  <c:v>4.27</c:v>
                </c:pt>
                <c:pt idx="17">
                  <c:v>4.52</c:v>
                </c:pt>
                <c:pt idx="18">
                  <c:v>4.78</c:v>
                </c:pt>
                <c:pt idx="19">
                  <c:v>5.04</c:v>
                </c:pt>
                <c:pt idx="20">
                  <c:v>5.3</c:v>
                </c:pt>
                <c:pt idx="21">
                  <c:v>5.55</c:v>
                </c:pt>
                <c:pt idx="22">
                  <c:v>5.81</c:v>
                </c:pt>
                <c:pt idx="23">
                  <c:v>6.07</c:v>
                </c:pt>
                <c:pt idx="24">
                  <c:v>6.33</c:v>
                </c:pt>
                <c:pt idx="25">
                  <c:v>6.59</c:v>
                </c:pt>
                <c:pt idx="26">
                  <c:v>6.84</c:v>
                </c:pt>
                <c:pt idx="27">
                  <c:v>7.1</c:v>
                </c:pt>
                <c:pt idx="28">
                  <c:v>7.36</c:v>
                </c:pt>
                <c:pt idx="29">
                  <c:v>7.62</c:v>
                </c:pt>
                <c:pt idx="30">
                  <c:v>7.87</c:v>
                </c:pt>
                <c:pt idx="31">
                  <c:v>8.13</c:v>
                </c:pt>
                <c:pt idx="32">
                  <c:v>8.39</c:v>
                </c:pt>
                <c:pt idx="33">
                  <c:v>8.65</c:v>
                </c:pt>
                <c:pt idx="34">
                  <c:v>8.9</c:v>
                </c:pt>
                <c:pt idx="35">
                  <c:v>9.16</c:v>
                </c:pt>
              </c:numCache>
            </c:numRef>
          </c:xVal>
          <c:yVal>
            <c:numRef>
              <c:f>Sheet1!$B$2:$B$37</c:f>
              <c:numCache>
                <c:formatCode>General</c:formatCode>
                <c:ptCount val="36"/>
                <c:pt idx="0">
                  <c:v>1.0</c:v>
                </c:pt>
                <c:pt idx="1">
                  <c:v>0.0409</c:v>
                </c:pt>
                <c:pt idx="2">
                  <c:v>0.0111</c:v>
                </c:pt>
                <c:pt idx="3">
                  <c:v>0.0043</c:v>
                </c:pt>
                <c:pt idx="4">
                  <c:v>0.0026</c:v>
                </c:pt>
                <c:pt idx="5">
                  <c:v>0.0018</c:v>
                </c:pt>
                <c:pt idx="6">
                  <c:v>0.0014</c:v>
                </c:pt>
                <c:pt idx="7">
                  <c:v>0.0007</c:v>
                </c:pt>
                <c:pt idx="8">
                  <c:v>0.0005</c:v>
                </c:pt>
                <c:pt idx="9">
                  <c:v>0.0003</c:v>
                </c:pt>
                <c:pt idx="10">
                  <c:v>0.0003</c:v>
                </c:pt>
                <c:pt idx="11">
                  <c:v>0.0002</c:v>
                </c:pt>
                <c:pt idx="12">
                  <c:v>0.0002</c:v>
                </c:pt>
                <c:pt idx="13">
                  <c:v>0.0001</c:v>
                </c:pt>
                <c:pt idx="14">
                  <c:v>0.0</c:v>
                </c:pt>
                <c:pt idx="15">
                  <c:v>0.0</c:v>
                </c:pt>
                <c:pt idx="16">
                  <c:v>0.0</c:v>
                </c:pt>
                <c:pt idx="17">
                  <c:v>0.0</c:v>
                </c:pt>
                <c:pt idx="18">
                  <c:v>0.0</c:v>
                </c:pt>
                <c:pt idx="19">
                  <c:v>0.0</c:v>
                </c:pt>
                <c:pt idx="20">
                  <c:v>0.0</c:v>
                </c:pt>
                <c:pt idx="21">
                  <c:v>0.0</c:v>
                </c:pt>
                <c:pt idx="22">
                  <c:v>0.0</c:v>
                </c:pt>
                <c:pt idx="23">
                  <c:v>0.0</c:v>
                </c:pt>
                <c:pt idx="24">
                  <c:v>0.0</c:v>
                </c:pt>
                <c:pt idx="25">
                  <c:v>0.0</c:v>
                </c:pt>
                <c:pt idx="26">
                  <c:v>0.0</c:v>
                </c:pt>
                <c:pt idx="27">
                  <c:v>0.0</c:v>
                </c:pt>
                <c:pt idx="28">
                  <c:v>0.0</c:v>
                </c:pt>
                <c:pt idx="29">
                  <c:v>0.0</c:v>
                </c:pt>
                <c:pt idx="30">
                  <c:v>0.0</c:v>
                </c:pt>
                <c:pt idx="31">
                  <c:v>0.0</c:v>
                </c:pt>
                <c:pt idx="32">
                  <c:v>0.0</c:v>
                </c:pt>
                <c:pt idx="33">
                  <c:v>0.0</c:v>
                </c:pt>
                <c:pt idx="34">
                  <c:v>0.0</c:v>
                </c:pt>
                <c:pt idx="35">
                  <c:v>0.0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Sheet1!$B$39</c:f>
              <c:strCache>
                <c:ptCount val="1"/>
                <c:pt idx="0">
                  <c:v>Ходьба</c:v>
                </c:pt>
              </c:strCache>
            </c:strRef>
          </c:tx>
          <c:spPr>
            <a:ln w="28575">
              <a:solidFill>
                <a:srgbClr val="3C8A1E"/>
              </a:solidFill>
            </a:ln>
          </c:spPr>
          <c:marker>
            <c:symbol val="none"/>
          </c:marker>
          <c:xVal>
            <c:numRef>
              <c:f>Sheet1!$A$40:$A$75</c:f>
              <c:numCache>
                <c:formatCode>General</c:formatCode>
                <c:ptCount val="36"/>
                <c:pt idx="0">
                  <c:v>0.14</c:v>
                </c:pt>
                <c:pt idx="1">
                  <c:v>0.4</c:v>
                </c:pt>
                <c:pt idx="2">
                  <c:v>0.66</c:v>
                </c:pt>
                <c:pt idx="3">
                  <c:v>0.92</c:v>
                </c:pt>
                <c:pt idx="4">
                  <c:v>1.17</c:v>
                </c:pt>
                <c:pt idx="5">
                  <c:v>1.43</c:v>
                </c:pt>
                <c:pt idx="6">
                  <c:v>1.69</c:v>
                </c:pt>
                <c:pt idx="7">
                  <c:v>1.95</c:v>
                </c:pt>
                <c:pt idx="8">
                  <c:v>2.2</c:v>
                </c:pt>
                <c:pt idx="9">
                  <c:v>2.46</c:v>
                </c:pt>
                <c:pt idx="10">
                  <c:v>2.72</c:v>
                </c:pt>
                <c:pt idx="11">
                  <c:v>2.98</c:v>
                </c:pt>
                <c:pt idx="12">
                  <c:v>3.23</c:v>
                </c:pt>
                <c:pt idx="13">
                  <c:v>3.49</c:v>
                </c:pt>
                <c:pt idx="14">
                  <c:v>3.75</c:v>
                </c:pt>
                <c:pt idx="15">
                  <c:v>4.01</c:v>
                </c:pt>
                <c:pt idx="16">
                  <c:v>4.27</c:v>
                </c:pt>
                <c:pt idx="17">
                  <c:v>4.52</c:v>
                </c:pt>
                <c:pt idx="18">
                  <c:v>4.78</c:v>
                </c:pt>
                <c:pt idx="19">
                  <c:v>5.04</c:v>
                </c:pt>
                <c:pt idx="20">
                  <c:v>5.3</c:v>
                </c:pt>
                <c:pt idx="21">
                  <c:v>5.55</c:v>
                </c:pt>
                <c:pt idx="22">
                  <c:v>5.81</c:v>
                </c:pt>
                <c:pt idx="23">
                  <c:v>6.07</c:v>
                </c:pt>
                <c:pt idx="24">
                  <c:v>6.33</c:v>
                </c:pt>
                <c:pt idx="25">
                  <c:v>6.59</c:v>
                </c:pt>
                <c:pt idx="26">
                  <c:v>6.84</c:v>
                </c:pt>
                <c:pt idx="27">
                  <c:v>7.1</c:v>
                </c:pt>
                <c:pt idx="28">
                  <c:v>7.36</c:v>
                </c:pt>
                <c:pt idx="29">
                  <c:v>7.62</c:v>
                </c:pt>
                <c:pt idx="30">
                  <c:v>7.87</c:v>
                </c:pt>
                <c:pt idx="31">
                  <c:v>8.13</c:v>
                </c:pt>
                <c:pt idx="32">
                  <c:v>8.39</c:v>
                </c:pt>
                <c:pt idx="33">
                  <c:v>8.65</c:v>
                </c:pt>
                <c:pt idx="34">
                  <c:v>8.9</c:v>
                </c:pt>
                <c:pt idx="35">
                  <c:v>9.16</c:v>
                </c:pt>
              </c:numCache>
            </c:numRef>
          </c:xVal>
          <c:yVal>
            <c:numRef>
              <c:f>Sheet1!$B$40:$B$75</c:f>
              <c:numCache>
                <c:formatCode>General</c:formatCode>
                <c:ptCount val="36"/>
                <c:pt idx="0">
                  <c:v>0.0716</c:v>
                </c:pt>
                <c:pt idx="1">
                  <c:v>0.0114</c:v>
                </c:pt>
                <c:pt idx="2">
                  <c:v>0.0073</c:v>
                </c:pt>
                <c:pt idx="3">
                  <c:v>0.0099</c:v>
                </c:pt>
                <c:pt idx="4">
                  <c:v>0.0393</c:v>
                </c:pt>
                <c:pt idx="5">
                  <c:v>0.1205</c:v>
                </c:pt>
                <c:pt idx="6">
                  <c:v>0.4487</c:v>
                </c:pt>
                <c:pt idx="7">
                  <c:v>0.7895</c:v>
                </c:pt>
                <c:pt idx="8">
                  <c:v>1.0</c:v>
                </c:pt>
                <c:pt idx="9">
                  <c:v>0.9834</c:v>
                </c:pt>
                <c:pt idx="10">
                  <c:v>0.7496</c:v>
                </c:pt>
                <c:pt idx="11">
                  <c:v>0.5073</c:v>
                </c:pt>
                <c:pt idx="12">
                  <c:v>0.3719</c:v>
                </c:pt>
                <c:pt idx="13">
                  <c:v>0.3225</c:v>
                </c:pt>
                <c:pt idx="14">
                  <c:v>0.3465</c:v>
                </c:pt>
                <c:pt idx="15">
                  <c:v>0.3782</c:v>
                </c:pt>
                <c:pt idx="16">
                  <c:v>0.3915</c:v>
                </c:pt>
                <c:pt idx="17">
                  <c:v>0.3706</c:v>
                </c:pt>
                <c:pt idx="18">
                  <c:v>0.3209</c:v>
                </c:pt>
                <c:pt idx="19">
                  <c:v>0.2764</c:v>
                </c:pt>
                <c:pt idx="20">
                  <c:v>0.2205</c:v>
                </c:pt>
                <c:pt idx="21">
                  <c:v>0.1859</c:v>
                </c:pt>
                <c:pt idx="22">
                  <c:v>0.1694</c:v>
                </c:pt>
                <c:pt idx="23">
                  <c:v>0.1403</c:v>
                </c:pt>
                <c:pt idx="24">
                  <c:v>0.1106</c:v>
                </c:pt>
                <c:pt idx="25">
                  <c:v>0.0815</c:v>
                </c:pt>
                <c:pt idx="26">
                  <c:v>0.0562</c:v>
                </c:pt>
                <c:pt idx="27">
                  <c:v>0.0422</c:v>
                </c:pt>
                <c:pt idx="28">
                  <c:v>0.0338</c:v>
                </c:pt>
                <c:pt idx="29">
                  <c:v>0.0266</c:v>
                </c:pt>
                <c:pt idx="30">
                  <c:v>0.0211</c:v>
                </c:pt>
                <c:pt idx="31">
                  <c:v>0.0182</c:v>
                </c:pt>
                <c:pt idx="32">
                  <c:v>0.0122</c:v>
                </c:pt>
                <c:pt idx="33">
                  <c:v>0.0081</c:v>
                </c:pt>
                <c:pt idx="34">
                  <c:v>0.0049</c:v>
                </c:pt>
                <c:pt idx="35">
                  <c:v>0.0023</c:v>
                </c:pt>
              </c:numCache>
            </c:numRef>
          </c:yVal>
          <c:smooth val="0"/>
        </c:ser>
        <c:ser>
          <c:idx val="2"/>
          <c:order val="2"/>
          <c:tx>
            <c:strRef>
              <c:f>Sheet1!$B$77</c:f>
              <c:strCache>
                <c:ptCount val="1"/>
                <c:pt idx="0">
                  <c:v>Бег</c:v>
                </c:pt>
              </c:strCache>
            </c:strRef>
          </c:tx>
          <c:spPr>
            <a:ln w="28575">
              <a:solidFill>
                <a:srgbClr val="D8602A"/>
              </a:solidFill>
            </a:ln>
          </c:spPr>
          <c:marker>
            <c:symbol val="none"/>
          </c:marker>
          <c:xVal>
            <c:numRef>
              <c:f>Sheet1!$A$78:$A$113</c:f>
              <c:numCache>
                <c:formatCode>General</c:formatCode>
                <c:ptCount val="36"/>
                <c:pt idx="0">
                  <c:v>0.14</c:v>
                </c:pt>
                <c:pt idx="1">
                  <c:v>0.4</c:v>
                </c:pt>
                <c:pt idx="2">
                  <c:v>0.66</c:v>
                </c:pt>
                <c:pt idx="3">
                  <c:v>0.92</c:v>
                </c:pt>
                <c:pt idx="4">
                  <c:v>1.17</c:v>
                </c:pt>
                <c:pt idx="5">
                  <c:v>1.43</c:v>
                </c:pt>
                <c:pt idx="6">
                  <c:v>1.69</c:v>
                </c:pt>
                <c:pt idx="7">
                  <c:v>1.95</c:v>
                </c:pt>
                <c:pt idx="8">
                  <c:v>2.2</c:v>
                </c:pt>
                <c:pt idx="9">
                  <c:v>2.46</c:v>
                </c:pt>
                <c:pt idx="10">
                  <c:v>2.72</c:v>
                </c:pt>
                <c:pt idx="11">
                  <c:v>2.98</c:v>
                </c:pt>
                <c:pt idx="12">
                  <c:v>3.23</c:v>
                </c:pt>
                <c:pt idx="13">
                  <c:v>3.49</c:v>
                </c:pt>
                <c:pt idx="14">
                  <c:v>3.75</c:v>
                </c:pt>
                <c:pt idx="15">
                  <c:v>4.01</c:v>
                </c:pt>
                <c:pt idx="16">
                  <c:v>4.27</c:v>
                </c:pt>
                <c:pt idx="17">
                  <c:v>4.52</c:v>
                </c:pt>
                <c:pt idx="18">
                  <c:v>4.78</c:v>
                </c:pt>
                <c:pt idx="19">
                  <c:v>5.04</c:v>
                </c:pt>
                <c:pt idx="20">
                  <c:v>5.3</c:v>
                </c:pt>
                <c:pt idx="21">
                  <c:v>5.55</c:v>
                </c:pt>
                <c:pt idx="22">
                  <c:v>5.81</c:v>
                </c:pt>
                <c:pt idx="23">
                  <c:v>6.07</c:v>
                </c:pt>
                <c:pt idx="24">
                  <c:v>6.33</c:v>
                </c:pt>
                <c:pt idx="25">
                  <c:v>6.59</c:v>
                </c:pt>
                <c:pt idx="26">
                  <c:v>6.84</c:v>
                </c:pt>
                <c:pt idx="27">
                  <c:v>7.1</c:v>
                </c:pt>
                <c:pt idx="28">
                  <c:v>7.36</c:v>
                </c:pt>
                <c:pt idx="29">
                  <c:v>7.62</c:v>
                </c:pt>
                <c:pt idx="30">
                  <c:v>7.87</c:v>
                </c:pt>
                <c:pt idx="31">
                  <c:v>8.13</c:v>
                </c:pt>
                <c:pt idx="32">
                  <c:v>8.39</c:v>
                </c:pt>
                <c:pt idx="33">
                  <c:v>8.65</c:v>
                </c:pt>
                <c:pt idx="34">
                  <c:v>8.9</c:v>
                </c:pt>
                <c:pt idx="35">
                  <c:v>9.16</c:v>
                </c:pt>
              </c:numCache>
            </c:numRef>
          </c:xVal>
          <c:yVal>
            <c:numRef>
              <c:f>Sheet1!$B$78:$B$113</c:f>
              <c:numCache>
                <c:formatCode>General</c:formatCode>
                <c:ptCount val="36"/>
                <c:pt idx="0">
                  <c:v>0.6394</c:v>
                </c:pt>
                <c:pt idx="1">
                  <c:v>0.2075</c:v>
                </c:pt>
                <c:pt idx="2">
                  <c:v>0.0658</c:v>
                </c:pt>
                <c:pt idx="3">
                  <c:v>0.0375</c:v>
                </c:pt>
                <c:pt idx="4">
                  <c:v>0.0263</c:v>
                </c:pt>
                <c:pt idx="5">
                  <c:v>0.0188</c:v>
                </c:pt>
                <c:pt idx="6">
                  <c:v>0.0123</c:v>
                </c:pt>
                <c:pt idx="7">
                  <c:v>0.0126</c:v>
                </c:pt>
                <c:pt idx="8">
                  <c:v>0.0095</c:v>
                </c:pt>
                <c:pt idx="9">
                  <c:v>0.0065</c:v>
                </c:pt>
                <c:pt idx="10">
                  <c:v>0.0092</c:v>
                </c:pt>
                <c:pt idx="11">
                  <c:v>0.0095</c:v>
                </c:pt>
                <c:pt idx="12">
                  <c:v>0.0082</c:v>
                </c:pt>
                <c:pt idx="13">
                  <c:v>0.0126</c:v>
                </c:pt>
                <c:pt idx="14">
                  <c:v>0.0171</c:v>
                </c:pt>
                <c:pt idx="15">
                  <c:v>0.0167</c:v>
                </c:pt>
                <c:pt idx="16">
                  <c:v>0.0294</c:v>
                </c:pt>
                <c:pt idx="17">
                  <c:v>0.0375</c:v>
                </c:pt>
                <c:pt idx="18">
                  <c:v>0.0774</c:v>
                </c:pt>
                <c:pt idx="19">
                  <c:v>0.1994</c:v>
                </c:pt>
                <c:pt idx="20">
                  <c:v>0.317</c:v>
                </c:pt>
                <c:pt idx="21">
                  <c:v>0.4168</c:v>
                </c:pt>
                <c:pt idx="22">
                  <c:v>0.5876</c:v>
                </c:pt>
                <c:pt idx="23">
                  <c:v>0.8309</c:v>
                </c:pt>
                <c:pt idx="24">
                  <c:v>0.9829</c:v>
                </c:pt>
                <c:pt idx="25">
                  <c:v>1.0</c:v>
                </c:pt>
                <c:pt idx="26">
                  <c:v>0.9063</c:v>
                </c:pt>
                <c:pt idx="27">
                  <c:v>0.8211</c:v>
                </c:pt>
                <c:pt idx="28">
                  <c:v>0.7239</c:v>
                </c:pt>
                <c:pt idx="29">
                  <c:v>0.5896</c:v>
                </c:pt>
                <c:pt idx="30">
                  <c:v>0.4802</c:v>
                </c:pt>
                <c:pt idx="31">
                  <c:v>0.3496</c:v>
                </c:pt>
                <c:pt idx="32">
                  <c:v>0.2369</c:v>
                </c:pt>
                <c:pt idx="33">
                  <c:v>0.182</c:v>
                </c:pt>
                <c:pt idx="34">
                  <c:v>0.1146</c:v>
                </c:pt>
                <c:pt idx="35">
                  <c:v>0.0774</c:v>
                </c:pt>
              </c:numCache>
            </c:numRef>
          </c:yVal>
          <c:smooth val="0"/>
        </c:ser>
        <c:ser>
          <c:idx val="3"/>
          <c:order val="3"/>
          <c:tx>
            <c:strRef>
              <c:f>Sheet1!$B$115</c:f>
              <c:strCache>
                <c:ptCount val="1"/>
                <c:pt idx="0">
                  <c:v>Подъём</c:v>
                </c:pt>
              </c:strCache>
            </c:strRef>
          </c:tx>
          <c:spPr>
            <a:ln w="28575">
              <a:solidFill>
                <a:srgbClr val="2D5FA8"/>
              </a:solidFill>
            </a:ln>
          </c:spPr>
          <c:marker>
            <c:symbol val="none"/>
          </c:marker>
          <c:xVal>
            <c:numRef>
              <c:f>Sheet1!$A$116:$A$151</c:f>
              <c:numCache>
                <c:formatCode>General</c:formatCode>
                <c:ptCount val="36"/>
                <c:pt idx="0">
                  <c:v>0.14</c:v>
                </c:pt>
                <c:pt idx="1">
                  <c:v>0.4</c:v>
                </c:pt>
                <c:pt idx="2">
                  <c:v>0.66</c:v>
                </c:pt>
                <c:pt idx="3">
                  <c:v>0.92</c:v>
                </c:pt>
                <c:pt idx="4">
                  <c:v>1.17</c:v>
                </c:pt>
                <c:pt idx="5">
                  <c:v>1.43</c:v>
                </c:pt>
                <c:pt idx="6">
                  <c:v>1.69</c:v>
                </c:pt>
                <c:pt idx="7">
                  <c:v>1.95</c:v>
                </c:pt>
                <c:pt idx="8">
                  <c:v>2.2</c:v>
                </c:pt>
                <c:pt idx="9">
                  <c:v>2.46</c:v>
                </c:pt>
                <c:pt idx="10">
                  <c:v>2.72</c:v>
                </c:pt>
                <c:pt idx="11">
                  <c:v>2.98</c:v>
                </c:pt>
                <c:pt idx="12">
                  <c:v>3.23</c:v>
                </c:pt>
                <c:pt idx="13">
                  <c:v>3.49</c:v>
                </c:pt>
                <c:pt idx="14">
                  <c:v>3.75</c:v>
                </c:pt>
                <c:pt idx="15">
                  <c:v>4.01</c:v>
                </c:pt>
                <c:pt idx="16">
                  <c:v>4.27</c:v>
                </c:pt>
                <c:pt idx="17">
                  <c:v>4.52</c:v>
                </c:pt>
                <c:pt idx="18">
                  <c:v>4.78</c:v>
                </c:pt>
                <c:pt idx="19">
                  <c:v>5.04</c:v>
                </c:pt>
                <c:pt idx="20">
                  <c:v>5.3</c:v>
                </c:pt>
                <c:pt idx="21">
                  <c:v>5.55</c:v>
                </c:pt>
                <c:pt idx="22">
                  <c:v>5.81</c:v>
                </c:pt>
                <c:pt idx="23">
                  <c:v>6.07</c:v>
                </c:pt>
                <c:pt idx="24">
                  <c:v>6.33</c:v>
                </c:pt>
                <c:pt idx="25">
                  <c:v>6.59</c:v>
                </c:pt>
                <c:pt idx="26">
                  <c:v>6.84</c:v>
                </c:pt>
                <c:pt idx="27">
                  <c:v>7.1</c:v>
                </c:pt>
                <c:pt idx="28">
                  <c:v>7.36</c:v>
                </c:pt>
                <c:pt idx="29">
                  <c:v>7.62</c:v>
                </c:pt>
                <c:pt idx="30">
                  <c:v>7.87</c:v>
                </c:pt>
                <c:pt idx="31">
                  <c:v>8.13</c:v>
                </c:pt>
                <c:pt idx="32">
                  <c:v>8.39</c:v>
                </c:pt>
                <c:pt idx="33">
                  <c:v>8.65</c:v>
                </c:pt>
                <c:pt idx="34">
                  <c:v>8.9</c:v>
                </c:pt>
                <c:pt idx="35">
                  <c:v>9.16</c:v>
                </c:pt>
              </c:numCache>
            </c:numRef>
          </c:xVal>
          <c:yVal>
            <c:numRef>
              <c:f>Sheet1!$B$116:$B$151</c:f>
              <c:numCache>
                <c:formatCode>General</c:formatCode>
                <c:ptCount val="36"/>
                <c:pt idx="0">
                  <c:v>0.1864</c:v>
                </c:pt>
                <c:pt idx="1">
                  <c:v>0.0333</c:v>
                </c:pt>
                <c:pt idx="2">
                  <c:v>0.0176</c:v>
                </c:pt>
                <c:pt idx="3">
                  <c:v>0.0221</c:v>
                </c:pt>
                <c:pt idx="4">
                  <c:v>0.0523</c:v>
                </c:pt>
                <c:pt idx="5">
                  <c:v>0.1351</c:v>
                </c:pt>
                <c:pt idx="6">
                  <c:v>0.3039</c:v>
                </c:pt>
                <c:pt idx="7">
                  <c:v>0.6116</c:v>
                </c:pt>
                <c:pt idx="8">
                  <c:v>0.8314</c:v>
                </c:pt>
                <c:pt idx="9">
                  <c:v>1.0</c:v>
                </c:pt>
                <c:pt idx="10">
                  <c:v>0.9291</c:v>
                </c:pt>
                <c:pt idx="11">
                  <c:v>0.7334</c:v>
                </c:pt>
                <c:pt idx="12">
                  <c:v>0.5616</c:v>
                </c:pt>
                <c:pt idx="13">
                  <c:v>0.4465</c:v>
                </c:pt>
                <c:pt idx="14">
                  <c:v>0.3646</c:v>
                </c:pt>
                <c:pt idx="15">
                  <c:v>0.2889</c:v>
                </c:pt>
                <c:pt idx="16">
                  <c:v>0.2102</c:v>
                </c:pt>
                <c:pt idx="17">
                  <c:v>0.1391</c:v>
                </c:pt>
                <c:pt idx="18">
                  <c:v>0.1045</c:v>
                </c:pt>
                <c:pt idx="19">
                  <c:v>0.0629</c:v>
                </c:pt>
                <c:pt idx="20">
                  <c:v>0.0404</c:v>
                </c:pt>
                <c:pt idx="21">
                  <c:v>0.0288</c:v>
                </c:pt>
                <c:pt idx="22">
                  <c:v>0.0178</c:v>
                </c:pt>
                <c:pt idx="23">
                  <c:v>0.0108</c:v>
                </c:pt>
                <c:pt idx="24">
                  <c:v>0.0072</c:v>
                </c:pt>
                <c:pt idx="25">
                  <c:v>0.0065</c:v>
                </c:pt>
                <c:pt idx="26">
                  <c:v>0.0067</c:v>
                </c:pt>
                <c:pt idx="27">
                  <c:v>0.0045</c:v>
                </c:pt>
                <c:pt idx="28">
                  <c:v>0.003</c:v>
                </c:pt>
                <c:pt idx="29">
                  <c:v>0.0032</c:v>
                </c:pt>
                <c:pt idx="30">
                  <c:v>0.001</c:v>
                </c:pt>
                <c:pt idx="31">
                  <c:v>0.0015</c:v>
                </c:pt>
                <c:pt idx="32">
                  <c:v>0.0005</c:v>
                </c:pt>
                <c:pt idx="33">
                  <c:v>0.001</c:v>
                </c:pt>
                <c:pt idx="34">
                  <c:v>0.0005</c:v>
                </c:pt>
                <c:pt idx="35">
                  <c:v>0.0</c:v>
                </c:pt>
              </c:numCache>
            </c:numRef>
          </c:yVal>
          <c:smooth val="0"/>
        </c:ser>
        <c:ser>
          <c:idx val="4"/>
          <c:order val="4"/>
          <c:tx>
            <c:strRef>
              <c:f>Sheet1!$B$153</c:f>
              <c:strCache>
                <c:ptCount val="1"/>
                <c:pt idx="0">
                  <c:v>Спуск</c:v>
                </c:pt>
              </c:strCache>
            </c:strRef>
          </c:tx>
          <c:spPr>
            <a:ln w="28575">
              <a:solidFill>
                <a:srgbClr val="7888E0"/>
              </a:solidFill>
            </a:ln>
          </c:spPr>
          <c:marker>
            <c:symbol val="none"/>
          </c:marker>
          <c:xVal>
            <c:numRef>
              <c:f>Sheet1!$A$154:$A$189</c:f>
              <c:numCache>
                <c:formatCode>General</c:formatCode>
                <c:ptCount val="36"/>
                <c:pt idx="0">
                  <c:v>0.14</c:v>
                </c:pt>
                <c:pt idx="1">
                  <c:v>0.4</c:v>
                </c:pt>
                <c:pt idx="2">
                  <c:v>0.66</c:v>
                </c:pt>
                <c:pt idx="3">
                  <c:v>0.92</c:v>
                </c:pt>
                <c:pt idx="4">
                  <c:v>1.17</c:v>
                </c:pt>
                <c:pt idx="5">
                  <c:v>1.43</c:v>
                </c:pt>
                <c:pt idx="6">
                  <c:v>1.69</c:v>
                </c:pt>
                <c:pt idx="7">
                  <c:v>1.95</c:v>
                </c:pt>
                <c:pt idx="8">
                  <c:v>2.2</c:v>
                </c:pt>
                <c:pt idx="9">
                  <c:v>2.46</c:v>
                </c:pt>
                <c:pt idx="10">
                  <c:v>2.72</c:v>
                </c:pt>
                <c:pt idx="11">
                  <c:v>2.98</c:v>
                </c:pt>
                <c:pt idx="12">
                  <c:v>3.23</c:v>
                </c:pt>
                <c:pt idx="13">
                  <c:v>3.49</c:v>
                </c:pt>
                <c:pt idx="14">
                  <c:v>3.75</c:v>
                </c:pt>
                <c:pt idx="15">
                  <c:v>4.01</c:v>
                </c:pt>
                <c:pt idx="16">
                  <c:v>4.27</c:v>
                </c:pt>
                <c:pt idx="17">
                  <c:v>4.52</c:v>
                </c:pt>
                <c:pt idx="18">
                  <c:v>4.78</c:v>
                </c:pt>
                <c:pt idx="19">
                  <c:v>5.04</c:v>
                </c:pt>
                <c:pt idx="20">
                  <c:v>5.3</c:v>
                </c:pt>
                <c:pt idx="21">
                  <c:v>5.55</c:v>
                </c:pt>
                <c:pt idx="22">
                  <c:v>5.81</c:v>
                </c:pt>
                <c:pt idx="23">
                  <c:v>6.07</c:v>
                </c:pt>
                <c:pt idx="24">
                  <c:v>6.33</c:v>
                </c:pt>
                <c:pt idx="25">
                  <c:v>6.59</c:v>
                </c:pt>
                <c:pt idx="26">
                  <c:v>6.84</c:v>
                </c:pt>
                <c:pt idx="27">
                  <c:v>7.1</c:v>
                </c:pt>
                <c:pt idx="28">
                  <c:v>7.36</c:v>
                </c:pt>
                <c:pt idx="29">
                  <c:v>7.62</c:v>
                </c:pt>
                <c:pt idx="30">
                  <c:v>7.87</c:v>
                </c:pt>
                <c:pt idx="31">
                  <c:v>8.13</c:v>
                </c:pt>
                <c:pt idx="32">
                  <c:v>8.39</c:v>
                </c:pt>
                <c:pt idx="33">
                  <c:v>8.65</c:v>
                </c:pt>
                <c:pt idx="34">
                  <c:v>8.9</c:v>
                </c:pt>
                <c:pt idx="35">
                  <c:v>9.16</c:v>
                </c:pt>
              </c:numCache>
            </c:numRef>
          </c:xVal>
          <c:yVal>
            <c:numRef>
              <c:f>Sheet1!$B$154:$B$189</c:f>
              <c:numCache>
                <c:formatCode>General</c:formatCode>
                <c:ptCount val="36"/>
                <c:pt idx="0">
                  <c:v>0.1164</c:v>
                </c:pt>
                <c:pt idx="1">
                  <c:v>0.0184</c:v>
                </c:pt>
                <c:pt idx="2">
                  <c:v>0.0225</c:v>
                </c:pt>
                <c:pt idx="3">
                  <c:v>0.0232</c:v>
                </c:pt>
                <c:pt idx="4">
                  <c:v>0.0265</c:v>
                </c:pt>
                <c:pt idx="5">
                  <c:v>0.0644</c:v>
                </c:pt>
                <c:pt idx="6">
                  <c:v>0.1161</c:v>
                </c:pt>
                <c:pt idx="7">
                  <c:v>0.2103</c:v>
                </c:pt>
                <c:pt idx="8">
                  <c:v>0.3253</c:v>
                </c:pt>
                <c:pt idx="9">
                  <c:v>0.4696</c:v>
                </c:pt>
                <c:pt idx="10">
                  <c:v>0.5941</c:v>
                </c:pt>
                <c:pt idx="11">
                  <c:v>0.6998</c:v>
                </c:pt>
                <c:pt idx="12">
                  <c:v>0.877</c:v>
                </c:pt>
                <c:pt idx="13">
                  <c:v>0.989</c:v>
                </c:pt>
                <c:pt idx="14">
                  <c:v>1.0</c:v>
                </c:pt>
                <c:pt idx="15">
                  <c:v>0.9724</c:v>
                </c:pt>
                <c:pt idx="16">
                  <c:v>0.845</c:v>
                </c:pt>
                <c:pt idx="17">
                  <c:v>0.7462</c:v>
                </c:pt>
                <c:pt idx="18">
                  <c:v>0.6096</c:v>
                </c:pt>
                <c:pt idx="19">
                  <c:v>0.4895</c:v>
                </c:pt>
                <c:pt idx="20">
                  <c:v>0.3672</c:v>
                </c:pt>
                <c:pt idx="21">
                  <c:v>0.2726</c:v>
                </c:pt>
                <c:pt idx="22">
                  <c:v>0.1783</c:v>
                </c:pt>
                <c:pt idx="23">
                  <c:v>0.113</c:v>
                </c:pt>
                <c:pt idx="24">
                  <c:v>0.0755</c:v>
                </c:pt>
                <c:pt idx="25">
                  <c:v>0.042</c:v>
                </c:pt>
                <c:pt idx="26">
                  <c:v>0.0236</c:v>
                </c:pt>
                <c:pt idx="27">
                  <c:v>0.0177</c:v>
                </c:pt>
                <c:pt idx="28">
                  <c:v>0.0114</c:v>
                </c:pt>
                <c:pt idx="29">
                  <c:v>0.0074</c:v>
                </c:pt>
                <c:pt idx="30">
                  <c:v>0.0088</c:v>
                </c:pt>
                <c:pt idx="31">
                  <c:v>0.0033</c:v>
                </c:pt>
                <c:pt idx="32">
                  <c:v>0.0048</c:v>
                </c:pt>
                <c:pt idx="33">
                  <c:v>0.0022</c:v>
                </c:pt>
                <c:pt idx="34">
                  <c:v>0.0045</c:v>
                </c:pt>
                <c:pt idx="35">
                  <c:v>0.0033</c:v>
                </c:pt>
              </c:numCache>
            </c:numRef>
          </c:yVal>
          <c:smooth val="0"/>
        </c:ser>
        <c:ser>
          <c:idx val="5"/>
          <c:order val="5"/>
          <c:tx>
            <c:strRef>
              <c:f>Sheet1!$B$191</c:f>
              <c:strCache>
                <c:ptCount val="1"/>
                <c:pt idx="0">
                  <c:v>Велосипед</c:v>
                </c:pt>
              </c:strCache>
            </c:strRef>
          </c:tx>
          <c:spPr>
            <a:ln w="28575">
              <a:solidFill>
                <a:srgbClr val="C08600"/>
              </a:solidFill>
            </a:ln>
          </c:spPr>
          <c:marker>
            <c:symbol val="none"/>
          </c:marker>
          <c:xVal>
            <c:numRef>
              <c:f>Sheet1!$A$192:$A$227</c:f>
              <c:numCache>
                <c:formatCode>General</c:formatCode>
                <c:ptCount val="36"/>
                <c:pt idx="0">
                  <c:v>0.14</c:v>
                </c:pt>
                <c:pt idx="1">
                  <c:v>0.4</c:v>
                </c:pt>
                <c:pt idx="2">
                  <c:v>0.66</c:v>
                </c:pt>
                <c:pt idx="3">
                  <c:v>0.92</c:v>
                </c:pt>
                <c:pt idx="4">
                  <c:v>1.17</c:v>
                </c:pt>
                <c:pt idx="5">
                  <c:v>1.43</c:v>
                </c:pt>
                <c:pt idx="6">
                  <c:v>1.69</c:v>
                </c:pt>
                <c:pt idx="7">
                  <c:v>1.95</c:v>
                </c:pt>
                <c:pt idx="8">
                  <c:v>2.2</c:v>
                </c:pt>
                <c:pt idx="9">
                  <c:v>2.46</c:v>
                </c:pt>
                <c:pt idx="10">
                  <c:v>2.72</c:v>
                </c:pt>
                <c:pt idx="11">
                  <c:v>2.98</c:v>
                </c:pt>
                <c:pt idx="12">
                  <c:v>3.23</c:v>
                </c:pt>
                <c:pt idx="13">
                  <c:v>3.49</c:v>
                </c:pt>
                <c:pt idx="14">
                  <c:v>3.75</c:v>
                </c:pt>
                <c:pt idx="15">
                  <c:v>4.01</c:v>
                </c:pt>
                <c:pt idx="16">
                  <c:v>4.27</c:v>
                </c:pt>
                <c:pt idx="17">
                  <c:v>4.52</c:v>
                </c:pt>
                <c:pt idx="18">
                  <c:v>4.78</c:v>
                </c:pt>
                <c:pt idx="19">
                  <c:v>5.04</c:v>
                </c:pt>
                <c:pt idx="20">
                  <c:v>5.3</c:v>
                </c:pt>
                <c:pt idx="21">
                  <c:v>5.55</c:v>
                </c:pt>
                <c:pt idx="22">
                  <c:v>5.81</c:v>
                </c:pt>
                <c:pt idx="23">
                  <c:v>6.07</c:v>
                </c:pt>
                <c:pt idx="24">
                  <c:v>6.33</c:v>
                </c:pt>
                <c:pt idx="25">
                  <c:v>6.59</c:v>
                </c:pt>
                <c:pt idx="26">
                  <c:v>6.84</c:v>
                </c:pt>
                <c:pt idx="27">
                  <c:v>7.1</c:v>
                </c:pt>
                <c:pt idx="28">
                  <c:v>7.36</c:v>
                </c:pt>
                <c:pt idx="29">
                  <c:v>7.62</c:v>
                </c:pt>
                <c:pt idx="30">
                  <c:v>7.87</c:v>
                </c:pt>
                <c:pt idx="31">
                  <c:v>8.13</c:v>
                </c:pt>
                <c:pt idx="32">
                  <c:v>8.39</c:v>
                </c:pt>
                <c:pt idx="33">
                  <c:v>8.65</c:v>
                </c:pt>
                <c:pt idx="34">
                  <c:v>8.9</c:v>
                </c:pt>
                <c:pt idx="35">
                  <c:v>9.16</c:v>
                </c:pt>
              </c:numCache>
            </c:numRef>
          </c:xVal>
          <c:yVal>
            <c:numRef>
              <c:f>Sheet1!$B$192:$B$227</c:f>
              <c:numCache>
                <c:formatCode>General</c:formatCode>
                <c:ptCount val="36"/>
                <c:pt idx="0">
                  <c:v>0.3743</c:v>
                </c:pt>
                <c:pt idx="1">
                  <c:v>0.188</c:v>
                </c:pt>
                <c:pt idx="2">
                  <c:v>0.6275</c:v>
                </c:pt>
                <c:pt idx="3">
                  <c:v>0.8343</c:v>
                </c:pt>
                <c:pt idx="4">
                  <c:v>0.8583</c:v>
                </c:pt>
                <c:pt idx="5">
                  <c:v>0.8467</c:v>
                </c:pt>
                <c:pt idx="6">
                  <c:v>1.0</c:v>
                </c:pt>
                <c:pt idx="7">
                  <c:v>0.7157</c:v>
                </c:pt>
                <c:pt idx="8">
                  <c:v>0.5758</c:v>
                </c:pt>
                <c:pt idx="9">
                  <c:v>0.4242</c:v>
                </c:pt>
                <c:pt idx="10">
                  <c:v>0.2416</c:v>
                </c:pt>
                <c:pt idx="11">
                  <c:v>0.1827</c:v>
                </c:pt>
                <c:pt idx="12">
                  <c:v>0.2005</c:v>
                </c:pt>
                <c:pt idx="13">
                  <c:v>0.1497</c:v>
                </c:pt>
                <c:pt idx="14">
                  <c:v>0.0748</c:v>
                </c:pt>
                <c:pt idx="15">
                  <c:v>0.0579</c:v>
                </c:pt>
                <c:pt idx="16">
                  <c:v>0.0365</c:v>
                </c:pt>
                <c:pt idx="17">
                  <c:v>0.0187</c:v>
                </c:pt>
                <c:pt idx="18">
                  <c:v>0.0196</c:v>
                </c:pt>
                <c:pt idx="19">
                  <c:v>0.0152</c:v>
                </c:pt>
                <c:pt idx="20">
                  <c:v>0.0133</c:v>
                </c:pt>
                <c:pt idx="21">
                  <c:v>0.008</c:v>
                </c:pt>
                <c:pt idx="22">
                  <c:v>0.0107</c:v>
                </c:pt>
                <c:pt idx="23">
                  <c:v>0.008</c:v>
                </c:pt>
                <c:pt idx="24">
                  <c:v>0.0062</c:v>
                </c:pt>
                <c:pt idx="25">
                  <c:v>0.0036</c:v>
                </c:pt>
                <c:pt idx="26">
                  <c:v>0.0062</c:v>
                </c:pt>
                <c:pt idx="27">
                  <c:v>0.0054</c:v>
                </c:pt>
                <c:pt idx="28">
                  <c:v>0.0027</c:v>
                </c:pt>
                <c:pt idx="29">
                  <c:v>0.0018</c:v>
                </c:pt>
                <c:pt idx="30">
                  <c:v>0.0045</c:v>
                </c:pt>
                <c:pt idx="31">
                  <c:v>0.0036</c:v>
                </c:pt>
                <c:pt idx="32">
                  <c:v>0.0009</c:v>
                </c:pt>
                <c:pt idx="33">
                  <c:v>0.0018</c:v>
                </c:pt>
                <c:pt idx="34">
                  <c:v>0.0009</c:v>
                </c:pt>
                <c:pt idx="35">
                  <c:v>0.0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  <c:max val="9.29"/>
          <c:min val="0.0"/>
        </c:scaling>
        <c:delete val="0"/>
        <c:axPos val="b"/>
        <c:numFmt formatCode="0" sourceLinked="0"/>
        <c:majorTickMark val="out"/>
        <c:minorTickMark val="none"/>
        <c:tickLblPos val="low"/>
        <c:spPr>
          <a:ln w="9525">
            <a:solidFill>
              <a:srgbClr val="C9D0DB"/>
            </a:solidFill>
          </a:ln>
        </c:spPr>
        <c:txPr>
          <a:bodyPr/>
          <a:lstStyle/>
          <a:p>
            <a:pPr>
              <a:defRPr sz="900">
                <a:solidFill>
                  <a:srgbClr val="5B6475"/>
                </a:solidFill>
              </a:defRPr>
            </a:pPr>
          </a:p>
        </c:txPr>
        <c:crossAx val="-2129643912"/>
        <c:crosses val="autoZero"/>
        <c:crossBetween val="midCat"/>
        <c:majorUnit val="2.0"/>
      </c:valAx>
      <c:valAx>
        <c:axId val="-2129643912"/>
        <c:scaling>
          <c:orientation val="minMax"/>
          <c:max val="1.08"/>
          <c:min val="0.0"/>
        </c:scaling>
        <c:delete/>
        <c:axPos val="l"/>
        <c:numFmt formatCode="General" sourceLinked="1"/>
        <c:majorTickMark val="out"/>
        <c:minorTickMark val="none"/>
        <c:tickLblPos val="nextTo"/>
        <c:crossAx val="-2128940872"/>
        <c:crosses val="autoZero"/>
        <c:crossBetween val="midCat"/>
      </c:valAx>
    </c:plotArea>
    <c:plotVisOnly val="1"/>
    <c:dispBlanksAs val="gap"/>
    <c:showDLblsOverMax val="0"/>
  </c:chart>
  <c:txPr>
    <a:bodyPr/>
    <a:lstStyle/>
    <a:p>
      <a:pPr>
        <a:defRPr sz="900">
          <a:latin typeface="Segoe UI"/>
        </a:defRPr>
      </a:pPr>
      <a:endParaRPr lang="en-US"/>
    </a:p>
  </c:txPr>
  <c:externalData r:id="rId1">
    <c:autoUpdate val="0"/>
  </c:externalData>
</c:chartSpace>
</file>

<file path=ppt/charts/chart4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Прежняя модель</c:v>
                </c:pt>
              </c:strCache>
            </c:strRef>
          </c:tx>
          <c:spPr>
            <a:solidFill>
              <a:srgbClr val="B8BFCC"/>
            </a:solidFill>
            <a:ln w="0">
              <a:noFill/>
            </a:ln>
          </c:spPr>
          <c:invertIfNegative val="0"/>
          <c:dLbls>
            <c:numFmt formatCode="0%" sourceLinked="0"/>
            <c:txPr>
              <a:bodyPr wrap="square"/>
              <a:lstStyle/>
              <a:p>
                <a:pPr>
                  <a:defRPr sz="1000" b="0" u="none" strike="noStrike">
                    <a:solidFill>
                      <a:srgbClr val="1B2333"/>
                    </a:solidFill>
                    <a:uFillTx/>
                    <a:latin typeface="Segoe U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8"/>
                <c:pt idx="0">
                  <c:v>Велосипед · карман</c:v>
                </c:pt>
                <c:pt idx="1">
                  <c:v>Ходьба · карман</c:v>
                </c:pt>
                <c:pt idx="2">
                  <c:v>Подъём · карман</c:v>
                </c:pt>
                <c:pt idx="3">
                  <c:v>Спуск · карман</c:v>
                </c:pt>
                <c:pt idx="4">
                  <c:v>Покой · рука</c:v>
                </c:pt>
                <c:pt idx="5">
                  <c:v>Ходьба · рука</c:v>
                </c:pt>
                <c:pt idx="6">
                  <c:v>Подъём · рука</c:v>
                </c:pt>
                <c:pt idx="7">
                  <c:v>Покой · стол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8"/>
                <c:pt idx="0">
                  <c:v>0.99</c:v>
                </c:pt>
                <c:pt idx="1">
                  <c:v>0.36</c:v>
                </c:pt>
                <c:pt idx="2">
                  <c:v>0</c:v>
                </c:pt>
                <c:pt idx="3">
                  <c:v>0.3</c:v>
                </c:pt>
                <c:pt idx="4">
                  <c:v>1</c:v>
                </c:pt>
                <c:pt idx="5">
                  <c:v>1</c:v>
                </c:pt>
                <c:pt idx="6">
                  <c:v>0</c:v>
                </c:pt>
                <c:pt idx="7">
                  <c:v>0.95</c:v>
                </c:pt>
              </c:numCache>
            </c:numRef>
          </c:val>
        </c:ser>
        <c:ser>
          <c:idx val="1"/>
          <c:order val="1"/>
          <c:tx>
            <c:strRef>
              <c:f>label 1</c:f>
              <c:strCache>
                <c:ptCount val="1"/>
                <c:pt idx="0">
                  <c:v>Текущая модель</c:v>
                </c:pt>
              </c:strCache>
            </c:strRef>
          </c:tx>
          <c:spPr>
            <a:solidFill>
              <a:srgbClr val="00696E"/>
            </a:solidFill>
            <a:ln w="0">
              <a:noFill/>
            </a:ln>
          </c:spPr>
          <c:invertIfNegative val="0"/>
          <c:dLbls>
            <c:numFmt formatCode="0%" sourceLinked="0"/>
            <c:txPr>
              <a:bodyPr wrap="square"/>
              <a:lstStyle/>
              <a:p>
                <a:pPr>
                  <a:defRPr sz="1000" b="0" u="none" strike="noStrike">
                    <a:solidFill>
                      <a:srgbClr val="1B2333"/>
                    </a:solidFill>
                    <a:uFillTx/>
                    <a:latin typeface="Segoe U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8"/>
                <c:pt idx="0">
                  <c:v>Велосипед · карман</c:v>
                </c:pt>
                <c:pt idx="1">
                  <c:v>Ходьба · карман</c:v>
                </c:pt>
                <c:pt idx="2">
                  <c:v>Подъём · карман</c:v>
                </c:pt>
                <c:pt idx="3">
                  <c:v>Спуск · карман</c:v>
                </c:pt>
                <c:pt idx="4">
                  <c:v>Покой · рука</c:v>
                </c:pt>
                <c:pt idx="5">
                  <c:v>Ходьба · рука</c:v>
                </c:pt>
                <c:pt idx="6">
                  <c:v>Подъём · рука</c:v>
                </c:pt>
                <c:pt idx="7">
                  <c:v>Покой · стол</c:v>
                </c:pt>
              </c:strCache>
            </c:strRef>
          </c:cat>
          <c:val>
            <c:numRef>
              <c:f>1</c:f>
              <c:numCache>
                <c:formatCode>General</c:formatCode>
                <c:ptCount val="8"/>
                <c:pt idx="0">
                  <c:v>0.97</c:v>
                </c:pt>
                <c:pt idx="1">
                  <c:v>0.98</c:v>
                </c:pt>
                <c:pt idx="2">
                  <c:v>0.95</c:v>
                </c:pt>
                <c:pt idx="3">
                  <c:v>0.97</c:v>
                </c:pt>
                <c:pt idx="4">
                  <c:v>1</c:v>
                </c:pt>
                <c:pt idx="5">
                  <c:v>0.35</c:v>
                </c:pt>
                <c:pt idx="6">
                  <c:v>0.64</c:v>
                </c:pt>
                <c:pt idx="7">
                  <c:v>1</c:v>
                </c:pt>
              </c:numCache>
            </c:numRef>
          </c:val>
        </c:ser>
        <c:gapWidth val="35"/>
        <c:overlap val="0"/>
        <c:axId val="66312754"/>
        <c:axId val="8845571"/>
      </c:barChart>
      <c:catAx>
        <c:axId val="66312754"/>
        <c:scaling>
          <c:orientation val="maxMin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 w="12600">
            <a:solidFill>
              <a:srgbClr val="C9CFD9"/>
            </a:solidFill>
            <a:round/>
          </a:ln>
        </c:spPr>
        <c:txPr>
          <a:bodyPr/>
          <a:lstStyle/>
          <a:p>
            <a:pPr>
              <a:defRPr sz="1050" b="0" u="none" strike="noStrike">
                <a:solidFill>
                  <a:srgbClr val="5B6475"/>
                </a:solidFill>
                <a:uFillTx/>
                <a:latin typeface="Segoe UI"/>
              </a:defRPr>
            </a:pPr>
          </a:p>
        </c:txPr>
        <c:crossAx val="8845571"/>
        <c:crosses val="autoZero"/>
        <c:auto val="1"/>
        <c:lblAlgn val="ctr"/>
        <c:lblOffset val="100"/>
        <c:noMultiLvlLbl val="0"/>
      </c:catAx>
      <c:valAx>
        <c:axId val="8845571"/>
        <c:scaling>
          <c:orientation val="minMax"/>
          <c:max val="1.15"/>
          <c:min val="0"/>
        </c:scaling>
        <c:delete val="1"/>
        <c:axPos val="l"/>
        <c:numFmt formatCode="General" sourceLinked="1"/>
        <c:majorTickMark val="out"/>
        <c:minorTickMark val="none"/>
        <c:tickLblPos val="low"/>
        <c:spPr>
          <a:ln w="12600">
            <a:noFill/>
          </a:ln>
        </c:spPr>
        <c:txPr>
          <a:bodyPr/>
          <a:lstStyle/>
          <a:p>
            <a:pPr>
              <a:defRPr sz="1000" b="0" u="none" strike="noStrike">
                <a:solidFill>
                  <a:srgbClr val="5B6475"/>
                </a:solidFill>
                <a:uFillTx/>
                <a:latin typeface="Segoe UI"/>
              </a:defRPr>
            </a:pPr>
          </a:p>
        </c:txPr>
        <c:crossAx val="66312754"/>
        <c:crossBetween val="between"/>
      </c:valAx>
      <c:spPr>
        <a:noFill/>
        <a:ln w="0">
          <a:noFill/>
        </a:ln>
      </c:spPr>
    </c:plotArea>
    <c:legend>
      <c:legendPos val="t"/>
      <c:overlay val="0"/>
      <c:spPr>
        <a:noFill/>
        <a:ln w="0">
          <a:noFill/>
        </a:ln>
      </c:spPr>
      <c:txPr>
        <a:bodyPr/>
        <a:lstStyle/>
        <a:p>
          <a:pPr>
            <a:defRPr sz="1100" b="0" u="none" strike="noStrike">
              <a:solidFill>
                <a:srgbClr val="5B6475"/>
              </a:solidFill>
              <a:uFillTx/>
              <a:latin typeface="Segoe UI"/>
            </a:defRPr>
          </a:pPr>
        </a:p>
      </c:txPr>
    </c:legend>
    <c:plotVisOnly val="1"/>
    <c:dispBlanksAs val="span"/>
  </c:chart>
  <c:spPr>
    <a:noFill/>
    <a:ln w="0">
      <a:noFill/>
    </a:ln>
  </c:spPr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</cs:colorStyle>
</file>

<file path=ppt/charts/colors43.xml><?xml version="1.0" encoding="utf-8"?>
<cs:colorStyle xmlns:cs="http://schemas.microsoft.com/office/drawing/2012/chartStyle" xmlns:a="http://schemas.openxmlformats.org/drawingml/2006/main" meth="cycle" id="10">
  <a:schemeClr val="accent1"/>
</cs:colorStyle>
</file>

<file path=ppt/charts/style1.xml><?xml version="1.0" encoding="utf-8"?>
<cs:chartStyle xmlns:cs="http://schemas.microsoft.com/office/drawing/2012/chartStyle" xmlns:a="http://schemas.openxmlformats.org/drawingml/2006/main" id="419">
  <cs:axisTitle>
    <cs:lnRef idx="0"/>
    <cs:fillRef idx="0"/>
    <cs:effectRef idx="0"/>
    <cs:fontRef idx="minor"/>
  </cs:axisTitle>
  <cs:categoryAxis>
    <cs:lnRef idx="0"/>
    <cs:fillRef idx="0"/>
    <cs:effectRef idx="0"/>
    <cs:fontRef idx="minor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chartArea>
  <cs:dataLabel>
    <cs:lnRef idx="0"/>
    <cs:fillRef idx="0"/>
    <cs:effectRef idx="0"/>
    <cs:fontRef idx="minor"/>
  </cs:dataLabel>
  <cs:dataPoint>
    <cs:lnRef idx="0"/>
    <cs:fillRef idx="0">
      <cs:styleClr val="auto"/>
    </cs:fillRef>
    <cs:effectRef idx="0"/>
    <cs:fontRef idx="minor">
      <cs:schemeClr val="tx1"/>
    </cs:fontRef>
    <cs:spPr>
      <a:solidFill>
        <a:schemeClr val="phClr"/>
      </a:solidFill>
    </cs:spPr>
  </cs:dataPoint>
  <cs:dataPoint3D>
    <cs:lnRef idx="0"/>
    <cs:fillRef idx="0"/>
    <cs:effectRef idx="0"/>
    <cs:fontRef idx="minor"/>
  </cs:dataPoint3D>
  <cs:dataPointLine>
    <cs:lnRef idx="0"/>
    <cs:fillRef idx="0"/>
    <cs:effectRef idx="0"/>
    <cs:fontRef idx="minor"/>
  </cs:dataPointLine>
  <cs:dataPointMarker>
    <cs:lnRef idx="0"/>
    <cs:fillRef idx="0"/>
    <cs:effectRef idx="0"/>
    <cs:fontRef idx="minor"/>
  </cs:dataPointMarker>
  <cs:dataPointMarkerLayout>
    <cs:lnRef idx="0"/>
    <cs:fillRef idx="0"/>
    <cs:effectRef idx="0"/>
    <cs:fontRef idx="minor"/>
  </cs:dataPointMarkerLayout>
  <cs:dataPointWireframe>
    <cs:lnRef idx="0"/>
    <cs:fillRef idx="0"/>
    <cs:effectRef idx="0"/>
    <cs:fontRef idx="minor"/>
  </cs:dataPointWireframe>
  <cs:dataTable>
    <cs:lnRef idx="0"/>
    <cs:fillRef idx="0"/>
    <cs:effectRef idx="0"/>
    <cs:fontRef idx="minor"/>
  </cs:dataTable>
  <cs:downBar>
    <cs:lnRef idx="0"/>
    <cs:fillRef idx="0"/>
    <cs:effectRef idx="0"/>
    <cs:fontRef idx="minor"/>
  </cs:downBar>
  <cs:dropLine>
    <cs:lnRef idx="0"/>
    <cs:fillRef idx="0"/>
    <cs:effectRef idx="0"/>
    <cs:fontRef idx="minor"/>
  </cs:dropLine>
  <cs:errorBar>
    <cs:lnRef idx="0"/>
    <cs:fillRef idx="0"/>
    <cs:effectRef idx="0"/>
    <cs:fontRef idx="minor"/>
  </cs:errorBar>
  <cs:floor>
    <cs:lnRef idx="0"/>
    <cs:fillRef idx="0"/>
    <cs:effectRef idx="0"/>
    <cs:fontRef idx="minor"/>
  </cs:floor>
  <cs:gridlineMajor>
    <cs:lnRef idx="0"/>
    <cs:fillRef idx="0"/>
    <cs:effectRef idx="0"/>
    <cs:fontRef idx="minor"/>
  </cs:gridlineMajor>
  <cs:gridlineMinor>
    <cs:lnRef idx="0"/>
    <cs:fillRef idx="0"/>
    <cs:effectRef idx="0"/>
    <cs:fontRef idx="minor"/>
  </cs:gridlineMinor>
  <cs:hiLoLine>
    <cs:lnRef idx="0"/>
    <cs:fillRef idx="0"/>
    <cs:effectRef idx="0"/>
    <cs:fontRef idx="minor"/>
  </cs:hiLoLine>
  <cs:leaderLine>
    <cs:lnRef idx="0"/>
    <cs:fillRef idx="0"/>
    <cs:effectRef idx="0"/>
    <cs:fontRef idx="minor"/>
  </cs:leaderLine>
  <cs:legend>
    <cs:lnRef idx="0"/>
    <cs:fillRef idx="0"/>
    <cs:effectRef idx="0"/>
    <cs:fontRef idx="minor"/>
  </cs:legend>
  <cs:plotArea>
    <cs:lnRef idx="0"/>
    <cs:fillRef idx="0"/>
    <cs:effectRef idx="0"/>
    <cs:fontRef idx="minor"/>
  </cs:plotArea>
  <cs:plotArea3D>
    <cs:lnRef idx="0"/>
    <cs:fillRef idx="0"/>
    <cs:effectRef idx="0"/>
    <cs:fontRef idx="minor"/>
  </cs:plotArea3D>
  <cs:seriesAxis>
    <cs:lnRef idx="0"/>
    <cs:fillRef idx="0"/>
    <cs:effectRef idx="0"/>
    <cs:fontRef idx="minor"/>
  </cs:seriesAxis>
  <cs:seriesLine>
    <cs:lnRef idx="0"/>
    <cs:fillRef idx="0"/>
    <cs:effectRef idx="0"/>
    <cs:fontRef idx="minor"/>
  </cs:seriesLine>
  <cs:title>
    <cs:lnRef idx="0"/>
    <cs:fillRef idx="0"/>
    <cs:effectRef idx="0"/>
    <cs:fontRef idx="minor"/>
  </cs:title>
  <cs:trendline>
    <cs:lnRef idx="0"/>
    <cs:fillRef idx="0"/>
    <cs:effectRef idx="0"/>
    <cs:fontRef idx="minor"/>
  </cs:trendline>
  <cs:trendlineLabel>
    <cs:lnRef idx="0"/>
    <cs:fillRef idx="0"/>
    <cs:effectRef idx="0"/>
    <cs:fontRef idx="minor"/>
  </cs:trendlineLabel>
  <cs:upBar>
    <cs:lnRef idx="0"/>
    <cs:fillRef idx="0"/>
    <cs:effectRef idx="0"/>
    <cs:fontRef idx="minor"/>
  </cs:upBar>
  <cs:valueAxis>
    <cs:lnRef idx="0"/>
    <cs:fillRef idx="0"/>
    <cs:effectRef idx="0"/>
    <cs:fontRef idx="minor"/>
  </cs:valueAxis>
  <cs:wall>
    <cs:lnRef idx="0"/>
    <cs:fillRef idx="0"/>
    <cs:effectRef idx="0"/>
    <cs:fontRef idx="minor"/>
  </cs:wall>
</cs:chartStyle>
</file>

<file path=ppt/charts/style2.xml><?xml version="1.0" encoding="utf-8"?>
<cs:chartStyle xmlns:cs="http://schemas.microsoft.com/office/drawing/2012/chartStyle" xmlns:a="http://schemas.openxmlformats.org/drawingml/2006/main" id="419">
  <cs:axisTitle>
    <cs:lnRef idx="0"/>
    <cs:fillRef idx="0"/>
    <cs:effectRef idx="0"/>
    <cs:fontRef idx="minor"/>
  </cs:axisTitle>
  <cs:categoryAxis>
    <cs:lnRef idx="0"/>
    <cs:fillRef idx="0"/>
    <cs:effectRef idx="0"/>
    <cs:fontRef idx="minor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chartArea>
  <cs:dataLabel>
    <cs:lnRef idx="0"/>
    <cs:fillRef idx="0"/>
    <cs:effectRef idx="0"/>
    <cs:fontRef idx="minor"/>
  </cs:dataLabel>
  <cs:dataPoint>
    <cs:lnRef idx="0"/>
    <cs:fillRef idx="0">
      <cs:styleClr val="auto"/>
    </cs:fillRef>
    <cs:effectRef idx="0"/>
    <cs:fontRef idx="minor">
      <cs:schemeClr val="tx1"/>
    </cs:fontRef>
    <cs:spPr>
      <a:solidFill>
        <a:schemeClr val="phClr"/>
      </a:solidFill>
    </cs:spPr>
  </cs:dataPoint>
  <cs:dataPoint3D>
    <cs:lnRef idx="0"/>
    <cs:fillRef idx="0"/>
    <cs:effectRef idx="0"/>
    <cs:fontRef idx="minor"/>
  </cs:dataPoint3D>
  <cs:dataPointLine>
    <cs:lnRef idx="0"/>
    <cs:fillRef idx="0"/>
    <cs:effectRef idx="0"/>
    <cs:fontRef idx="minor"/>
  </cs:dataPointLine>
  <cs:dataPointMarker>
    <cs:lnRef idx="0"/>
    <cs:fillRef idx="0"/>
    <cs:effectRef idx="0"/>
    <cs:fontRef idx="minor"/>
  </cs:dataPointMarker>
  <cs:dataPointMarkerLayout>
    <cs:lnRef idx="0"/>
    <cs:fillRef idx="0"/>
    <cs:effectRef idx="0"/>
    <cs:fontRef idx="minor"/>
  </cs:dataPointMarkerLayout>
  <cs:dataPointWireframe>
    <cs:lnRef idx="0"/>
    <cs:fillRef idx="0"/>
    <cs:effectRef idx="0"/>
    <cs:fontRef idx="minor"/>
  </cs:dataPointWireframe>
  <cs:dataTable>
    <cs:lnRef idx="0"/>
    <cs:fillRef idx="0"/>
    <cs:effectRef idx="0"/>
    <cs:fontRef idx="minor"/>
  </cs:dataTable>
  <cs:downBar>
    <cs:lnRef idx="0"/>
    <cs:fillRef idx="0"/>
    <cs:effectRef idx="0"/>
    <cs:fontRef idx="minor"/>
  </cs:downBar>
  <cs:dropLine>
    <cs:lnRef idx="0"/>
    <cs:fillRef idx="0"/>
    <cs:effectRef idx="0"/>
    <cs:fontRef idx="minor"/>
  </cs:dropLine>
  <cs:errorBar>
    <cs:lnRef idx="0"/>
    <cs:fillRef idx="0"/>
    <cs:effectRef idx="0"/>
    <cs:fontRef idx="minor"/>
  </cs:errorBar>
  <cs:floor>
    <cs:lnRef idx="0"/>
    <cs:fillRef idx="0"/>
    <cs:effectRef idx="0"/>
    <cs:fontRef idx="minor"/>
  </cs:floor>
  <cs:gridlineMajor>
    <cs:lnRef idx="0"/>
    <cs:fillRef idx="0"/>
    <cs:effectRef idx="0"/>
    <cs:fontRef idx="minor"/>
  </cs:gridlineMajor>
  <cs:gridlineMinor>
    <cs:lnRef idx="0"/>
    <cs:fillRef idx="0"/>
    <cs:effectRef idx="0"/>
    <cs:fontRef idx="minor"/>
  </cs:gridlineMinor>
  <cs:hiLoLine>
    <cs:lnRef idx="0"/>
    <cs:fillRef idx="0"/>
    <cs:effectRef idx="0"/>
    <cs:fontRef idx="minor"/>
  </cs:hiLoLine>
  <cs:leaderLine>
    <cs:lnRef idx="0"/>
    <cs:fillRef idx="0"/>
    <cs:effectRef idx="0"/>
    <cs:fontRef idx="minor"/>
  </cs:leaderLine>
  <cs:legend>
    <cs:lnRef idx="0"/>
    <cs:fillRef idx="0"/>
    <cs:effectRef idx="0"/>
    <cs:fontRef idx="minor"/>
  </cs:legend>
  <cs:plotArea>
    <cs:lnRef idx="0"/>
    <cs:fillRef idx="0"/>
    <cs:effectRef idx="0"/>
    <cs:fontRef idx="minor"/>
  </cs:plotArea>
  <cs:plotArea3D>
    <cs:lnRef idx="0"/>
    <cs:fillRef idx="0"/>
    <cs:effectRef idx="0"/>
    <cs:fontRef idx="minor"/>
  </cs:plotArea3D>
  <cs:seriesAxis>
    <cs:lnRef idx="0"/>
    <cs:fillRef idx="0"/>
    <cs:effectRef idx="0"/>
    <cs:fontRef idx="minor"/>
  </cs:seriesAxis>
  <cs:seriesLine>
    <cs:lnRef idx="0"/>
    <cs:fillRef idx="0"/>
    <cs:effectRef idx="0"/>
    <cs:fontRef idx="minor"/>
  </cs:seriesLine>
  <cs:title>
    <cs:lnRef idx="0"/>
    <cs:fillRef idx="0"/>
    <cs:effectRef idx="0"/>
    <cs:fontRef idx="minor"/>
  </cs:title>
  <cs:trendline>
    <cs:lnRef idx="0"/>
    <cs:fillRef idx="0"/>
    <cs:effectRef idx="0"/>
    <cs:fontRef idx="minor"/>
  </cs:trendline>
  <cs:trendlineLabel>
    <cs:lnRef idx="0"/>
    <cs:fillRef idx="0"/>
    <cs:effectRef idx="0"/>
    <cs:fontRef idx="minor"/>
  </cs:trendlineLabel>
  <cs:upBar>
    <cs:lnRef idx="0"/>
    <cs:fillRef idx="0"/>
    <cs:effectRef idx="0"/>
    <cs:fontRef idx="minor"/>
  </cs:upBar>
  <cs:valueAxis>
    <cs:lnRef idx="0"/>
    <cs:fillRef idx="0"/>
    <cs:effectRef idx="0"/>
    <cs:fontRef idx="minor"/>
  </cs:valueAxis>
  <cs:wall>
    <cs:lnRef idx="0"/>
    <cs:fillRef idx="0"/>
    <cs:effectRef idx="0"/>
    <cs:fontRef idx="minor"/>
  </cs:wall>
</cs:chartStyle>
</file>

<file path=ppt/charts/style3.xml><?xml version="1.0" encoding="utf-8"?>
<cs:chartStyle xmlns:cs="http://schemas.microsoft.com/office/drawing/2012/chartStyle" xmlns:a="http://schemas.openxmlformats.org/drawingml/2006/main" id="419">
  <cs:axisTitle>
    <cs:lnRef idx="0"/>
    <cs:fillRef idx="0"/>
    <cs:effectRef idx="0"/>
    <cs:fontRef idx="minor"/>
  </cs:axisTitle>
  <cs:categoryAxis>
    <cs:lnRef idx="0"/>
    <cs:fillRef idx="0"/>
    <cs:effectRef idx="0"/>
    <cs:fontRef idx="minor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chartArea>
  <cs:dataLabel>
    <cs:lnRef idx="0"/>
    <cs:fillRef idx="0"/>
    <cs:effectRef idx="0"/>
    <cs:fontRef idx="minor"/>
  </cs:dataLabel>
  <cs:dataPoint>
    <cs:lnRef idx="0"/>
    <cs:fillRef idx="0">
      <cs:styleClr val="auto"/>
    </cs:fillRef>
    <cs:effectRef idx="0"/>
    <cs:fontRef idx="minor">
      <cs:schemeClr val="tx1"/>
    </cs:fontRef>
    <cs:spPr>
      <a:solidFill>
        <a:schemeClr val="phClr"/>
      </a:solidFill>
    </cs:spPr>
  </cs:dataPoint>
  <cs:dataPoint3D>
    <cs:lnRef idx="0"/>
    <cs:fillRef idx="0"/>
    <cs:effectRef idx="0"/>
    <cs:fontRef idx="minor"/>
  </cs:dataPoint3D>
  <cs:dataPointLine>
    <cs:lnRef idx="0"/>
    <cs:fillRef idx="0"/>
    <cs:effectRef idx="0"/>
    <cs:fontRef idx="minor"/>
  </cs:dataPointLine>
  <cs:dataPointMarker>
    <cs:lnRef idx="0"/>
    <cs:fillRef idx="0"/>
    <cs:effectRef idx="0"/>
    <cs:fontRef idx="minor"/>
  </cs:dataPointMarker>
  <cs:dataPointMarkerLayout>
    <cs:lnRef idx="0"/>
    <cs:fillRef idx="0"/>
    <cs:effectRef idx="0"/>
    <cs:fontRef idx="minor"/>
  </cs:dataPointMarkerLayout>
  <cs:dataPointWireframe>
    <cs:lnRef idx="0"/>
    <cs:fillRef idx="0"/>
    <cs:effectRef idx="0"/>
    <cs:fontRef idx="minor"/>
  </cs:dataPointWireframe>
  <cs:dataTable>
    <cs:lnRef idx="0"/>
    <cs:fillRef idx="0"/>
    <cs:effectRef idx="0"/>
    <cs:fontRef idx="minor"/>
  </cs:dataTable>
  <cs:downBar>
    <cs:lnRef idx="0"/>
    <cs:fillRef idx="0"/>
    <cs:effectRef idx="0"/>
    <cs:fontRef idx="minor"/>
  </cs:downBar>
  <cs:dropLine>
    <cs:lnRef idx="0"/>
    <cs:fillRef idx="0"/>
    <cs:effectRef idx="0"/>
    <cs:fontRef idx="minor"/>
  </cs:dropLine>
  <cs:errorBar>
    <cs:lnRef idx="0"/>
    <cs:fillRef idx="0"/>
    <cs:effectRef idx="0"/>
    <cs:fontRef idx="minor"/>
  </cs:errorBar>
  <cs:floor>
    <cs:lnRef idx="0"/>
    <cs:fillRef idx="0"/>
    <cs:effectRef idx="0"/>
    <cs:fontRef idx="minor"/>
  </cs:floor>
  <cs:gridlineMajor>
    <cs:lnRef idx="0"/>
    <cs:fillRef idx="0"/>
    <cs:effectRef idx="0"/>
    <cs:fontRef idx="minor"/>
  </cs:gridlineMajor>
  <cs:gridlineMinor>
    <cs:lnRef idx="0"/>
    <cs:fillRef idx="0"/>
    <cs:effectRef idx="0"/>
    <cs:fontRef idx="minor"/>
  </cs:gridlineMinor>
  <cs:hiLoLine>
    <cs:lnRef idx="0"/>
    <cs:fillRef idx="0"/>
    <cs:effectRef idx="0"/>
    <cs:fontRef idx="minor"/>
  </cs:hiLoLine>
  <cs:leaderLine>
    <cs:lnRef idx="0"/>
    <cs:fillRef idx="0"/>
    <cs:effectRef idx="0"/>
    <cs:fontRef idx="minor"/>
  </cs:leaderLine>
  <cs:legend>
    <cs:lnRef idx="0"/>
    <cs:fillRef idx="0"/>
    <cs:effectRef idx="0"/>
    <cs:fontRef idx="minor"/>
  </cs:legend>
  <cs:plotArea>
    <cs:lnRef idx="0"/>
    <cs:fillRef idx="0"/>
    <cs:effectRef idx="0"/>
    <cs:fontRef idx="minor"/>
  </cs:plotArea>
  <cs:plotArea3D>
    <cs:lnRef idx="0"/>
    <cs:fillRef idx="0"/>
    <cs:effectRef idx="0"/>
    <cs:fontRef idx="minor"/>
  </cs:plotArea3D>
  <cs:seriesAxis>
    <cs:lnRef idx="0"/>
    <cs:fillRef idx="0"/>
    <cs:effectRef idx="0"/>
    <cs:fontRef idx="minor"/>
  </cs:seriesAxis>
  <cs:seriesLine>
    <cs:lnRef idx="0"/>
    <cs:fillRef idx="0"/>
    <cs:effectRef idx="0"/>
    <cs:fontRef idx="minor"/>
  </cs:seriesLine>
  <cs:title>
    <cs:lnRef idx="0"/>
    <cs:fillRef idx="0"/>
    <cs:effectRef idx="0"/>
    <cs:fontRef idx="minor"/>
  </cs:title>
  <cs:trendline>
    <cs:lnRef idx="0"/>
    <cs:fillRef idx="0"/>
    <cs:effectRef idx="0"/>
    <cs:fontRef idx="minor"/>
  </cs:trendline>
  <cs:trendlineLabel>
    <cs:lnRef idx="0"/>
    <cs:fillRef idx="0"/>
    <cs:effectRef idx="0"/>
    <cs:fontRef idx="minor"/>
  </cs:trendlineLabel>
  <cs:upBar>
    <cs:lnRef idx="0"/>
    <cs:fillRef idx="0"/>
    <cs:effectRef idx="0"/>
    <cs:fontRef idx="minor"/>
  </cs:upBar>
  <cs:valueAxis>
    <cs:lnRef idx="0"/>
    <cs:fillRef idx="0"/>
    <cs:effectRef idx="0"/>
    <cs:fontRef idx="minor"/>
  </cs:valueAxis>
  <cs:wall>
    <cs:lnRef idx="0"/>
    <cs:fillRef idx="0"/>
    <cs:effectRef idx="0"/>
    <cs:fontRef idx="minor"/>
  </cs:wall>
</cs:chartStyle>
</file>

<file path=ppt/charts/style4.xml><?xml version="1.0" encoding="utf-8"?>
<cs:chartStyle xmlns:cs="http://schemas.microsoft.com/office/drawing/2012/chartStyle" xmlns:a="http://schemas.openxmlformats.org/drawingml/2006/main" id="419">
  <cs:axisTitle>
    <cs:lnRef idx="0"/>
    <cs:fillRef idx="0"/>
    <cs:effectRef idx="0"/>
    <cs:fontRef idx="minor"/>
  </cs:axisTitle>
  <cs:categoryAxis>
    <cs:lnRef idx="0"/>
    <cs:fillRef idx="0"/>
    <cs:effectRef idx="0"/>
    <cs:fontRef idx="minor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chartArea>
  <cs:dataLabel>
    <cs:lnRef idx="0"/>
    <cs:fillRef idx="0"/>
    <cs:effectRef idx="0"/>
    <cs:fontRef idx="minor"/>
  </cs:dataLabel>
  <cs:dataPoint>
    <cs:lnRef idx="0"/>
    <cs:fillRef idx="0">
      <cs:styleClr val="auto"/>
    </cs:fillRef>
    <cs:effectRef idx="0"/>
    <cs:fontRef idx="minor">
      <cs:schemeClr val="tx1"/>
    </cs:fontRef>
    <cs:spPr>
      <a:solidFill>
        <a:schemeClr val="phClr"/>
      </a:solidFill>
    </cs:spPr>
  </cs:dataPoint>
  <cs:dataPoint3D>
    <cs:lnRef idx="0"/>
    <cs:fillRef idx="0"/>
    <cs:effectRef idx="0"/>
    <cs:fontRef idx="minor"/>
  </cs:dataPoint3D>
  <cs:dataPointLine>
    <cs:lnRef idx="0"/>
    <cs:fillRef idx="0"/>
    <cs:effectRef idx="0"/>
    <cs:fontRef idx="minor"/>
  </cs:dataPointLine>
  <cs:dataPointMarker>
    <cs:lnRef idx="0"/>
    <cs:fillRef idx="0"/>
    <cs:effectRef idx="0"/>
    <cs:fontRef idx="minor"/>
  </cs:dataPointMarker>
  <cs:dataPointMarkerLayout>
    <cs:lnRef idx="0"/>
    <cs:fillRef idx="0"/>
    <cs:effectRef idx="0"/>
    <cs:fontRef idx="minor"/>
  </cs:dataPointMarkerLayout>
  <cs:dataPointWireframe>
    <cs:lnRef idx="0"/>
    <cs:fillRef idx="0"/>
    <cs:effectRef idx="0"/>
    <cs:fontRef idx="minor"/>
  </cs:dataPointWireframe>
  <cs:dataTable>
    <cs:lnRef idx="0"/>
    <cs:fillRef idx="0"/>
    <cs:effectRef idx="0"/>
    <cs:fontRef idx="minor"/>
  </cs:dataTable>
  <cs:downBar>
    <cs:lnRef idx="0"/>
    <cs:fillRef idx="0"/>
    <cs:effectRef idx="0"/>
    <cs:fontRef idx="minor"/>
  </cs:downBar>
  <cs:dropLine>
    <cs:lnRef idx="0"/>
    <cs:fillRef idx="0"/>
    <cs:effectRef idx="0"/>
    <cs:fontRef idx="minor"/>
  </cs:dropLine>
  <cs:errorBar>
    <cs:lnRef idx="0"/>
    <cs:fillRef idx="0"/>
    <cs:effectRef idx="0"/>
    <cs:fontRef idx="minor"/>
  </cs:errorBar>
  <cs:floor>
    <cs:lnRef idx="0"/>
    <cs:fillRef idx="0"/>
    <cs:effectRef idx="0"/>
    <cs:fontRef idx="minor"/>
  </cs:floor>
  <cs:gridlineMajor>
    <cs:lnRef idx="0"/>
    <cs:fillRef idx="0"/>
    <cs:effectRef idx="0"/>
    <cs:fontRef idx="minor"/>
  </cs:gridlineMajor>
  <cs:gridlineMinor>
    <cs:lnRef idx="0"/>
    <cs:fillRef idx="0"/>
    <cs:effectRef idx="0"/>
    <cs:fontRef idx="minor"/>
  </cs:gridlineMinor>
  <cs:hiLoLine>
    <cs:lnRef idx="0"/>
    <cs:fillRef idx="0"/>
    <cs:effectRef idx="0"/>
    <cs:fontRef idx="minor"/>
  </cs:hiLoLine>
  <cs:leaderLine>
    <cs:lnRef idx="0"/>
    <cs:fillRef idx="0"/>
    <cs:effectRef idx="0"/>
    <cs:fontRef idx="minor"/>
  </cs:leaderLine>
  <cs:legend>
    <cs:lnRef idx="0"/>
    <cs:fillRef idx="0"/>
    <cs:effectRef idx="0"/>
    <cs:fontRef idx="minor"/>
  </cs:legend>
  <cs:plotArea>
    <cs:lnRef idx="0"/>
    <cs:fillRef idx="0"/>
    <cs:effectRef idx="0"/>
    <cs:fontRef idx="minor"/>
  </cs:plotArea>
  <cs:plotArea3D>
    <cs:lnRef idx="0"/>
    <cs:fillRef idx="0"/>
    <cs:effectRef idx="0"/>
    <cs:fontRef idx="minor"/>
  </cs:plotArea3D>
  <cs:seriesAxis>
    <cs:lnRef idx="0"/>
    <cs:fillRef idx="0"/>
    <cs:effectRef idx="0"/>
    <cs:fontRef idx="minor"/>
  </cs:seriesAxis>
  <cs:seriesLine>
    <cs:lnRef idx="0"/>
    <cs:fillRef idx="0"/>
    <cs:effectRef idx="0"/>
    <cs:fontRef idx="minor"/>
  </cs:seriesLine>
  <cs:title>
    <cs:lnRef idx="0"/>
    <cs:fillRef idx="0"/>
    <cs:effectRef idx="0"/>
    <cs:fontRef idx="minor"/>
  </cs:title>
  <cs:trendline>
    <cs:lnRef idx="0"/>
    <cs:fillRef idx="0"/>
    <cs:effectRef idx="0"/>
    <cs:fontRef idx="minor"/>
  </cs:trendline>
  <cs:trendlineLabel>
    <cs:lnRef idx="0"/>
    <cs:fillRef idx="0"/>
    <cs:effectRef idx="0"/>
    <cs:fontRef idx="minor"/>
  </cs:trendlineLabel>
  <cs:upBar>
    <cs:lnRef idx="0"/>
    <cs:fillRef idx="0"/>
    <cs:effectRef idx="0"/>
    <cs:fontRef idx="minor"/>
  </cs:upBar>
  <cs:valueAxis>
    <cs:lnRef idx="0"/>
    <cs:fillRef idx="0"/>
    <cs:effectRef idx="0"/>
    <cs:fontRef idx="minor"/>
  </cs:valueAxis>
  <cs:wall>
    <cs:lnRef idx="0"/>
    <cs:fillRef idx="0"/>
    <cs:effectRef idx="0"/>
    <cs:fontRef idx="minor"/>
  </cs:wall>
</cs:chartStyle>
</file>

<file path=ppt/charts/style5.xml><?xml version="1.0" encoding="utf-8"?>
<cs:chartStyle xmlns:cs="http://schemas.microsoft.com/office/drawing/2012/chartStyle" xmlns:a="http://schemas.openxmlformats.org/drawingml/2006/main" id="419">
  <cs:axisTitle>
    <cs:lnRef idx="0"/>
    <cs:fillRef idx="0"/>
    <cs:effectRef idx="0"/>
    <cs:fontRef idx="minor"/>
  </cs:axisTitle>
  <cs:categoryAxis>
    <cs:lnRef idx="0"/>
    <cs:fillRef idx="0"/>
    <cs:effectRef idx="0"/>
    <cs:fontRef idx="minor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chartArea>
  <cs:dataLabel>
    <cs:lnRef idx="0"/>
    <cs:fillRef idx="0"/>
    <cs:effectRef idx="0"/>
    <cs:fontRef idx="minor"/>
  </cs:dataLabel>
  <cs:dataPoint>
    <cs:lnRef idx="0"/>
    <cs:fillRef idx="0">
      <cs:styleClr val="auto"/>
    </cs:fillRef>
    <cs:effectRef idx="0"/>
    <cs:fontRef idx="minor">
      <cs:schemeClr val="tx1"/>
    </cs:fontRef>
    <cs:spPr>
      <a:solidFill>
        <a:schemeClr val="phClr"/>
      </a:solidFill>
    </cs:spPr>
  </cs:dataPoint>
  <cs:dataPoint3D>
    <cs:lnRef idx="0"/>
    <cs:fillRef idx="0"/>
    <cs:effectRef idx="0"/>
    <cs:fontRef idx="minor"/>
  </cs:dataPoint3D>
  <cs:dataPointLine>
    <cs:lnRef idx="0"/>
    <cs:fillRef idx="0"/>
    <cs:effectRef idx="0"/>
    <cs:fontRef idx="minor"/>
  </cs:dataPointLine>
  <cs:dataPointMarker>
    <cs:lnRef idx="0"/>
    <cs:fillRef idx="0"/>
    <cs:effectRef idx="0"/>
    <cs:fontRef idx="minor"/>
  </cs:dataPointMarker>
  <cs:dataPointMarkerLayout>
    <cs:lnRef idx="0"/>
    <cs:fillRef idx="0"/>
    <cs:effectRef idx="0"/>
    <cs:fontRef idx="minor"/>
  </cs:dataPointMarkerLayout>
  <cs:dataPointWireframe>
    <cs:lnRef idx="0"/>
    <cs:fillRef idx="0"/>
    <cs:effectRef idx="0"/>
    <cs:fontRef idx="minor"/>
  </cs:dataPointWireframe>
  <cs:dataTable>
    <cs:lnRef idx="0"/>
    <cs:fillRef idx="0"/>
    <cs:effectRef idx="0"/>
    <cs:fontRef idx="minor"/>
  </cs:dataTable>
  <cs:downBar>
    <cs:lnRef idx="0"/>
    <cs:fillRef idx="0"/>
    <cs:effectRef idx="0"/>
    <cs:fontRef idx="minor"/>
  </cs:downBar>
  <cs:dropLine>
    <cs:lnRef idx="0"/>
    <cs:fillRef idx="0"/>
    <cs:effectRef idx="0"/>
    <cs:fontRef idx="minor"/>
  </cs:dropLine>
  <cs:errorBar>
    <cs:lnRef idx="0"/>
    <cs:fillRef idx="0"/>
    <cs:effectRef idx="0"/>
    <cs:fontRef idx="minor"/>
  </cs:errorBar>
  <cs:floor>
    <cs:lnRef idx="0"/>
    <cs:fillRef idx="0"/>
    <cs:effectRef idx="0"/>
    <cs:fontRef idx="minor"/>
  </cs:floor>
  <cs:gridlineMajor>
    <cs:lnRef idx="0"/>
    <cs:fillRef idx="0"/>
    <cs:effectRef idx="0"/>
    <cs:fontRef idx="minor"/>
  </cs:gridlineMajor>
  <cs:gridlineMinor>
    <cs:lnRef idx="0"/>
    <cs:fillRef idx="0"/>
    <cs:effectRef idx="0"/>
    <cs:fontRef idx="minor"/>
  </cs:gridlineMinor>
  <cs:hiLoLine>
    <cs:lnRef idx="0"/>
    <cs:fillRef idx="0"/>
    <cs:effectRef idx="0"/>
    <cs:fontRef idx="minor"/>
  </cs:hiLoLine>
  <cs:leaderLine>
    <cs:lnRef idx="0"/>
    <cs:fillRef idx="0"/>
    <cs:effectRef idx="0"/>
    <cs:fontRef idx="minor"/>
  </cs:leaderLine>
  <cs:legend>
    <cs:lnRef idx="0"/>
    <cs:fillRef idx="0"/>
    <cs:effectRef idx="0"/>
    <cs:fontRef idx="minor"/>
  </cs:legend>
  <cs:plotArea>
    <cs:lnRef idx="0"/>
    <cs:fillRef idx="0"/>
    <cs:effectRef idx="0"/>
    <cs:fontRef idx="minor"/>
  </cs:plotArea>
  <cs:plotArea3D>
    <cs:lnRef idx="0"/>
    <cs:fillRef idx="0"/>
    <cs:effectRef idx="0"/>
    <cs:fontRef idx="minor"/>
  </cs:plotArea3D>
  <cs:seriesAxis>
    <cs:lnRef idx="0"/>
    <cs:fillRef idx="0"/>
    <cs:effectRef idx="0"/>
    <cs:fontRef idx="minor"/>
  </cs:seriesAxis>
  <cs:seriesLine>
    <cs:lnRef idx="0"/>
    <cs:fillRef idx="0"/>
    <cs:effectRef idx="0"/>
    <cs:fontRef idx="minor"/>
  </cs:seriesLine>
  <cs:title>
    <cs:lnRef idx="0"/>
    <cs:fillRef idx="0"/>
    <cs:effectRef idx="0"/>
    <cs:fontRef idx="minor"/>
  </cs:title>
  <cs:trendline>
    <cs:lnRef idx="0"/>
    <cs:fillRef idx="0"/>
    <cs:effectRef idx="0"/>
    <cs:fontRef idx="minor"/>
  </cs:trendline>
  <cs:trendlineLabel>
    <cs:lnRef idx="0"/>
    <cs:fillRef idx="0"/>
    <cs:effectRef idx="0"/>
    <cs:fontRef idx="minor"/>
  </cs:trendlineLabel>
  <cs:upBar>
    <cs:lnRef idx="0"/>
    <cs:fillRef idx="0"/>
    <cs:effectRef idx="0"/>
    <cs:fontRef idx="minor"/>
  </cs:upBar>
  <cs:valueAxis>
    <cs:lnRef idx="0"/>
    <cs:fillRef idx="0"/>
    <cs:effectRef idx="0"/>
    <cs:fontRef idx="minor"/>
  </cs:valueAxis>
  <cs:wall>
    <cs:lnRef idx="0"/>
    <cs:fillRef idx="0"/>
    <cs:effectRef idx="0"/>
    <cs:fontRef idx="minor"/>
  </cs:wall>
</cs:chartStyle>
</file>

<file path=ppt/charts/style6.xml><?xml version="1.0" encoding="utf-8"?>
<cs:chartStyle xmlns:cs="http://schemas.microsoft.com/office/drawing/2012/chartStyle" xmlns:a="http://schemas.openxmlformats.org/drawingml/2006/main" id="419">
  <cs:axisTitle>
    <cs:lnRef idx="0"/>
    <cs:fillRef idx="0"/>
    <cs:effectRef idx="0"/>
    <cs:fontRef idx="minor"/>
  </cs:axisTitle>
  <cs:categoryAxis>
    <cs:lnRef idx="0"/>
    <cs:fillRef idx="0"/>
    <cs:effectRef idx="0"/>
    <cs:fontRef idx="minor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chartArea>
  <cs:dataLabel>
    <cs:lnRef idx="0"/>
    <cs:fillRef idx="0"/>
    <cs:effectRef idx="0"/>
    <cs:fontRef idx="minor"/>
  </cs:dataLabel>
  <cs:dataPoint>
    <cs:lnRef idx="0"/>
    <cs:fillRef idx="0">
      <cs:styleClr val="auto"/>
    </cs:fillRef>
    <cs:effectRef idx="0"/>
    <cs:fontRef idx="minor">
      <cs:schemeClr val="tx1"/>
    </cs:fontRef>
    <cs:spPr>
      <a:solidFill>
        <a:schemeClr val="phClr"/>
      </a:solidFill>
    </cs:spPr>
  </cs:dataPoint>
  <cs:dataPoint3D>
    <cs:lnRef idx="0"/>
    <cs:fillRef idx="0"/>
    <cs:effectRef idx="0"/>
    <cs:fontRef idx="minor"/>
  </cs:dataPoint3D>
  <cs:dataPointLine>
    <cs:lnRef idx="0"/>
    <cs:fillRef idx="0"/>
    <cs:effectRef idx="0"/>
    <cs:fontRef idx="minor"/>
  </cs:dataPointLine>
  <cs:dataPointMarker>
    <cs:lnRef idx="0"/>
    <cs:fillRef idx="0"/>
    <cs:effectRef idx="0"/>
    <cs:fontRef idx="minor"/>
  </cs:dataPointMarker>
  <cs:dataPointMarkerLayout>
    <cs:lnRef idx="0"/>
    <cs:fillRef idx="0"/>
    <cs:effectRef idx="0"/>
    <cs:fontRef idx="minor"/>
  </cs:dataPointMarkerLayout>
  <cs:dataPointWireframe>
    <cs:lnRef idx="0"/>
    <cs:fillRef idx="0"/>
    <cs:effectRef idx="0"/>
    <cs:fontRef idx="minor"/>
  </cs:dataPointWireframe>
  <cs:dataTable>
    <cs:lnRef idx="0"/>
    <cs:fillRef idx="0"/>
    <cs:effectRef idx="0"/>
    <cs:fontRef idx="minor"/>
  </cs:dataTable>
  <cs:downBar>
    <cs:lnRef idx="0"/>
    <cs:fillRef idx="0"/>
    <cs:effectRef idx="0"/>
    <cs:fontRef idx="minor"/>
  </cs:downBar>
  <cs:dropLine>
    <cs:lnRef idx="0"/>
    <cs:fillRef idx="0"/>
    <cs:effectRef idx="0"/>
    <cs:fontRef idx="minor"/>
  </cs:dropLine>
  <cs:errorBar>
    <cs:lnRef idx="0"/>
    <cs:fillRef idx="0"/>
    <cs:effectRef idx="0"/>
    <cs:fontRef idx="minor"/>
  </cs:errorBar>
  <cs:floor>
    <cs:lnRef idx="0"/>
    <cs:fillRef idx="0"/>
    <cs:effectRef idx="0"/>
    <cs:fontRef idx="minor"/>
  </cs:floor>
  <cs:gridlineMajor>
    <cs:lnRef idx="0"/>
    <cs:fillRef idx="0"/>
    <cs:effectRef idx="0"/>
    <cs:fontRef idx="minor"/>
  </cs:gridlineMajor>
  <cs:gridlineMinor>
    <cs:lnRef idx="0"/>
    <cs:fillRef idx="0"/>
    <cs:effectRef idx="0"/>
    <cs:fontRef idx="minor"/>
  </cs:gridlineMinor>
  <cs:hiLoLine>
    <cs:lnRef idx="0"/>
    <cs:fillRef idx="0"/>
    <cs:effectRef idx="0"/>
    <cs:fontRef idx="minor"/>
  </cs:hiLoLine>
  <cs:leaderLine>
    <cs:lnRef idx="0"/>
    <cs:fillRef idx="0"/>
    <cs:effectRef idx="0"/>
    <cs:fontRef idx="minor"/>
  </cs:leaderLine>
  <cs:legend>
    <cs:lnRef idx="0"/>
    <cs:fillRef idx="0"/>
    <cs:effectRef idx="0"/>
    <cs:fontRef idx="minor"/>
  </cs:legend>
  <cs:plotArea>
    <cs:lnRef idx="0"/>
    <cs:fillRef idx="0"/>
    <cs:effectRef idx="0"/>
    <cs:fontRef idx="minor"/>
  </cs:plotArea>
  <cs:plotArea3D>
    <cs:lnRef idx="0"/>
    <cs:fillRef idx="0"/>
    <cs:effectRef idx="0"/>
    <cs:fontRef idx="minor"/>
  </cs:plotArea3D>
  <cs:seriesAxis>
    <cs:lnRef idx="0"/>
    <cs:fillRef idx="0"/>
    <cs:effectRef idx="0"/>
    <cs:fontRef idx="minor"/>
  </cs:seriesAxis>
  <cs:seriesLine>
    <cs:lnRef idx="0"/>
    <cs:fillRef idx="0"/>
    <cs:effectRef idx="0"/>
    <cs:fontRef idx="minor"/>
  </cs:seriesLine>
  <cs:title>
    <cs:lnRef idx="0"/>
    <cs:fillRef idx="0"/>
    <cs:effectRef idx="0"/>
    <cs:fontRef idx="minor"/>
  </cs:title>
  <cs:trendline>
    <cs:lnRef idx="0"/>
    <cs:fillRef idx="0"/>
    <cs:effectRef idx="0"/>
    <cs:fontRef idx="minor"/>
  </cs:trendline>
  <cs:trendlineLabel>
    <cs:lnRef idx="0"/>
    <cs:fillRef idx="0"/>
    <cs:effectRef idx="0"/>
    <cs:fontRef idx="minor"/>
  </cs:trendlineLabel>
  <cs:upBar>
    <cs:lnRef idx="0"/>
    <cs:fillRef idx="0"/>
    <cs:effectRef idx="0"/>
    <cs:fontRef idx="minor"/>
  </cs:upBar>
  <cs:valueAxis>
    <cs:lnRef idx="0"/>
    <cs:fillRef idx="0"/>
    <cs:effectRef idx="0"/>
    <cs:fontRef idx="minor"/>
  </cs:valueAxis>
  <cs:wall>
    <cs:lnRef idx="0"/>
    <cs:fillRef idx="0"/>
    <cs:effectRef idx="0"/>
    <cs:fontRef idx="minor"/>
  </cs:wall>
</cs:chartStyle>
</file>

<file path=ppt/charts/style43.xml><?xml version="1.0" encoding="utf-8"?>
<cs:chartStyle xmlns:cs="http://schemas.microsoft.com/office/drawing/2012/chartStyle" xmlns:a="http://schemas.openxmlformats.org/drawingml/2006/main" id="419">
  <cs:axisTitle>
    <cs:lnRef idx="0"/>
    <cs:fillRef idx="0"/>
    <cs:effectRef idx="0"/>
    <cs:fontRef idx="minor"/>
  </cs:axisTitle>
  <cs:categoryAxis>
    <cs:lnRef idx="0"/>
    <cs:fillRef idx="0"/>
    <cs:effectRef idx="0"/>
    <cs:fontRef idx="minor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chartArea>
  <cs:dataLabel>
    <cs:lnRef idx="0"/>
    <cs:fillRef idx="0"/>
    <cs:effectRef idx="0"/>
    <cs:fontRef idx="minor"/>
  </cs:dataLabel>
  <cs:dataPoint>
    <cs:lnRef idx="0"/>
    <cs:fillRef idx="0">
      <cs:styleClr val="auto"/>
    </cs:fillRef>
    <cs:effectRef idx="0"/>
    <cs:fontRef idx="minor">
      <cs:schemeClr val="tx1"/>
    </cs:fontRef>
    <cs:spPr>
      <a:solidFill>
        <a:schemeClr val="phClr"/>
      </a:solidFill>
    </cs:spPr>
  </cs:dataPoint>
  <cs:dataPoint3D>
    <cs:lnRef idx="0"/>
    <cs:fillRef idx="0"/>
    <cs:effectRef idx="0"/>
    <cs:fontRef idx="minor"/>
  </cs:dataPoint3D>
  <cs:dataPointLine>
    <cs:lnRef idx="0"/>
    <cs:fillRef idx="0"/>
    <cs:effectRef idx="0"/>
    <cs:fontRef idx="minor"/>
  </cs:dataPointLine>
  <cs:dataPointMarker>
    <cs:lnRef idx="0"/>
    <cs:fillRef idx="0"/>
    <cs:effectRef idx="0"/>
    <cs:fontRef idx="minor"/>
  </cs:dataPointMarker>
  <cs:dataPointMarkerLayout>
    <cs:lnRef idx="0"/>
    <cs:fillRef idx="0"/>
    <cs:effectRef idx="0"/>
    <cs:fontRef idx="minor"/>
  </cs:dataPointMarkerLayout>
  <cs:dataPointWireframe>
    <cs:lnRef idx="0"/>
    <cs:fillRef idx="0"/>
    <cs:effectRef idx="0"/>
    <cs:fontRef idx="minor"/>
  </cs:dataPointWireframe>
  <cs:dataTable>
    <cs:lnRef idx="0"/>
    <cs:fillRef idx="0"/>
    <cs:effectRef idx="0"/>
    <cs:fontRef idx="minor"/>
  </cs:dataTable>
  <cs:downBar>
    <cs:lnRef idx="0"/>
    <cs:fillRef idx="0"/>
    <cs:effectRef idx="0"/>
    <cs:fontRef idx="minor"/>
  </cs:downBar>
  <cs:dropLine>
    <cs:lnRef idx="0"/>
    <cs:fillRef idx="0"/>
    <cs:effectRef idx="0"/>
    <cs:fontRef idx="minor"/>
  </cs:dropLine>
  <cs:errorBar>
    <cs:lnRef idx="0"/>
    <cs:fillRef idx="0"/>
    <cs:effectRef idx="0"/>
    <cs:fontRef idx="minor"/>
  </cs:errorBar>
  <cs:floor>
    <cs:lnRef idx="0"/>
    <cs:fillRef idx="0"/>
    <cs:effectRef idx="0"/>
    <cs:fontRef idx="minor"/>
  </cs:floor>
  <cs:gridlineMajor>
    <cs:lnRef idx="0"/>
    <cs:fillRef idx="0"/>
    <cs:effectRef idx="0"/>
    <cs:fontRef idx="minor"/>
  </cs:gridlineMajor>
  <cs:gridlineMinor>
    <cs:lnRef idx="0"/>
    <cs:fillRef idx="0"/>
    <cs:effectRef idx="0"/>
    <cs:fontRef idx="minor"/>
  </cs:gridlineMinor>
  <cs:hiLoLine>
    <cs:lnRef idx="0"/>
    <cs:fillRef idx="0"/>
    <cs:effectRef idx="0"/>
    <cs:fontRef idx="minor"/>
  </cs:hiLoLine>
  <cs:leaderLine>
    <cs:lnRef idx="0"/>
    <cs:fillRef idx="0"/>
    <cs:effectRef idx="0"/>
    <cs:fontRef idx="minor"/>
  </cs:leaderLine>
  <cs:legend>
    <cs:lnRef idx="0"/>
    <cs:fillRef idx="0"/>
    <cs:effectRef idx="0"/>
    <cs:fontRef idx="minor"/>
  </cs:legend>
  <cs:plotArea>
    <cs:lnRef idx="0"/>
    <cs:fillRef idx="0"/>
    <cs:effectRef idx="0"/>
    <cs:fontRef idx="minor"/>
  </cs:plotArea>
  <cs:plotArea3D>
    <cs:lnRef idx="0"/>
    <cs:fillRef idx="0"/>
    <cs:effectRef idx="0"/>
    <cs:fontRef idx="minor"/>
  </cs:plotArea3D>
  <cs:seriesAxis>
    <cs:lnRef idx="0"/>
    <cs:fillRef idx="0"/>
    <cs:effectRef idx="0"/>
    <cs:fontRef idx="minor"/>
  </cs:seriesAxis>
  <cs:seriesLine>
    <cs:lnRef idx="0"/>
    <cs:fillRef idx="0"/>
    <cs:effectRef idx="0"/>
    <cs:fontRef idx="minor"/>
  </cs:seriesLine>
  <cs:title>
    <cs:lnRef idx="0"/>
    <cs:fillRef idx="0"/>
    <cs:effectRef idx="0"/>
    <cs:fontRef idx="minor"/>
  </cs:title>
  <cs:trendline>
    <cs:lnRef idx="0"/>
    <cs:fillRef idx="0"/>
    <cs:effectRef idx="0"/>
    <cs:fontRef idx="minor"/>
  </cs:trendline>
  <cs:trendlineLabel>
    <cs:lnRef idx="0"/>
    <cs:fillRef idx="0"/>
    <cs:effectRef idx="0"/>
    <cs:fontRef idx="minor"/>
  </cs:trendlineLabel>
  <cs:upBar>
    <cs:lnRef idx="0"/>
    <cs:fillRef idx="0"/>
    <cs:effectRef idx="0"/>
    <cs:fontRef idx="minor"/>
  </cs:upBar>
  <cs:valueAxis>
    <cs:lnRef idx="0"/>
    <cs:fillRef idx="0"/>
    <cs:effectRef idx="0"/>
    <cs:fontRef idx="minor"/>
  </cs:valueAxis>
  <cs:wall>
    <cs:lnRef idx="0"/>
    <cs:fillRef idx="0"/>
    <cs:effectRef idx="0"/>
    <cs:fontRef idx="minor"/>
  </cs:wall>
</cs:chartStyl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ru-MD" sz="1800" b="0" u="none" strike="noStrike">
                <a:solidFill>
                  <a:schemeClr val="dk1"/>
                </a:solidFill>
                <a:effectLst/>
                <a:uFillTx/>
                <a:latin typeface="Segoe UI"/>
              </a:rPr>
              <a:t>Для перемещения страницы щёлкните мышью</a:t>
            </a:r>
            <a:endParaRPr lang="ru-MD" sz="1800" b="0" u="none" strike="noStrike">
              <a:solidFill>
                <a:schemeClr val="dk1"/>
              </a:solidFill>
              <a:effectLst/>
              <a:uFillTx/>
              <a:latin typeface="Segoe U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ru-MD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формата примечаний щёлкните мышью</a:t>
            </a:r>
            <a:endParaRPr lang="ru-MD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ru-MD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ru-MD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dt" idx="2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ru-MD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ru-MD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ru-MD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ftr" idx="3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ru-MD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ru-MD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ru-MD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6"/>
          <p:cNvSpPr>
            <a:spLocks noGrp="1"/>
          </p:cNvSpPr>
          <p:nvPr>
            <p:ph type="sldNum" idx="4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ru-MD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0C38723D-D026-422A-A1A8-62BA53CF5269}" type="slidenum">
              <a:rPr lang="ru-MD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15</a:t>
            </a:fld>
            <a:endParaRPr lang="ru-MD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4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Задача — распознать, что делает человек, по датчикам телефона в реальном времени и на самом устройстве. Ключевая идея работы: сначала определяется, где находится телефон, а затем активность — с учётом положения.</a:t>
            </a:r>
            <a:endParaRPr lang="ru-MD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2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73C20C3-FEA5-44EB-9317-4EB0F041C32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&lt;номер&gt;</a:t>
            </a:fld>
            <a:endParaRPr lang="ru-MD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4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Источники трудности: неизвестная ориентация телефона, влияние положения на сигнал, сходство ходьбы и лестницы и разброс между людьми. Поэтому оцениваем только на новых людях.</a:t>
            </a:r>
            <a:endParaRPr lang="ru-MD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5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9B8FB0C-8339-49C8-B164-CC9BDCC172D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&lt;номер&gt;</a:t>
            </a:fld>
            <a:endParaRPr lang="ru-MD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4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Пять сенсоров смартфона. Акселерометр и гироскоп запрашиваются на 100 Гц, но отсчёты приходят с плавающим интервалом, поэтому всё приводится к сетке 50 Гц. Частота освещённости и приближения неизвестна, но она и не нужна: для положения важно только состояние — темно или светло, закрыт датчик или открыт; датчик приближения фактически бинарный. Магнитометр, как акселерометр и гироскоп, даёт три оси. При 50 Гц один шаг — около 27 отсчётов: ритм шага хорошо виден, а короткий удар стопы о пол попадает в один-три отсчёта, и его амплитуда измеряется неточно.</a:t>
            </a:r>
            <a:endParaRPr lang="ru-MD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8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6189098-4B63-47A6-B9F4-02E71482E79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&lt;номер&gt;</a:t>
            </a:fld>
            <a:endParaRPr lang="ru-MD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5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Системные решения есть на обеих платформах: Activity Recognition API в Android и Core Motion в iOS. Они распознают крупные классы — покой, ходьбу или бег, велосипед, транспорт, — но модели закрыты, положение телефона не учитывается, а лестница по движению не распознаётся: этажи считают по барометру, и только там, где он есть. Приложения здоровья опираются на эти же механизмы и дают итоги за интервалы.</a:t>
            </a:r>
            <a:endParaRPr lang="ru-MD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1" name="PlaceHolder 3"/>
          <p:cNvSpPr>
            <a:spLocks noGrp="1"/>
          </p:cNvSpPr>
          <p:nvPr>
            <p:ph type="sldNum" idx="2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9DE6C69-71A5-49DE-8A7E-95085FAB512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&lt;номер&gt;</a:t>
            </a:fld>
            <a:endParaRPr lang="ru-MD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5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 литературе четыре основных подхода. Пороговые правила — основа шагомеров. Классическое машинное обучение на признаках окна даёт высокую точность на UCI HAR, но там телефон закреплён на поясе в одной ориентации. Глубокие сети по сырому сигналу сами извлекают форму движения, но обычно обучаются на закреплённых датчиках. Учёт места ношения — сначала место датчика, затем активность — ближе всего к нашей идее, но использует закреплённые датчики. Мы переносим эту идею на телефон в кармане или в руке: сеть не зависит от ориентации, а положение определяется по сенсорам самого телефона.</a:t>
            </a:r>
            <a:endParaRPr lang="ru-MD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4" name="PlaceHolder 3"/>
          <p:cNvSpPr>
            <a:spLocks noGrp="1"/>
          </p:cNvSpPr>
          <p:nvPr>
            <p:ph type="sldNum" idx="2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69B85F0-E5DB-4DDA-92EC-78BD47E9988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&lt;номер&gt;</a:t>
            </a:fld>
            <a:endParaRPr lang="ru-MD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5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Главная проблема — в ограничениях самого телефона. Датчиков мало: один инерциальный блок вместо нескольких на теле, грубые свет и приближение, ненадёжный рядом с металлом магнитометр. И частота дискретизации низкая: 50 Гц, а интервал между отсчётами плавает. Удар стопы — один-три отсчёта. Значит, решение нельзя принимать по отдельным отсчётам — нужен интервал, в который попадает несколько шагов.</a:t>
            </a:r>
            <a:endParaRPr lang="ru-MD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7" name="PlaceHolder 3"/>
          <p:cNvSpPr>
            <a:spLocks noGrp="1"/>
          </p:cNvSpPr>
          <p:nvPr>
            <p:ph type="sldNum" idx="2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F25B8D0-08AB-49DA-916D-7DFF94DE937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&lt;номер&gt;</a:t>
            </a:fld>
            <a:endParaRPr lang="ru-MD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5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Решение проблемы низкой частоты — оконная обработка. Сигнал режется на окна по 128 отсчётов, это 2,56 секунды: при обычном темпе ходьбы в окно попадает четыре-пять шагов. Соседние окна перекрываются наполовину, поэтому решение обновляется каждые 1,28 секунды. По окну считаются устойчивые статистики и спектр — разрешение 0,39 Гц, уточняется интерполяцией пика, — а нейросеть видит форму всех шагов окна целиком. Перед нарезкой все датчики приводятся к сетке 50 Гц, а тяжесть отделяется фильтром нижних частот.</a:t>
            </a:r>
            <a:endParaRPr lang="ru-MD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0" name="PlaceHolder 3"/>
          <p:cNvSpPr>
            <a:spLocks noGrp="1"/>
          </p:cNvSpPr>
          <p:nvPr>
            <p:ph type="sldNum" idx="2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0E318DA-55FB-4410-B6AF-9824BFE652F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&lt;номер&gt;</a:t>
            </a:fld>
            <a:endParaRPr lang="ru-MD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6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Положение определяет небольшая полносвязная сеть по 16 признакам окна: приближение, свет, направление тяжести и статистики движения. После неё — три группы физических правил. Карман — это темно и датчик закрыт. Ухо отличается от кармана позой: датчик закрыт, а экран стоит вертикально; по свету их не различить, у уха световой датчик закрыт головой. Стол отличается от руки дрожью: рука дрожит даже в покое.</a:t>
            </a:r>
            <a:endParaRPr lang="ru-MD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3" name="PlaceHolder 3"/>
          <p:cNvSpPr>
            <a:spLocks noGrp="1"/>
          </p:cNvSpPr>
          <p:nvPr>
            <p:ph type="sldNum" idx="2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06AFEBA-14B7-49F4-BA0A-8943FA9451D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&lt;номер&gt;</a:t>
            </a:fld>
            <a:endParaRPr lang="ru-MD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6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Реальное окно: спуск по лестнице с телефоном в руке, 18 октября. В сигнале видны удары о ступени. Модель положения уверенно отдаёт «в руке», модель активности — «лестница вниз», 98 %. Проверки согласуются: спуск с телефоном в руке совместим, темп ниже порога бега, шаговый ритм есть.</a:t>
            </a:r>
            <a:endParaRPr lang="ru-MD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6" name="PlaceHolder 3"/>
          <p:cNvSpPr>
            <a:spLocks noGrp="1"/>
          </p:cNvSpPr>
          <p:nvPr>
            <p:ph type="sldNum" idx="2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F79C1B5-41F0-4F3D-BA5E-DAECA4AE7C0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&lt;номер&gt;</a:t>
            </a:fld>
            <a:endParaRPr lang="ru-MD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6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Открытые наборы дают разнообразие людей и мест на теле; собственные записи — телефон в руке, на столе, в темноте и именно этот датчик. Всего 185 439 окон. Все источники приведены к 50 Гц, ускорению в м/с² с тяжестью и осям Android.</a:t>
            </a:r>
            <a:endParaRPr lang="ru-MD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9" name="PlaceHolder 3"/>
          <p:cNvSpPr>
            <a:spLocks noGrp="1"/>
          </p:cNvSpPr>
          <p:nvPr>
            <p:ph type="sldNum" idx="2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0DCEDDB-860F-4A5C-8C72-70B885C29E9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&lt;номер&gt;</a:t>
            </a:fld>
            <a:endParaRPr lang="ru-MD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7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Здесь вместо одного числа — распределение признака по всем окнам класса: по горизонтали значение признака, по вертикали доля окон, каждая кривая нормирована на свой максимум. Шкала общая, кривые наложены друг на друга, поэтому классы сравниваются напрямую. Амплитуда: у покоя — почти ноль, у бега — самая высокая, спуск ударнее ходьбы и подъёма. Частота главного пика — это темп шага: у бега около 2,7 Гц, у подъёма ниже, чем у ходьбы; у покоя пика нет — кривая размазана по всей полосе, это шум. Мощность пика у велосипеда втрое ниже, чем у ходьбы: педалирование менее ударное.</a:t>
            </a:r>
            <a:endParaRPr lang="ru-MD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2" name="PlaceHolder 3"/>
          <p:cNvSpPr>
            <a:spLocks noGrp="1"/>
          </p:cNvSpPr>
          <p:nvPr>
            <p:ph type="sldNum" idx="3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C587B07-A1BD-4233-BDDE-86B2D265C42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&lt;номер&gt;</a:t>
            </a:fld>
            <a:endParaRPr lang="ru-MD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7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Спектральная энтропия низкая у ритмичных движений — у бега энергия собрана в одном пике, у покоя и велосипеда спектр размыт. Вращение повторяет амплитуду. Наклон у велосипеда сдвинут примерно к 120° — это след условий записи, а не физика педалирования, поэтому при обучении окна поворачиваются.</a:t>
            </a:r>
            <a:endParaRPr lang="ru-MD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5" name="PlaceHolder 3"/>
          <p:cNvSpPr>
            <a:spLocks noGrp="1"/>
          </p:cNvSpPr>
          <p:nvPr>
            <p:ph type="sldNum" idx="3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4249412-F52D-4812-9B27-5595AA409CB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&lt;номер&gt;</a:t>
            </a:fld>
            <a:endParaRPr lang="ru-MD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7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89,4 % на людях, которых модель не видела, средняя полнота по классам 90,8 %. Основная ошибка — ходьба, принятая за лестницу: тот же темп, амплитуды перекрываются.</a:t>
            </a:r>
            <a:endParaRPr lang="ru-MD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8" name="PlaceHolder 3"/>
          <p:cNvSpPr>
            <a:spLocks noGrp="1"/>
          </p:cNvSpPr>
          <p:nvPr>
            <p:ph type="sldNum" idx="3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33F8D8A-237E-4260-872E-6E8B280840C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&lt;номер&gt;</a:t>
            </a:fld>
            <a:endParaRPr lang="ru-MD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8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каждого дня записей модель обучается без этого дня и проверяется на нём TFLite-файлом. Ходьба и лестница в кармане выросли до 95–98 %; слабое место — ходьба с телефоном в руке.</a:t>
            </a:r>
            <a:endParaRPr lang="ru-MD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1" name="PlaceHolder 3"/>
          <p:cNvSpPr>
            <a:spLocks noGrp="1"/>
          </p:cNvSpPr>
          <p:nvPr>
            <p:ph type="sldNum" idx="3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4F7561E-847F-4AF8-962F-0653F738BB7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&lt;номер&gt;</a:t>
            </a:fld>
            <a:endParaRPr lang="ru-MD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8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Всё работает на телефоне: решение каждые 1,28 с, модели около двух мегабайт, передний сервис и автозапуск, журнал каждого окна и объяснение решения на экране.</a:t>
            </a:r>
            <a:endParaRPr lang="ru-MD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4" name="PlaceHolder 3"/>
          <p:cNvSpPr>
            <a:spLocks noGrp="1"/>
          </p:cNvSpPr>
          <p:nvPr>
            <p:ph type="sldNum" idx="3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A9F464D-BA23-4D86-B006-1636DF03DCA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&lt;номер&gt;</a:t>
            </a:fld>
            <a:endParaRPr lang="ru-MD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8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Ссылки на открытые наборы данных и русскоязычные источники по методам: нейронные сети и глубокое обучение, цифровая обработка сигналов, инерциальная навигация и анализ походки.</a:t>
            </a:r>
            <a:endParaRPr lang="ru-MD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7" name="PlaceHolder 3"/>
          <p:cNvSpPr>
            <a:spLocks noGrp="1"/>
          </p:cNvSpPr>
          <p:nvPr>
            <p:ph type="sldNum" idx="3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0226A09-4B3A-4986-B711-6D31E0D26B7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&lt;номер&gt;</a:t>
            </a:fld>
            <a:endParaRPr lang="ru-MD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Почему именно 2,56 и 1,28 секунды. Окно должно вместить хотя бы два полных цикла шага — левой и правой ногой: при телефоне в кармане шаги разных ног выглядят по-разному. При 96–110 шагах в минуту это 4–5 шагов, то есть 2,56 секунды. Короче — в окне один цикл, а разрешение спектра 0,78 Гц не разделяет подъём (1,6 Гц) и ходьбу (1,84 Гц). Длиннее — окно не помещается в лестничный пролёт из десяти ступеней и захватывает площадку, а новое движение заполняет окно на 2,5 секунды дольше. Сдвиг в половину окна — решение каждые 1,28 секунды. Без перекрытия решения вдвое реже, а удар на стыке окон гасится окном Ханна. Сдвиг меньше не ускоряет реакцию: её задаёт сглаживание с постоянной около 2,5 секунды, — но вчетверо увеличивает расчёты и журнал. Эту же геометрию использует UCI HAR, поэтому его окна берутся как есть; 128 — степень двойки для БПФ.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4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48640" y="274320"/>
            <a:ext cx="11091240" cy="6580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>
              <a:buNone/>
              <a:defRPr lang="ru-MD" sz="3000" b="0" u="none" strike="noStrike">
                <a:solidFill>
                  <a:schemeClr val="dk1"/>
                </a:solidFill>
                <a:effectLst/>
                <a:uFillTx/>
                <a:latin typeface="Segoe UI"/>
              </a:defRPr>
            </a:lvl1pPr>
          </a:lstStyle>
          <a:p>
            <a:pPr indent="0" algn="l">
              <a:buNone/>
            </a:pPr>
            <a:r>
              <a:rPr lang="ru-MD" sz="3000" b="0" u="none" strike="noStrike">
                <a:solidFill>
                  <a:schemeClr val="dk1"/>
                </a:solidFill>
                <a:effectLst/>
                <a:uFillTx/>
                <a:latin typeface="Segoe UI"/>
              </a:rPr>
              <a:t>Для правки текста заглавия щёлкните мышью</a:t>
            </a:r>
            <a:endParaRPr lang="ru-MD" sz="3000" b="0" u="none" strike="noStrike">
              <a:solidFill>
                <a:schemeClr val="dk1"/>
              </a:solidFill>
              <a:effectLst/>
              <a:uFillTx/>
              <a:latin typeface="Segoe U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548640" y="914400"/>
            <a:ext cx="11091240" cy="4111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MD" sz="1500" b="0" u="none" strike="noStrike">
                <a:solidFill>
                  <a:schemeClr val="dk1"/>
                </a:solidFill>
                <a:effectLst/>
                <a:uFillTx/>
                <a:latin typeface="Segoe U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MD" sz="1500" b="0" u="none" strike="noStrike">
                <a:solidFill>
                  <a:schemeClr val="dk1"/>
                </a:solidFill>
                <a:effectLst/>
                <a:uFillTx/>
                <a:latin typeface="Segoe U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MD" sz="1500" b="0" u="none" strike="noStrike">
                <a:solidFill>
                  <a:schemeClr val="dk1"/>
                </a:solidFill>
                <a:effectLst/>
                <a:uFillTx/>
                <a:latin typeface="Segoe U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MD" sz="1500" b="0" u="none" strike="noStrike">
                <a:solidFill>
                  <a:schemeClr val="dk1"/>
                </a:solidFill>
                <a:effectLst/>
                <a:uFillTx/>
                <a:latin typeface="Segoe U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MD" sz="1500" b="0" u="none" strike="noStrike">
                <a:solidFill>
                  <a:schemeClr val="dk1"/>
                </a:solidFill>
                <a:effectLst/>
                <a:uFillTx/>
                <a:latin typeface="Segoe U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MD" sz="1500" b="0" u="none" strike="noStrike">
                <a:solidFill>
                  <a:schemeClr val="dk1"/>
                </a:solidFill>
                <a:effectLst/>
                <a:uFillTx/>
                <a:latin typeface="Segoe U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MD" sz="1500" b="0" u="none" strike="noStrike">
                <a:solidFill>
                  <a:schemeClr val="dk1"/>
                </a:solidFill>
                <a:effectLst/>
                <a:uFillTx/>
                <a:latin typeface="Segoe UI"/>
              </a:defRPr>
            </a:lvl7pPr>
          </a:lstStyle>
          <a:p>
            <a: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MD" sz="1500" b="0" u="none" strike="noStrike">
                <a:solidFill>
                  <a:schemeClr val="dk1"/>
                </a:solidFill>
                <a:effectLst/>
                <a:uFillTx/>
                <a:latin typeface="Segoe UI"/>
              </a:rPr>
              <a:t>Для правки структуры щёлкните мышью</a:t>
            </a:r>
            <a:endParaRPr lang="ru-MD" sz="1500" b="0" u="none" strike="noStrike">
              <a:solidFill>
                <a:schemeClr val="dk1"/>
              </a:solidFill>
              <a:effectLst/>
              <a:uFillTx/>
              <a:latin typeface="Segoe UI"/>
            </a:endParaRPr>
          </a:p>
          <a:p>
            <a:pPr marL="743040" lvl="1" indent="-28584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MD" sz="1500" b="0" u="none" strike="noStrike">
                <a:solidFill>
                  <a:schemeClr val="dk1"/>
                </a:solidFill>
                <a:effectLst/>
                <a:uFillTx/>
                <a:latin typeface="Segoe UI"/>
              </a:rPr>
              <a:t>Второй уровень структуры</a:t>
            </a:r>
            <a:endParaRPr lang="ru-MD" sz="1500" b="0" u="none" strike="noStrike">
              <a:solidFill>
                <a:schemeClr val="dk1"/>
              </a:solidFill>
              <a:effectLst/>
              <a:uFillTx/>
              <a:latin typeface="Segoe UI"/>
            </a:endParaRPr>
          </a:p>
          <a:p>
            <a:pPr marL="1143000" lvl="2" indent="-2286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MD" sz="1500" b="0" u="none" strike="noStrike">
                <a:solidFill>
                  <a:schemeClr val="dk1"/>
                </a:solidFill>
                <a:effectLst/>
                <a:uFillTx/>
                <a:latin typeface="Segoe UI"/>
              </a:rPr>
              <a:t>Третий уровень структуры</a:t>
            </a:r>
            <a:endParaRPr lang="ru-MD" sz="1500" b="0" u="none" strike="noStrike">
              <a:solidFill>
                <a:schemeClr val="dk1"/>
              </a:solidFill>
              <a:effectLst/>
              <a:uFillTx/>
              <a:latin typeface="Segoe UI"/>
            </a:endParaRPr>
          </a:p>
          <a:p>
            <a:pPr marL="1600200" lvl="3" indent="-2286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MD" sz="1500" b="0" u="none" strike="noStrike">
                <a:solidFill>
                  <a:schemeClr val="dk1"/>
                </a:solidFill>
                <a:effectLst/>
                <a:uFillTx/>
                <a:latin typeface="Segoe UI"/>
              </a:rPr>
              <a:t>Четвёртый уровень структуры</a:t>
            </a:r>
            <a:endParaRPr lang="ru-MD" sz="1500" b="0" u="none" strike="noStrike">
              <a:solidFill>
                <a:schemeClr val="dk1"/>
              </a:solidFill>
              <a:effectLst/>
              <a:uFillTx/>
              <a:latin typeface="Segoe UI"/>
            </a:endParaRPr>
          </a:p>
          <a:p>
            <a:pPr marL="2057400" lvl="4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MD" sz="1500" b="0" u="none" strike="noStrike">
                <a:solidFill>
                  <a:schemeClr val="dk1"/>
                </a:solidFill>
                <a:effectLst/>
                <a:uFillTx/>
                <a:latin typeface="Segoe UI"/>
              </a:rPr>
              <a:t>Пятый уровень структуры</a:t>
            </a:r>
            <a:endParaRPr lang="ru-MD" sz="1500" b="0" u="none" strike="noStrike">
              <a:solidFill>
                <a:schemeClr val="dk1"/>
              </a:solidFill>
              <a:effectLst/>
              <a:uFillTx/>
              <a:latin typeface="Segoe UI"/>
            </a:endParaRPr>
          </a:p>
          <a:p>
            <a:pPr marL="2514600" lvl="5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MD" sz="1500" b="0" u="none" strike="noStrike">
                <a:solidFill>
                  <a:schemeClr val="dk1"/>
                </a:solidFill>
                <a:effectLst/>
                <a:uFillTx/>
                <a:latin typeface="Segoe UI"/>
              </a:rPr>
              <a:t>Шестой уровень структуры</a:t>
            </a:r>
            <a:endParaRPr lang="ru-MD" sz="1500" b="0" u="none" strike="noStrike">
              <a:solidFill>
                <a:schemeClr val="dk1"/>
              </a:solidFill>
              <a:effectLst/>
              <a:uFillTx/>
              <a:latin typeface="Segoe UI"/>
            </a:endParaRPr>
          </a:p>
          <a:p>
            <a:pPr marL="2971800" lvl="6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MD" sz="1500" b="0" u="none" strike="noStrike">
                <a:solidFill>
                  <a:schemeClr val="dk1"/>
                </a:solidFill>
                <a:effectLst/>
                <a:uFillTx/>
                <a:latin typeface="Segoe UI"/>
              </a:rPr>
              <a:t>Седьмой уровень структуры</a:t>
            </a:r>
            <a:endParaRPr lang="ru-MD" sz="1500" b="0" u="none" strike="noStrike">
              <a:solidFill>
                <a:schemeClr val="dk1"/>
              </a:solidFill>
              <a:effectLst/>
              <a:uFillTx/>
              <a:latin typeface="Segoe U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"/>
          </p:nvPr>
        </p:nvSpPr>
        <p:spPr>
          <a:xfrm>
            <a:off x="11274480" y="6446520"/>
            <a:ext cx="456840" cy="255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000" b="0" u="none" strike="noStrike">
                <a:solidFill>
                  <a:schemeClr val="dk2"/>
                </a:solidFill>
                <a:effectLst/>
                <a:uFillTx/>
                <a:latin typeface="Segoe U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C316CB8-9857-49E7-A051-18C02C98F85D}" type="slidenum">
              <a:rPr lang="en-US" sz="1000" b="0" u="none" strike="noStrike">
                <a:solidFill>
                  <a:schemeClr val="dk2"/>
                </a:solidFill>
                <a:effectLst/>
                <a:uFillTx/>
                <a:latin typeface="Segoe UI"/>
              </a:rPr>
              <a:t>15</a:t>
            </a:fld>
            <a:endParaRPr lang="ru-MD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VER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48640" y="1554480"/>
            <a:ext cx="10606680" cy="21027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>
              <a:buNone/>
              <a:defRPr lang="ru-MD" sz="3800" b="0" u="none" strike="noStrike">
                <a:solidFill>
                  <a:schemeClr val="dk1"/>
                </a:solidFill>
                <a:effectLst/>
                <a:uFillTx/>
                <a:latin typeface="Segoe UI"/>
              </a:defRPr>
            </a:lvl1pPr>
          </a:lstStyle>
          <a:p>
            <a:pPr indent="0" algn="l">
              <a:buNone/>
            </a:pPr>
            <a:r>
              <a:rPr lang="ru-MD" sz="3800" b="0" u="none" strike="noStrike">
                <a:solidFill>
                  <a:schemeClr val="dk1"/>
                </a:solidFill>
                <a:effectLst/>
                <a:uFillTx/>
                <a:latin typeface="Segoe UI"/>
              </a:rPr>
              <a:t>Для правки текста заглавия щёлкните мышью</a:t>
            </a:r>
            <a:endParaRPr lang="ru-MD" sz="3800" b="0" u="none" strike="noStrike">
              <a:solidFill>
                <a:schemeClr val="dk1"/>
              </a:solidFill>
              <a:effectLst/>
              <a:uFillTx/>
              <a:latin typeface="Segoe U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548640" y="3840480"/>
            <a:ext cx="9600840" cy="10969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MD" sz="1700" b="0" u="none" strike="noStrike">
                <a:solidFill>
                  <a:schemeClr val="dk1"/>
                </a:solidFill>
                <a:effectLst/>
                <a:uFillTx/>
                <a:latin typeface="Segoe U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MD" sz="1700" b="0" u="none" strike="noStrike">
                <a:solidFill>
                  <a:schemeClr val="dk1"/>
                </a:solidFill>
                <a:effectLst/>
                <a:uFillTx/>
                <a:latin typeface="Segoe U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MD" sz="1700" b="0" u="none" strike="noStrike">
                <a:solidFill>
                  <a:schemeClr val="dk1"/>
                </a:solidFill>
                <a:effectLst/>
                <a:uFillTx/>
                <a:latin typeface="Segoe U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MD" sz="1700" b="0" u="none" strike="noStrike">
                <a:solidFill>
                  <a:schemeClr val="dk1"/>
                </a:solidFill>
                <a:effectLst/>
                <a:uFillTx/>
                <a:latin typeface="Segoe U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MD" sz="1700" b="0" u="none" strike="noStrike">
                <a:solidFill>
                  <a:schemeClr val="dk1"/>
                </a:solidFill>
                <a:effectLst/>
                <a:uFillTx/>
                <a:latin typeface="Segoe U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MD" sz="1700" b="0" u="none" strike="noStrike">
                <a:solidFill>
                  <a:schemeClr val="dk1"/>
                </a:solidFill>
                <a:effectLst/>
                <a:uFillTx/>
                <a:latin typeface="Segoe U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MD" sz="1700" b="0" u="none" strike="noStrike">
                <a:solidFill>
                  <a:schemeClr val="dk1"/>
                </a:solidFill>
                <a:effectLst/>
                <a:uFillTx/>
                <a:latin typeface="Segoe UI"/>
              </a:defRPr>
            </a:lvl7pPr>
          </a:lstStyle>
          <a:p>
            <a: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MD" sz="1700" b="0" u="none" strike="noStrike">
                <a:solidFill>
                  <a:schemeClr val="dk1"/>
                </a:solidFill>
                <a:effectLst/>
                <a:uFillTx/>
                <a:latin typeface="Segoe UI"/>
              </a:rPr>
              <a:t>Для правки структуры щёлкните мышью</a:t>
            </a:r>
            <a:endParaRPr lang="ru-MD" sz="1700" b="0" u="none" strike="noStrike">
              <a:solidFill>
                <a:schemeClr val="dk1"/>
              </a:solidFill>
              <a:effectLst/>
              <a:uFillTx/>
              <a:latin typeface="Segoe UI"/>
            </a:endParaRPr>
          </a:p>
          <a:p>
            <a:pPr marL="743040" lvl="1" indent="-28584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MD" sz="1700" b="0" u="none" strike="noStrike">
                <a:solidFill>
                  <a:schemeClr val="dk1"/>
                </a:solidFill>
                <a:effectLst/>
                <a:uFillTx/>
                <a:latin typeface="Segoe UI"/>
              </a:rPr>
              <a:t>Второй уровень структуры</a:t>
            </a:r>
            <a:endParaRPr lang="ru-MD" sz="1700" b="0" u="none" strike="noStrike">
              <a:solidFill>
                <a:schemeClr val="dk1"/>
              </a:solidFill>
              <a:effectLst/>
              <a:uFillTx/>
              <a:latin typeface="Segoe UI"/>
            </a:endParaRPr>
          </a:p>
          <a:p>
            <a:pPr marL="1143000" lvl="2" indent="-2286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MD" sz="1700" b="0" u="none" strike="noStrike">
                <a:solidFill>
                  <a:schemeClr val="dk1"/>
                </a:solidFill>
                <a:effectLst/>
                <a:uFillTx/>
                <a:latin typeface="Segoe UI"/>
              </a:rPr>
              <a:t>Третий уровень структуры</a:t>
            </a:r>
            <a:endParaRPr lang="ru-MD" sz="1700" b="0" u="none" strike="noStrike">
              <a:solidFill>
                <a:schemeClr val="dk1"/>
              </a:solidFill>
              <a:effectLst/>
              <a:uFillTx/>
              <a:latin typeface="Segoe UI"/>
            </a:endParaRPr>
          </a:p>
          <a:p>
            <a:pPr marL="1600200" lvl="3" indent="-2286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MD" sz="1700" b="0" u="none" strike="noStrike">
                <a:solidFill>
                  <a:schemeClr val="dk1"/>
                </a:solidFill>
                <a:effectLst/>
                <a:uFillTx/>
                <a:latin typeface="Segoe UI"/>
              </a:rPr>
              <a:t>Четвёртый уровень структуры</a:t>
            </a:r>
            <a:endParaRPr lang="ru-MD" sz="1700" b="0" u="none" strike="noStrike">
              <a:solidFill>
                <a:schemeClr val="dk1"/>
              </a:solidFill>
              <a:effectLst/>
              <a:uFillTx/>
              <a:latin typeface="Segoe UI"/>
            </a:endParaRPr>
          </a:p>
          <a:p>
            <a:pPr marL="2057400" lvl="4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MD" sz="1700" b="0" u="none" strike="noStrike">
                <a:solidFill>
                  <a:schemeClr val="dk1"/>
                </a:solidFill>
                <a:effectLst/>
                <a:uFillTx/>
                <a:latin typeface="Segoe UI"/>
              </a:rPr>
              <a:t>Пятый уровень структуры</a:t>
            </a:r>
            <a:endParaRPr lang="ru-MD" sz="1700" b="0" u="none" strike="noStrike">
              <a:solidFill>
                <a:schemeClr val="dk1"/>
              </a:solidFill>
              <a:effectLst/>
              <a:uFillTx/>
              <a:latin typeface="Segoe UI"/>
            </a:endParaRPr>
          </a:p>
          <a:p>
            <a:pPr marL="2514600" lvl="5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MD" sz="1700" b="0" u="none" strike="noStrike">
                <a:solidFill>
                  <a:schemeClr val="dk1"/>
                </a:solidFill>
                <a:effectLst/>
                <a:uFillTx/>
                <a:latin typeface="Segoe UI"/>
              </a:rPr>
              <a:t>Шестой уровень структуры</a:t>
            </a:r>
            <a:endParaRPr lang="ru-MD" sz="1700" b="0" u="none" strike="noStrike">
              <a:solidFill>
                <a:schemeClr val="dk1"/>
              </a:solidFill>
              <a:effectLst/>
              <a:uFillTx/>
              <a:latin typeface="Segoe UI"/>
            </a:endParaRPr>
          </a:p>
          <a:p>
            <a:pPr marL="2971800" lvl="6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MD" sz="1700" b="0" u="none" strike="noStrike">
                <a:solidFill>
                  <a:schemeClr val="dk1"/>
                </a:solidFill>
                <a:effectLst/>
                <a:uFillTx/>
                <a:latin typeface="Segoe UI"/>
              </a:rPr>
              <a:t>Седьмой уровень структуры</a:t>
            </a:r>
            <a:endParaRPr lang="ru-MD" sz="1700" b="0" u="none" strike="noStrike">
              <a:solidFill>
                <a:schemeClr val="dk1"/>
              </a:solidFill>
              <a:effectLst/>
              <a:uFillTx/>
              <a:latin typeface="Segoe UI"/>
            </a:endParaRPr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2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8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chart" Target="../charts/chart2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chart" Target="../charts/chart3.xml"/><Relationship Id="rId2" Type="http://schemas.openxmlformats.org/officeDocument/2006/relationships/chart" Target="../charts/chart4.xml"/><Relationship Id="rId3" Type="http://schemas.openxmlformats.org/officeDocument/2006/relationships/image" Target="../media/image2.png"/><Relationship Id="rId4" Type="http://schemas.openxmlformats.org/officeDocument/2006/relationships/chart" Target="../charts/chart5.xml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13.png"/><Relationship Id="rId8" Type="http://schemas.openxmlformats.org/officeDocument/2006/relationships/image" Target="../media/image13.pn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chart" Target="../charts/chart6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3.png"/><Relationship Id="rId7" Type="http://schemas.openxmlformats.org/officeDocument/2006/relationships/image" Target="../media/image12.png"/><Relationship Id="rId8" Type="http://schemas.openxmlformats.org/officeDocument/2006/relationships/image" Target="../media/image17.png"/><Relationship Id="rId9" Type="http://schemas.openxmlformats.org/officeDocument/2006/relationships/chart" Target="../charts/chart24.xml"/><Relationship Id="rId10" Type="http://schemas.openxmlformats.org/officeDocument/2006/relationships/chart" Target="../charts/chart23.xml"/><Relationship Id="rId11" Type="http://schemas.openxmlformats.org/officeDocument/2006/relationships/chart" Target="../charts/chart22.xml"/><Relationship Id="rId25" Type="http://schemas.openxmlformats.org/officeDocument/2006/relationships/slideLayout" Target="../slideLayouts/slideLayout2.xml"/><Relationship Id="rId26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3.png"/><Relationship Id="rId7" Type="http://schemas.openxmlformats.org/officeDocument/2006/relationships/image" Target="../media/image12.png"/><Relationship Id="rId8" Type="http://schemas.openxmlformats.org/officeDocument/2006/relationships/image" Target="../media/image17.png"/><Relationship Id="rId9" Type="http://schemas.openxmlformats.org/officeDocument/2006/relationships/chart" Target="../charts/chart11.xml"/><Relationship Id="rId10" Type="http://schemas.openxmlformats.org/officeDocument/2006/relationships/chart" Target="../charts/chart12.xml"/><Relationship Id="rId11" Type="http://schemas.openxmlformats.org/officeDocument/2006/relationships/chart" Target="../charts/chart13.xml"/><Relationship Id="rId25" Type="http://schemas.openxmlformats.org/officeDocument/2006/relationships/slideLayout" Target="../slideLayouts/slideLayout2.xml"/><Relationship Id="rId26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chart" Target="../charts/chart43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image" Target="../media/image19.png"/><Relationship Id="rId3" Type="http://schemas.openxmlformats.org/officeDocument/2006/relationships/image" Target="../media/image7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6.png"/><Relationship Id="rId7" Type="http://schemas.openxmlformats.org/officeDocument/2006/relationships/image" Target="../media/image22.png"/><Relationship Id="rId8" Type="http://schemas.openxmlformats.org/officeDocument/2006/relationships/image" Target="../media/image23.pn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hyperlink" Target="https://archive.ics.uci.edu/dataset/240/human+activity+recognition+using+smartphones" TargetMode="External"/><Relationship Id="rId2" Type="http://schemas.openxmlformats.org/officeDocument/2006/relationships/hyperlink" Target="https://www.uni-mannheim.de/dws/research/projects/activity-recognition/dataset/dataset-realworld/" TargetMode="External"/><Relationship Id="rId3" Type="http://schemas.openxmlformats.org/officeDocument/2006/relationships/hyperlink" Target="https://github.com/mmalekzadeh/motion-sense" TargetMode="External"/><Relationship Id="rId4" Type="http://schemas.openxmlformats.org/officeDocument/2006/relationships/hyperlink" Target="https://www.utwente.nl/en/eemcs/ps/research/dataset/" TargetMode="External"/><Relationship Id="rId5" Type="http://schemas.openxmlformats.org/officeDocument/2006/relationships/hyperlink" Target="http://extrasensory.ucsd.edu/" TargetMode="External"/><Relationship Id="rId6" Type="http://schemas.openxmlformats.org/officeDocument/2006/relationships/hyperlink" Target="https://www.sut.ru/doci/nauka/1AEA/ITT/2020_2/92-108.pdf" TargetMode="External"/><Relationship Id="rId7" Type="http://schemas.openxmlformats.org/officeDocument/2006/relationships/hyperlink" Target="https://top-technologies.ru/article/view?id=37262" TargetMode="External"/><Relationship Id="rId8" Type="http://schemas.openxmlformats.org/officeDocument/2006/relationships/hyperlink" Target="https://cyberleninka.ru/article/n/spektralnyy-analiz-dannyh-naruchnogo-trehosevogo-akselerometra-dlya-opredeleniya-fizicheskoy-aktivnosti" TargetMode="External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 hasCustomPrompt="1"/>
          </p:nvPr>
        </p:nvSpPr>
        <p:spPr>
          <a:xfrm>
            <a:off x="548640" y="1554480"/>
            <a:ext cx="10606680" cy="2102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800" b="1" u="none" strike="noStrike">
                <a:solidFill>
                  <a:schemeClr val="dk1"/>
                </a:solidFill>
                <a:effectLst/>
                <a:uFillTx/>
                <a:latin typeface="Segoe UI"/>
              </a:rPr>
              <a:t>Распознавание активности человека по датчикам смартфона</a:t>
            </a:r>
            <a:endParaRPr lang="ru-MD" sz="3800" b="0" u="none" strike="noStrike">
              <a:solidFill>
                <a:schemeClr val="dk1"/>
              </a:solidFill>
              <a:effectLst/>
              <a:uFillTx/>
              <a:latin typeface="Segoe UI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hasCustomPrompt="1"/>
          </p:nvPr>
        </p:nvSpPr>
        <p:spPr>
          <a:xfrm>
            <a:off x="548640" y="3840480"/>
            <a:ext cx="9600840" cy="109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 defTabSz="914400">
              <a:lnSpc>
                <a:spcPct val="100000"/>
              </a:lnSpc>
              <a:spcBef>
                <a:spcPts val="340"/>
              </a:spcBef>
              <a:buNone/>
              <a:tabLst>
                <a:tab pos="0" algn="l"/>
              </a:tabLst>
            </a:pPr>
            <a:r>
              <a:rPr lang="en-US" sz="1700" b="0" u="none" strike="noStrike">
                <a:solidFill>
                  <a:schemeClr val="dk2"/>
                </a:solidFill>
                <a:effectLst/>
                <a:uFillTx/>
                <a:latin typeface="Segoe UI"/>
              </a:rPr>
              <a:t>Двухэтапная модель «положение телефона → активность»: остаточная 1D-CNN и физические правила, вычисления целиком на устройстве</a:t>
            </a:r>
            <a:endParaRPr lang="ru-MD" sz="1700" b="0" u="none" strike="noStrike">
              <a:solidFill>
                <a:schemeClr val="dk1"/>
              </a:solidFill>
              <a:effectLst/>
              <a:uFillTx/>
              <a:latin typeface="Segoe UI"/>
            </a:endParaRPr>
          </a:p>
        </p:txBody>
      </p:sp>
      <p:sp>
        <p:nvSpPr>
          <p:cNvPr id="15" name="text-1"/>
          <p:cNvSpPr/>
          <p:nvPr/>
        </p:nvSpPr>
        <p:spPr>
          <a:xfrm>
            <a:off x="548640" y="6126480"/>
            <a:ext cx="5486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2"/>
                </a:solidFill>
                <a:effectLst/>
                <a:uFillTx/>
                <a:latin typeface="Segoe UI"/>
              </a:rPr>
              <a:t>Драгунский Даниил · октябрь 2026</a:t>
            </a:r>
            <a:endParaRPr lang="ru-MD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 hasCustomPrompt="1"/>
          </p:nvPr>
        </p:nvSpPr>
        <p:spPr>
          <a:xfrm>
            <a:off x="548640" y="274320"/>
            <a:ext cx="11091240" cy="658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00" b="1" u="none" strike="noStrike">
                <a:solidFill>
                  <a:schemeClr val="dk1"/>
                </a:solidFill>
                <a:effectLst/>
                <a:uFillTx/>
                <a:latin typeface="Segoe UI"/>
              </a:rPr>
              <a:t>Задача и в чём её трудность</a:t>
            </a:r>
            <a:endParaRPr lang="ru-MD" sz="3000" b="0" u="none" strike="noStrike">
              <a:solidFill>
                <a:schemeClr val="dk1"/>
              </a:solidFill>
              <a:effectLst/>
              <a:uFillTx/>
              <a:latin typeface="Segoe U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hasCustomPrompt="1"/>
          </p:nvPr>
        </p:nvSpPr>
        <p:spPr>
          <a:xfrm>
            <a:off x="548640" y="914400"/>
            <a:ext cx="11091240" cy="411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 defTabSz="914400">
              <a:lnSpc>
                <a:spcPct val="100000"/>
              </a:lnSpc>
              <a:spcBef>
                <a:spcPts val="300"/>
              </a:spcBef>
              <a:buNone/>
              <a:tabLst>
                <a:tab pos="0" algn="l"/>
              </a:tabLst>
            </a:pPr>
            <a:r>
              <a:rPr lang="en-US" sz="1500" b="0" u="none" strike="noStrike">
                <a:solidFill>
                  <a:schemeClr val="dk2"/>
                </a:solidFill>
                <a:effectLst/>
                <a:uFillTx/>
                <a:latin typeface="Segoe UI"/>
              </a:rPr>
              <a:t>Классифицировать окно 2,56 с сигналов телефона в один из 6 классов — в реальном времени и без сервера</a:t>
            </a:r>
            <a:endParaRPr lang="ru-MD" sz="1500" b="0" u="none" strike="noStrike">
              <a:solidFill>
                <a:schemeClr val="dk1"/>
              </a:solidFill>
              <a:effectLst/>
              <a:uFillTx/>
              <a:latin typeface="Segoe UI"/>
            </a:endParaRPr>
          </a:p>
        </p:txBody>
      </p:sp>
      <p:sp>
        <p:nvSpPr>
          <p:cNvPr id="18" name="card-2"/>
          <p:cNvSpPr/>
          <p:nvPr/>
        </p:nvSpPr>
        <p:spPr>
          <a:xfrm>
            <a:off x="548640" y="1554480"/>
            <a:ext cx="4571640" cy="4617360"/>
          </a:xfrm>
          <a:prstGeom prst="roundRect">
            <a:avLst>
              <a:gd name="adj" fmla="val 2400"/>
            </a:avLst>
          </a:prstGeom>
          <a:solidFill>
            <a:schemeClr val="bg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MD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text-3"/>
          <p:cNvSpPr/>
          <p:nvPr/>
        </p:nvSpPr>
        <p:spPr>
          <a:xfrm>
            <a:off x="822960" y="1755720"/>
            <a:ext cx="4114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chemeClr val="dk1"/>
                </a:solidFill>
                <a:effectLst/>
                <a:uFillTx/>
                <a:latin typeface="Segoe UI"/>
              </a:rPr>
              <a:t>Постановка</a:t>
            </a:r>
            <a:endParaRPr lang="ru-MD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rich-4"/>
          <p:cNvSpPr/>
          <p:nvPr/>
        </p:nvSpPr>
        <p:spPr>
          <a:xfrm>
            <a:off x="822960" y="2240280"/>
            <a:ext cx="4114440" cy="374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spcAft>
                <a:spcPts val="1001"/>
              </a:spcAft>
              <a:tabLst>
                <a:tab pos="0" algn="l"/>
              </a:tabLst>
            </a:pPr>
            <a:r>
              <a:rPr lang="en-US" sz="1400" b="1" u="none" strike="noStrike">
                <a:solidFill>
                  <a:schemeClr val="dk1"/>
                </a:solidFill>
                <a:effectLst/>
                <a:uFillTx/>
                <a:latin typeface="Segoe UI"/>
              </a:rPr>
              <a:t>Вход: </a:t>
            </a: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Segoe UI"/>
              </a:rPr>
              <a:t>акселерометр и гироскоп (3 оси, 50 Гц), освещённость, датчик приближения</a:t>
            </a:r>
            <a:endParaRPr lang="ru-MD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1001"/>
              </a:spcAft>
              <a:tabLst>
                <a:tab pos="0" algn="l"/>
              </a:tabLst>
            </a:pPr>
            <a:r>
              <a:rPr lang="en-US" sz="1400" b="1" u="none" strike="noStrike">
                <a:solidFill>
                  <a:schemeClr val="dk1"/>
                </a:solidFill>
                <a:effectLst/>
                <a:uFillTx/>
                <a:latin typeface="Segoe UI"/>
              </a:rPr>
              <a:t>Выход 1 — положение: </a:t>
            </a: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Segoe UI"/>
              </a:rPr>
              <a:t>карман, рука, у уха, стол</a:t>
            </a:r>
            <a:endParaRPr lang="ru-MD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1001"/>
              </a:spcAft>
              <a:tabLst>
                <a:tab pos="0" algn="l"/>
              </a:tabLst>
            </a:pPr>
            <a:r>
              <a:rPr lang="en-US" sz="1400" b="1" u="none" strike="noStrike">
                <a:solidFill>
                  <a:schemeClr val="dk1"/>
                </a:solidFill>
                <a:effectLst/>
                <a:uFillTx/>
                <a:latin typeface="Segoe UI"/>
              </a:rPr>
              <a:t>Выход 2 — активность: </a:t>
            </a: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Segoe UI"/>
              </a:rPr>
              <a:t>покой, ходьба, бег, подъём и спуск по лестнице, велосипед</a:t>
            </a:r>
            <a:endParaRPr lang="ru-MD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1001"/>
              </a:spcAft>
              <a:tabLst>
                <a:tab pos="0" algn="l"/>
              </a:tabLst>
            </a:pPr>
            <a:r>
              <a:rPr lang="en-US" sz="1400" b="1" u="none" strike="noStrike">
                <a:solidFill>
                  <a:schemeClr val="dk1"/>
                </a:solidFill>
                <a:effectLst/>
                <a:uFillTx/>
                <a:latin typeface="Segoe UI"/>
              </a:rPr>
              <a:t>Ограничения: </a:t>
            </a: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Segoe UI"/>
              </a:rPr>
              <a:t>решение каждые 1,28 с, вычисления на телефоне (TensorFlow Lite)</a:t>
            </a:r>
            <a:endParaRPr lang="ru-MD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1001"/>
              </a:spcAft>
              <a:tabLst>
                <a:tab pos="0" algn="l"/>
              </a:tabLst>
            </a:pPr>
            <a:r>
              <a:rPr lang="en-US" sz="1400" b="1" u="none" strike="noStrike">
                <a:solidFill>
                  <a:schemeClr val="dk1"/>
                </a:solidFill>
                <a:effectLst/>
                <a:uFillTx/>
                <a:latin typeface="Segoe UI"/>
              </a:rPr>
              <a:t>Критерий: </a:t>
            </a: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Segoe UI"/>
              </a:rPr>
              <a:t>точность на людях, которых модель не видела при обучении (subject-independent)</a:t>
            </a:r>
            <a:endParaRPr lang="ru-MD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card-5"/>
          <p:cNvSpPr/>
          <p:nvPr/>
        </p:nvSpPr>
        <p:spPr>
          <a:xfrm>
            <a:off x="5349240" y="1554480"/>
            <a:ext cx="3099600" cy="2239920"/>
          </a:xfrm>
          <a:prstGeom prst="roundRect">
            <a:avLst>
              <a:gd name="adj" fmla="val 4898"/>
            </a:avLst>
          </a:prstGeom>
          <a:solidFill>
            <a:schemeClr val="accent2">
              <a:alpha val="9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MD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" name="plate-6"/>
          <p:cNvSpPr/>
          <p:nvPr/>
        </p:nvSpPr>
        <p:spPr>
          <a:xfrm>
            <a:off x="5577840" y="1783080"/>
            <a:ext cx="566640" cy="566640"/>
          </a:xfrm>
          <a:prstGeom prst="roundRect">
            <a:avLst>
              <a:gd name="adj" fmla="val 16129"/>
            </a:avLst>
          </a:prstGeom>
          <a:solidFill>
            <a:schemeClr val="bg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MD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3" name="icon-7" descr="C:\Users\danl0\AppData\Local\Temp\claude\C--Users-danl0\64257144-142c-4560-8b2a-91b138f1175f\scratchpad\deck\assets\img24.png"/>
          <p:cNvPicPr/>
          <p:nvPr/>
        </p:nvPicPr>
        <p:blipFill>
          <a:blip r:embed="rId1"/>
          <a:stretch/>
        </p:blipFill>
        <p:spPr>
          <a:xfrm>
            <a:off x="5674320" y="1879560"/>
            <a:ext cx="373680" cy="373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" name="text-8"/>
          <p:cNvSpPr/>
          <p:nvPr/>
        </p:nvSpPr>
        <p:spPr>
          <a:xfrm>
            <a:off x="5577840" y="2468880"/>
            <a:ext cx="2697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chemeClr val="dk1"/>
                </a:solidFill>
                <a:effectLst/>
                <a:uFillTx/>
                <a:latin typeface="Segoe UI"/>
              </a:rPr>
              <a:t>Ориентация неизвестна</a:t>
            </a:r>
            <a:endParaRPr lang="ru-MD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text-9"/>
          <p:cNvSpPr/>
          <p:nvPr/>
        </p:nvSpPr>
        <p:spPr>
          <a:xfrm>
            <a:off x="5577840" y="2834640"/>
            <a:ext cx="269712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chemeClr val="dk2"/>
                </a:solidFill>
                <a:effectLst/>
                <a:uFillTx/>
                <a:latin typeface="Segoe UI"/>
              </a:rPr>
              <a:t>В кармане телефон повёрнут как угодно: одно и то же движение даёт разные сигналы по осям x, y, z</a:t>
            </a:r>
            <a:endParaRPr lang="ru-MD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card-10"/>
          <p:cNvSpPr/>
          <p:nvPr/>
        </p:nvSpPr>
        <p:spPr>
          <a:xfrm>
            <a:off x="8540640" y="1554480"/>
            <a:ext cx="3099600" cy="2239920"/>
          </a:xfrm>
          <a:prstGeom prst="roundRect">
            <a:avLst>
              <a:gd name="adj" fmla="val 4898"/>
            </a:avLst>
          </a:prstGeom>
          <a:solidFill>
            <a:schemeClr val="accent3">
              <a:alpha val="9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MD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plate-11"/>
          <p:cNvSpPr/>
          <p:nvPr/>
        </p:nvSpPr>
        <p:spPr>
          <a:xfrm>
            <a:off x="8769240" y="1783080"/>
            <a:ext cx="566640" cy="566640"/>
          </a:xfrm>
          <a:prstGeom prst="roundRect">
            <a:avLst>
              <a:gd name="adj" fmla="val 16129"/>
            </a:avLst>
          </a:prstGeom>
          <a:solidFill>
            <a:schemeClr val="bg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MD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8" name="icon-12" descr="C:\Users\danl0\AppData\Local\Temp\claude\C--Users-danl0\64257144-142c-4560-8b2a-91b138f1175f\scratchpad\deck\assets\img26.png"/>
          <p:cNvPicPr/>
          <p:nvPr/>
        </p:nvPicPr>
        <p:blipFill>
          <a:blip r:embed="rId2"/>
          <a:stretch/>
        </p:blipFill>
        <p:spPr>
          <a:xfrm>
            <a:off x="8865360" y="1879560"/>
            <a:ext cx="373680" cy="373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" name="text-13"/>
          <p:cNvSpPr/>
          <p:nvPr/>
        </p:nvSpPr>
        <p:spPr>
          <a:xfrm>
            <a:off x="8769240" y="2468880"/>
            <a:ext cx="2697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chemeClr val="dk1"/>
                </a:solidFill>
                <a:effectLst/>
                <a:uFillTx/>
                <a:latin typeface="Segoe UI"/>
              </a:rPr>
              <a:t>Положение меняет сигнал</a:t>
            </a:r>
            <a:endParaRPr lang="ru-MD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text-14"/>
          <p:cNvSpPr/>
          <p:nvPr/>
        </p:nvSpPr>
        <p:spPr>
          <a:xfrm>
            <a:off x="8769240" y="2834640"/>
            <a:ext cx="269712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chemeClr val="dk2"/>
                </a:solidFill>
                <a:effectLst/>
                <a:uFillTx/>
                <a:latin typeface="Segoe UI"/>
              </a:rPr>
              <a:t>Мах руки раздувает амплитуду: ходьба с телефоном в руке похожа на бег, жест — на шаг</a:t>
            </a:r>
            <a:endParaRPr lang="ru-MD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card-15"/>
          <p:cNvSpPr/>
          <p:nvPr/>
        </p:nvSpPr>
        <p:spPr>
          <a:xfrm>
            <a:off x="5349240" y="3931920"/>
            <a:ext cx="3099600" cy="2239920"/>
          </a:xfrm>
          <a:prstGeom prst="roundRect">
            <a:avLst>
              <a:gd name="adj" fmla="val 4898"/>
            </a:avLst>
          </a:prstGeom>
          <a:solidFill>
            <a:schemeClr val="accent4">
              <a:alpha val="9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MD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" name="plate-16"/>
          <p:cNvSpPr/>
          <p:nvPr/>
        </p:nvSpPr>
        <p:spPr>
          <a:xfrm>
            <a:off x="5577840" y="4160520"/>
            <a:ext cx="566640" cy="566640"/>
          </a:xfrm>
          <a:prstGeom prst="roundRect">
            <a:avLst>
              <a:gd name="adj" fmla="val 16129"/>
            </a:avLst>
          </a:prstGeom>
          <a:solidFill>
            <a:schemeClr val="bg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MD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3" name="icon-17" descr="C:\Users\danl0\AppData\Local\Temp\claude\C--Users-danl0\64257144-142c-4560-8b2a-91b138f1175f\scratchpad\deck\assets\img5.png"/>
          <p:cNvPicPr/>
          <p:nvPr/>
        </p:nvPicPr>
        <p:blipFill>
          <a:blip r:embed="rId3"/>
          <a:stretch/>
        </p:blipFill>
        <p:spPr>
          <a:xfrm>
            <a:off x="5674320" y="4257000"/>
            <a:ext cx="373680" cy="373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4" name="text-18"/>
          <p:cNvSpPr/>
          <p:nvPr/>
        </p:nvSpPr>
        <p:spPr>
          <a:xfrm>
            <a:off x="5577840" y="4846320"/>
            <a:ext cx="2697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chemeClr val="dk1"/>
                </a:solidFill>
                <a:effectLst/>
                <a:uFillTx/>
                <a:latin typeface="Segoe UI"/>
              </a:rPr>
              <a:t>Ходьба ≈ лестница</a:t>
            </a:r>
            <a:endParaRPr lang="ru-MD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text-19"/>
          <p:cNvSpPr/>
          <p:nvPr/>
        </p:nvSpPr>
        <p:spPr>
          <a:xfrm>
            <a:off x="5577840" y="5212080"/>
            <a:ext cx="269712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chemeClr val="dk2"/>
                </a:solidFill>
                <a:effectLst/>
                <a:uFillTx/>
                <a:latin typeface="Segoe UI"/>
              </a:rPr>
              <a:t>Темп шага совпадает; лучший одиночный признак разделяет их лишь с AUC 0,72</a:t>
            </a:r>
            <a:endParaRPr lang="ru-MD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card-20"/>
          <p:cNvSpPr/>
          <p:nvPr/>
        </p:nvSpPr>
        <p:spPr>
          <a:xfrm>
            <a:off x="8540640" y="3931920"/>
            <a:ext cx="3099600" cy="2239920"/>
          </a:xfrm>
          <a:prstGeom prst="roundRect">
            <a:avLst>
              <a:gd name="adj" fmla="val 4898"/>
            </a:avLst>
          </a:prstGeom>
          <a:solidFill>
            <a:schemeClr val="accent5">
              <a:alpha val="9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MD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" name="plate-21"/>
          <p:cNvSpPr/>
          <p:nvPr/>
        </p:nvSpPr>
        <p:spPr>
          <a:xfrm>
            <a:off x="8769240" y="4160520"/>
            <a:ext cx="566640" cy="566640"/>
          </a:xfrm>
          <a:prstGeom prst="roundRect">
            <a:avLst>
              <a:gd name="adj" fmla="val 16129"/>
            </a:avLst>
          </a:prstGeom>
          <a:solidFill>
            <a:schemeClr val="bg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MD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8" name="icon-22" descr="C:\Users\danl0\AppData\Local\Temp\claude\C--Users-danl0\64257144-142c-4560-8b2a-91b138f1175f\scratchpad\deck\assets\img38.png"/>
          <p:cNvPicPr/>
          <p:nvPr/>
        </p:nvPicPr>
        <p:blipFill>
          <a:blip r:embed="rId4"/>
          <a:stretch/>
        </p:blipFill>
        <p:spPr>
          <a:xfrm>
            <a:off x="8865360" y="4257000"/>
            <a:ext cx="373680" cy="373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9" name="text-23"/>
          <p:cNvSpPr/>
          <p:nvPr/>
        </p:nvSpPr>
        <p:spPr>
          <a:xfrm>
            <a:off x="8769240" y="4846320"/>
            <a:ext cx="2697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chemeClr val="dk1"/>
                </a:solidFill>
                <a:effectLst/>
                <a:uFillTx/>
                <a:latin typeface="Segoe UI"/>
              </a:rPr>
              <a:t>Разные люди</a:t>
            </a:r>
            <a:endParaRPr lang="ru-MD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text-24"/>
          <p:cNvSpPr/>
          <p:nvPr/>
        </p:nvSpPr>
        <p:spPr>
          <a:xfrm>
            <a:off x="8769240" y="5212080"/>
            <a:ext cx="269712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chemeClr val="dk2"/>
                </a:solidFill>
                <a:effectLst/>
                <a:uFillTx/>
                <a:latin typeface="Segoe UI"/>
              </a:rPr>
              <a:t>Разброс признаков между людьми для ходьбы и лестницы больше, чем между этими классами</a:t>
            </a:r>
            <a:endParaRPr lang="ru-MD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 type="sldNum" idx="5"/>
          </p:nvPr>
        </p:nvSpPr>
        <p:spPr>
          <a:xfrm>
            <a:off x="11274480" y="6446520"/>
            <a:ext cx="456840" cy="255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000" b="0" u="none" strike="noStrike">
                <a:solidFill>
                  <a:schemeClr val="dk2"/>
                </a:solidFill>
                <a:effectLst/>
                <a:uFillTx/>
                <a:latin typeface="Segoe U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63FF713-4C47-43C5-9480-EEB87BE0D69D}" type="slidenum">
              <a:rPr lang="en-US" sz="1000" b="0" u="none" strike="noStrike">
                <a:solidFill>
                  <a:schemeClr val="dk2"/>
                </a:solidFill>
                <a:effectLst/>
                <a:uFillTx/>
                <a:latin typeface="Segoe UI"/>
              </a:rPr>
              <a:t>15</a:t>
            </a:fld>
            <a:endParaRPr lang="ru-MD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 hasCustomPrompt="1"/>
          </p:nvPr>
        </p:nvSpPr>
        <p:spPr>
          <a:xfrm>
            <a:off x="548640" y="274320"/>
            <a:ext cx="11091240" cy="658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00" b="1" u="none" strike="noStrike">
                <a:solidFill>
                  <a:schemeClr val="dk1"/>
                </a:solidFill>
                <a:effectLst/>
                <a:uFillTx/>
                <a:latin typeface="Segoe UI"/>
              </a:rPr>
              <a:t>Датчики смартфона и частота дискретизации</a:t>
            </a:r>
            <a:endParaRPr lang="ru-MD" sz="3000" b="0" u="none" strike="noStrike">
              <a:solidFill>
                <a:schemeClr val="dk1"/>
              </a:solidFill>
              <a:effectLst/>
              <a:uFillTx/>
              <a:latin typeface="Segoe UI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hasCustomPrompt="1"/>
          </p:nvPr>
        </p:nvSpPr>
        <p:spPr>
          <a:xfrm>
            <a:off x="548640" y="914400"/>
            <a:ext cx="11091240" cy="411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 defTabSz="914400">
              <a:lnSpc>
                <a:spcPct val="100000"/>
              </a:lnSpc>
              <a:spcBef>
                <a:spcPts val="300"/>
              </a:spcBef>
              <a:buNone/>
              <a:tabLst>
                <a:tab pos="0" algn="l"/>
              </a:tabLst>
            </a:pPr>
            <a:r>
              <a:rPr lang="en-US" sz="1500" b="0" u="none" strike="noStrike">
                <a:solidFill>
                  <a:schemeClr val="dk2"/>
                </a:solidFill>
                <a:effectLst/>
                <a:uFillTx/>
                <a:latin typeface="Segoe UI"/>
              </a:rPr>
              <a:t>Частота дискретизации определяет, какие детали движения вообще можно увидеть в сигнале</a:t>
            </a:r>
            <a:endParaRPr lang="ru-MD" sz="1500" b="0" u="none" strike="noStrike">
              <a:solidFill>
                <a:schemeClr val="dk1"/>
              </a:solidFill>
              <a:effectLst/>
              <a:uFillTx/>
              <a:latin typeface="Segoe UI"/>
            </a:endParaRPr>
          </a:p>
        </p:txBody>
      </p:sp>
      <p:graphicFrame>
        <p:nvGraphicFramePr>
          <p:cNvPr id="44" name="sensors-table-25"/>
          <p:cNvGraphicFramePr/>
          <p:nvPr/>
        </p:nvGraphicFramePr>
        <p:xfrm>
          <a:off x="548640" y="1508760"/>
          <a:ext cx="7817760" cy="3520080"/>
        </p:xfrm>
        <a:graphic>
          <a:graphicData uri="http://schemas.openxmlformats.org/drawingml/2006/table">
            <a:tbl>
              <a:tblPr/>
              <a:tblGrid>
                <a:gridCol w="1783080"/>
                <a:gridCol w="2331720"/>
                <a:gridCol w="1508760"/>
                <a:gridCol w="2194560"/>
              </a:tblGrid>
              <a:tr h="50292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Segoe UI"/>
                        </a:rPr>
                        <a:t>Сенсор</a:t>
                      </a:r>
                      <a:endParaRPr lang="ru-MD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E3E7EE"/>
                      </a:solidFill>
                      <a:prstDash val="solid"/>
                    </a:lnL>
                    <a:lnR w="9360">
                      <a:solidFill>
                        <a:srgbClr val="E3E7EE"/>
                      </a:solidFill>
                      <a:prstDash val="solid"/>
                    </a:lnR>
                    <a:lnT w="9360">
                      <a:solidFill>
                        <a:srgbClr val="E3E7EE"/>
                      </a:solidFill>
                      <a:prstDash val="solid"/>
                    </a:lnT>
                    <a:lnB w="9360">
                      <a:solidFill>
                        <a:srgbClr val="E3E7EE"/>
                      </a:solidFill>
                      <a:prstDash val="solid"/>
                    </a:lnB>
                    <a:solidFill>
                      <a:srgbClr val="00696E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Segoe UI"/>
                        </a:rPr>
                        <a:t>Измеряемая величина</a:t>
                      </a:r>
                      <a:endParaRPr lang="ru-MD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E3E7EE"/>
                      </a:solidFill>
                      <a:prstDash val="solid"/>
                    </a:lnL>
                    <a:lnR w="9360">
                      <a:solidFill>
                        <a:srgbClr val="E3E7EE"/>
                      </a:solidFill>
                      <a:prstDash val="solid"/>
                    </a:lnR>
                    <a:lnT w="9360">
                      <a:solidFill>
                        <a:srgbClr val="E3E7EE"/>
                      </a:solidFill>
                      <a:prstDash val="solid"/>
                    </a:lnT>
                    <a:lnB w="9360">
                      <a:solidFill>
                        <a:srgbClr val="E3E7EE"/>
                      </a:solidFill>
                      <a:prstDash val="solid"/>
                    </a:lnB>
                    <a:solidFill>
                      <a:srgbClr val="00696E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Segoe UI"/>
                        </a:rPr>
                        <a:t>Частота дискретизации</a:t>
                      </a:r>
                      <a:endParaRPr lang="ru-MD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E3E7EE"/>
                      </a:solidFill>
                      <a:prstDash val="solid"/>
                    </a:lnL>
                    <a:lnR w="9360">
                      <a:solidFill>
                        <a:srgbClr val="E3E7EE"/>
                      </a:solidFill>
                      <a:prstDash val="solid"/>
                    </a:lnR>
                    <a:lnT w="9360">
                      <a:solidFill>
                        <a:srgbClr val="E3E7EE"/>
                      </a:solidFill>
                      <a:prstDash val="solid"/>
                    </a:lnT>
                    <a:lnB w="9360">
                      <a:solidFill>
                        <a:srgbClr val="E3E7EE"/>
                      </a:solidFill>
                      <a:prstDash val="solid"/>
                    </a:lnB>
                    <a:solidFill>
                      <a:srgbClr val="E9A23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Segoe UI"/>
                        </a:rPr>
                        <a:t>Назначение в системе</a:t>
                      </a:r>
                      <a:endParaRPr lang="ru-MD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E3E7EE"/>
                      </a:solidFill>
                      <a:prstDash val="solid"/>
                    </a:lnL>
                    <a:lnR w="9360">
                      <a:solidFill>
                        <a:srgbClr val="E3E7EE"/>
                      </a:solidFill>
                      <a:prstDash val="solid"/>
                    </a:lnR>
                    <a:lnT w="9360">
                      <a:solidFill>
                        <a:srgbClr val="E3E7EE"/>
                      </a:solidFill>
                      <a:prstDash val="solid"/>
                    </a:lnT>
                    <a:lnB w="9360">
                      <a:solidFill>
                        <a:srgbClr val="E3E7EE"/>
                      </a:solidFill>
                      <a:prstDash val="solid"/>
                    </a:lnB>
                    <a:solidFill>
                      <a:srgbClr val="00696E"/>
                    </a:solidFill>
                  </a:tcPr>
                </a:tc>
              </a:tr>
              <a:tr h="60336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1B2333"/>
                          </a:solidFill>
                          <a:effectLst/>
                          <a:uFillTx/>
                          <a:latin typeface="Segoe UI"/>
                        </a:rPr>
                        <a:t>Акселерометр</a:t>
                      </a:r>
                      <a:endParaRPr lang="ru-MD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E3E7EE"/>
                      </a:solidFill>
                      <a:prstDash val="solid"/>
                    </a:lnL>
                    <a:lnR w="9360">
                      <a:solidFill>
                        <a:srgbClr val="E3E7EE"/>
                      </a:solidFill>
                      <a:prstDash val="solid"/>
                    </a:lnR>
                    <a:lnT w="9360">
                      <a:solidFill>
                        <a:srgbClr val="E3E7EE"/>
                      </a:solidFill>
                      <a:prstDash val="solid"/>
                    </a:lnT>
                    <a:lnB w="9360">
                      <a:solidFill>
                        <a:srgbClr val="E3E7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B2333"/>
                          </a:solidFill>
                          <a:effectLst/>
                          <a:uFillTx/>
                          <a:latin typeface="Segoe UI"/>
                        </a:rPr>
                        <a:t>ускорение по 3 осям, м/с²</a:t>
                      </a:r>
                      <a:endParaRPr lang="ru-MD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E3E7EE"/>
                      </a:solidFill>
                      <a:prstDash val="solid"/>
                    </a:lnL>
                    <a:lnR w="9360">
                      <a:solidFill>
                        <a:srgbClr val="E3E7EE"/>
                      </a:solidFill>
                      <a:prstDash val="solid"/>
                    </a:lnR>
                    <a:lnT w="9360">
                      <a:solidFill>
                        <a:srgbClr val="E3E7EE"/>
                      </a:solidFill>
                      <a:prstDash val="solid"/>
                    </a:lnT>
                    <a:lnB w="9360">
                      <a:solidFill>
                        <a:srgbClr val="E3E7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1B2333"/>
                          </a:solidFill>
                          <a:effectLst/>
                          <a:uFillTx/>
                          <a:latin typeface="Segoe UI"/>
                        </a:rPr>
                        <a:t>100 Гц → 50 Гц</a:t>
                      </a:r>
                      <a:endParaRPr lang="ru-MD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E3E7EE"/>
                      </a:solidFill>
                      <a:prstDash val="solid"/>
                    </a:lnL>
                    <a:lnR w="9360">
                      <a:solidFill>
                        <a:srgbClr val="E3E7EE"/>
                      </a:solidFill>
                      <a:prstDash val="solid"/>
                    </a:lnR>
                    <a:lnT w="9360">
                      <a:solidFill>
                        <a:srgbClr val="E3E7EE"/>
                      </a:solidFill>
                      <a:prstDash val="solid"/>
                    </a:lnT>
                    <a:lnB w="9360">
                      <a:solidFill>
                        <a:srgbClr val="E3E7EE"/>
                      </a:solidFill>
                      <a:prstDash val="solid"/>
                    </a:lnB>
                    <a:solidFill>
                      <a:srgbClr val="E2F1F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B2333"/>
                          </a:solidFill>
                          <a:effectLst/>
                          <a:uFillTx/>
                          <a:latin typeface="Segoe UI"/>
                        </a:rPr>
                        <a:t>вход сети активности; наклон, шаги, навигация</a:t>
                      </a:r>
                      <a:endParaRPr lang="ru-MD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E3E7EE"/>
                      </a:solidFill>
                      <a:prstDash val="solid"/>
                    </a:lnL>
                    <a:lnR w="9360">
                      <a:solidFill>
                        <a:srgbClr val="E3E7EE"/>
                      </a:solidFill>
                      <a:prstDash val="solid"/>
                    </a:lnR>
                    <a:lnT w="9360">
                      <a:solidFill>
                        <a:srgbClr val="E3E7EE"/>
                      </a:solidFill>
                      <a:prstDash val="solid"/>
                    </a:lnT>
                    <a:lnB w="9360">
                      <a:solidFill>
                        <a:srgbClr val="E3E7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36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1B2333"/>
                          </a:solidFill>
                          <a:effectLst/>
                          <a:uFillTx/>
                          <a:latin typeface="Segoe UI"/>
                        </a:rPr>
                        <a:t>Гироскоп</a:t>
                      </a:r>
                      <a:endParaRPr lang="ru-MD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E3E7EE"/>
                      </a:solidFill>
                      <a:prstDash val="solid"/>
                    </a:lnL>
                    <a:lnR w="9360">
                      <a:solidFill>
                        <a:srgbClr val="E3E7EE"/>
                      </a:solidFill>
                      <a:prstDash val="solid"/>
                    </a:lnR>
                    <a:lnT w="9360">
                      <a:solidFill>
                        <a:srgbClr val="E3E7EE"/>
                      </a:solidFill>
                      <a:prstDash val="solid"/>
                    </a:lnT>
                    <a:lnB w="9360">
                      <a:solidFill>
                        <a:srgbClr val="E3E7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B2333"/>
                          </a:solidFill>
                          <a:effectLst/>
                          <a:uFillTx/>
                          <a:latin typeface="Segoe UI"/>
                        </a:rPr>
                        <a:t>угловая скорость по 3 осям, рад/с</a:t>
                      </a:r>
                      <a:endParaRPr lang="ru-MD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E3E7EE"/>
                      </a:solidFill>
                      <a:prstDash val="solid"/>
                    </a:lnL>
                    <a:lnR w="9360">
                      <a:solidFill>
                        <a:srgbClr val="E3E7EE"/>
                      </a:solidFill>
                      <a:prstDash val="solid"/>
                    </a:lnR>
                    <a:lnT w="9360">
                      <a:solidFill>
                        <a:srgbClr val="E3E7EE"/>
                      </a:solidFill>
                      <a:prstDash val="solid"/>
                    </a:lnT>
                    <a:lnB w="9360">
                      <a:solidFill>
                        <a:srgbClr val="E3E7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1B2333"/>
                          </a:solidFill>
                          <a:effectLst/>
                          <a:uFillTx/>
                          <a:latin typeface="Segoe UI"/>
                        </a:rPr>
                        <a:t>100 Гц → 50 Гц</a:t>
                      </a:r>
                      <a:endParaRPr lang="ru-MD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E3E7EE"/>
                      </a:solidFill>
                      <a:prstDash val="solid"/>
                    </a:lnL>
                    <a:lnR w="9360">
                      <a:solidFill>
                        <a:srgbClr val="E3E7EE"/>
                      </a:solidFill>
                      <a:prstDash val="solid"/>
                    </a:lnR>
                    <a:lnT w="9360">
                      <a:solidFill>
                        <a:srgbClr val="E3E7EE"/>
                      </a:solidFill>
                      <a:prstDash val="solid"/>
                    </a:lnT>
                    <a:lnB w="9360">
                      <a:solidFill>
                        <a:srgbClr val="E3E7EE"/>
                      </a:solidFill>
                      <a:prstDash val="solid"/>
                    </a:lnB>
                    <a:solidFill>
                      <a:srgbClr val="E2F1F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B2333"/>
                          </a:solidFill>
                          <a:effectLst/>
                          <a:uFillTx/>
                          <a:latin typeface="Segoe UI"/>
                        </a:rPr>
                        <a:t>вход сети активности; ориентация, дрожь руки</a:t>
                      </a:r>
                      <a:endParaRPr lang="ru-MD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E3E7EE"/>
                      </a:solidFill>
                      <a:prstDash val="solid"/>
                    </a:lnL>
                    <a:lnR w="9360">
                      <a:solidFill>
                        <a:srgbClr val="E3E7EE"/>
                      </a:solidFill>
                      <a:prstDash val="solid"/>
                    </a:lnR>
                    <a:lnT w="9360">
                      <a:solidFill>
                        <a:srgbClr val="E3E7EE"/>
                      </a:solidFill>
                      <a:prstDash val="solid"/>
                    </a:lnT>
                    <a:lnB w="9360">
                      <a:solidFill>
                        <a:srgbClr val="E3E7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36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1B2333"/>
                          </a:solidFill>
                          <a:effectLst/>
                          <a:uFillTx/>
                          <a:latin typeface="Segoe UI"/>
                        </a:rPr>
                        <a:t>Магнитометр</a:t>
                      </a:r>
                      <a:endParaRPr lang="ru-MD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E3E7EE"/>
                      </a:solidFill>
                      <a:prstDash val="solid"/>
                    </a:lnL>
                    <a:lnR w="9360">
                      <a:solidFill>
                        <a:srgbClr val="E3E7EE"/>
                      </a:solidFill>
                      <a:prstDash val="solid"/>
                    </a:lnR>
                    <a:lnT w="9360">
                      <a:solidFill>
                        <a:srgbClr val="E3E7EE"/>
                      </a:solidFill>
                      <a:prstDash val="solid"/>
                    </a:lnT>
                    <a:lnB w="9360">
                      <a:solidFill>
                        <a:srgbClr val="E3E7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B2333"/>
                          </a:solidFill>
                          <a:effectLst/>
                          <a:uFillTx/>
                          <a:latin typeface="Segoe UI"/>
                        </a:rPr>
                        <a:t>индукция магнитного поля по 3 осям, мкТл</a:t>
                      </a:r>
                      <a:endParaRPr lang="ru-MD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E3E7EE"/>
                      </a:solidFill>
                      <a:prstDash val="solid"/>
                    </a:lnL>
                    <a:lnR w="9360">
                      <a:solidFill>
                        <a:srgbClr val="E3E7EE"/>
                      </a:solidFill>
                      <a:prstDash val="solid"/>
                    </a:lnR>
                    <a:lnT w="9360">
                      <a:solidFill>
                        <a:srgbClr val="E3E7EE"/>
                      </a:solidFill>
                      <a:prstDash val="solid"/>
                    </a:lnT>
                    <a:lnB w="9360">
                      <a:solidFill>
                        <a:srgbClr val="E3E7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1B2333"/>
                          </a:solidFill>
                          <a:effectLst/>
                          <a:uFillTx/>
                          <a:latin typeface="Segoe UI"/>
                        </a:rPr>
                        <a:t>50 Гц</a:t>
                      </a:r>
                      <a:endParaRPr lang="ru-MD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E3E7EE"/>
                      </a:solidFill>
                      <a:prstDash val="solid"/>
                    </a:lnL>
                    <a:lnR w="9360">
                      <a:solidFill>
                        <a:srgbClr val="E3E7EE"/>
                      </a:solidFill>
                      <a:prstDash val="solid"/>
                    </a:lnR>
                    <a:lnT w="9360">
                      <a:solidFill>
                        <a:srgbClr val="E3E7EE"/>
                      </a:solidFill>
                      <a:prstDash val="solid"/>
                    </a:lnT>
                    <a:lnB w="9360">
                      <a:solidFill>
                        <a:srgbClr val="E3E7EE"/>
                      </a:solidFill>
                      <a:prstDash val="solid"/>
                    </a:lnB>
                    <a:solidFill>
                      <a:srgbClr val="E2F1F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B2333"/>
                          </a:solidFill>
                          <a:effectLst/>
                          <a:uFillTx/>
                          <a:latin typeface="Segoe UI"/>
                        </a:rPr>
                        <a:t>курс в навигации; в модели не участвует</a:t>
                      </a:r>
                      <a:endParaRPr lang="ru-MD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E3E7EE"/>
                      </a:solidFill>
                      <a:prstDash val="solid"/>
                    </a:lnL>
                    <a:lnR w="9360">
                      <a:solidFill>
                        <a:srgbClr val="E3E7EE"/>
                      </a:solidFill>
                      <a:prstDash val="solid"/>
                    </a:lnR>
                    <a:lnT w="9360">
                      <a:solidFill>
                        <a:srgbClr val="E3E7EE"/>
                      </a:solidFill>
                      <a:prstDash val="solid"/>
                    </a:lnT>
                    <a:lnB w="9360">
                      <a:solidFill>
                        <a:srgbClr val="E3E7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36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1B2333"/>
                          </a:solidFill>
                          <a:effectLst/>
                          <a:uFillTx/>
                          <a:latin typeface="Segoe UI"/>
                        </a:rPr>
                        <a:t>Датчик освещённости</a:t>
                      </a:r>
                      <a:endParaRPr lang="ru-MD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E3E7EE"/>
                      </a:solidFill>
                      <a:prstDash val="solid"/>
                    </a:lnL>
                    <a:lnR w="9360">
                      <a:solidFill>
                        <a:srgbClr val="E3E7EE"/>
                      </a:solidFill>
                      <a:prstDash val="solid"/>
                    </a:lnR>
                    <a:lnT w="9360">
                      <a:solidFill>
                        <a:srgbClr val="E3E7EE"/>
                      </a:solidFill>
                      <a:prstDash val="solid"/>
                    </a:lnT>
                    <a:lnB w="9360">
                      <a:solidFill>
                        <a:srgbClr val="E3E7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B2333"/>
                          </a:solidFill>
                          <a:effectLst/>
                          <a:uFillTx/>
                          <a:latin typeface="Segoe UI"/>
                        </a:rPr>
                        <a:t>освещённость, лк</a:t>
                      </a:r>
                      <a:endParaRPr lang="ru-MD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E3E7EE"/>
                      </a:solidFill>
                      <a:prstDash val="solid"/>
                    </a:lnL>
                    <a:lnR w="9360">
                      <a:solidFill>
                        <a:srgbClr val="E3E7EE"/>
                      </a:solidFill>
                      <a:prstDash val="solid"/>
                    </a:lnR>
                    <a:lnT w="9360">
                      <a:solidFill>
                        <a:srgbClr val="E3E7EE"/>
                      </a:solidFill>
                      <a:prstDash val="solid"/>
                    </a:lnT>
                    <a:lnB w="9360">
                      <a:solidFill>
                        <a:srgbClr val="E3E7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1B2333"/>
                          </a:solidFill>
                          <a:effectLst/>
                          <a:uFillTx/>
                          <a:latin typeface="Segoe UI"/>
                        </a:rPr>
                        <a:t>неизвестна, но не нужна</a:t>
                      </a:r>
                      <a:endParaRPr lang="ru-MD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E3E7EE"/>
                      </a:solidFill>
                      <a:prstDash val="solid"/>
                    </a:lnL>
                    <a:lnR w="9360">
                      <a:solidFill>
                        <a:srgbClr val="E3E7EE"/>
                      </a:solidFill>
                      <a:prstDash val="solid"/>
                    </a:lnR>
                    <a:lnT w="9360">
                      <a:solidFill>
                        <a:srgbClr val="E3E7EE"/>
                      </a:solidFill>
                      <a:prstDash val="solid"/>
                    </a:lnT>
                    <a:lnB w="9360">
                      <a:solidFill>
                        <a:srgbClr val="E3E7EE"/>
                      </a:solidFill>
                      <a:prstDash val="solid"/>
                    </a:lnB>
                    <a:solidFill>
                      <a:srgbClr val="E2F1F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B2333"/>
                          </a:solidFill>
                          <a:effectLst/>
                          <a:uFillTx/>
                          <a:latin typeface="Segoe UI"/>
                        </a:rPr>
                        <a:t>признаки положения: «темно» &lt; 10 лк</a:t>
                      </a:r>
                      <a:endParaRPr lang="ru-MD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E3E7EE"/>
                      </a:solidFill>
                      <a:prstDash val="solid"/>
                    </a:lnL>
                    <a:lnR w="9360">
                      <a:solidFill>
                        <a:srgbClr val="E3E7EE"/>
                      </a:solidFill>
                      <a:prstDash val="solid"/>
                    </a:lnR>
                    <a:lnT w="9360">
                      <a:solidFill>
                        <a:srgbClr val="E3E7EE"/>
                      </a:solidFill>
                      <a:prstDash val="solid"/>
                    </a:lnT>
                    <a:lnB w="9360">
                      <a:solidFill>
                        <a:srgbClr val="E3E7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36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1B2333"/>
                          </a:solidFill>
                          <a:effectLst/>
                          <a:uFillTx/>
                          <a:latin typeface="Segoe UI"/>
                        </a:rPr>
                        <a:t>Датчик приближения</a:t>
                      </a:r>
                      <a:endParaRPr lang="ru-MD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E3E7EE"/>
                      </a:solidFill>
                      <a:prstDash val="solid"/>
                    </a:lnL>
                    <a:lnR w="9360">
                      <a:solidFill>
                        <a:srgbClr val="E3E7EE"/>
                      </a:solidFill>
                      <a:prstDash val="solid"/>
                    </a:lnR>
                    <a:lnT w="9360">
                      <a:solidFill>
                        <a:srgbClr val="E3E7EE"/>
                      </a:solidFill>
                      <a:prstDash val="solid"/>
                    </a:lnT>
                    <a:lnB w="9360">
                      <a:solidFill>
                        <a:srgbClr val="E3E7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B2333"/>
                          </a:solidFill>
                          <a:effectLst/>
                          <a:uFillTx/>
                          <a:latin typeface="Segoe UI"/>
                        </a:rPr>
                        <a:t>расстояние, см</a:t>
                      </a:r>
                      <a:endParaRPr lang="ru-MD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E3E7EE"/>
                      </a:solidFill>
                      <a:prstDash val="solid"/>
                    </a:lnL>
                    <a:lnR w="9360">
                      <a:solidFill>
                        <a:srgbClr val="E3E7EE"/>
                      </a:solidFill>
                      <a:prstDash val="solid"/>
                    </a:lnR>
                    <a:lnT w="9360">
                      <a:solidFill>
                        <a:srgbClr val="E3E7EE"/>
                      </a:solidFill>
                      <a:prstDash val="solid"/>
                    </a:lnT>
                    <a:lnB w="9360">
                      <a:solidFill>
                        <a:srgbClr val="E3E7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1B2333"/>
                          </a:solidFill>
                          <a:effectLst/>
                          <a:uFillTx/>
                          <a:latin typeface="Segoe UI"/>
                        </a:rPr>
                        <a:t>неизвестна, но не нужна</a:t>
                      </a:r>
                      <a:endParaRPr lang="ru-MD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E3E7EE"/>
                      </a:solidFill>
                      <a:prstDash val="solid"/>
                    </a:lnL>
                    <a:lnR w="9360">
                      <a:solidFill>
                        <a:srgbClr val="E3E7EE"/>
                      </a:solidFill>
                      <a:prstDash val="solid"/>
                    </a:lnR>
                    <a:lnT w="9360">
                      <a:solidFill>
                        <a:srgbClr val="E3E7EE"/>
                      </a:solidFill>
                      <a:prstDash val="solid"/>
                    </a:lnT>
                    <a:lnB w="9360">
                      <a:solidFill>
                        <a:srgbClr val="E3E7EE"/>
                      </a:solidFill>
                      <a:prstDash val="solid"/>
                    </a:lnB>
                    <a:solidFill>
                      <a:srgbClr val="E2F1F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B2333"/>
                          </a:solidFill>
                          <a:effectLst/>
                          <a:uFillTx/>
                          <a:latin typeface="Segoe UI"/>
                        </a:rPr>
                        <a:t>признаки положения: закрыт / открыт</a:t>
                      </a:r>
                      <a:endParaRPr lang="ru-MD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E3E7EE"/>
                      </a:solidFill>
                      <a:prstDash val="solid"/>
                    </a:lnL>
                    <a:lnR w="9360">
                      <a:solidFill>
                        <a:srgbClr val="E3E7EE"/>
                      </a:solidFill>
                      <a:prstDash val="solid"/>
                    </a:lnR>
                    <a:lnT w="9360">
                      <a:solidFill>
                        <a:srgbClr val="E3E7EE"/>
                      </a:solidFill>
                      <a:prstDash val="solid"/>
                    </a:lnT>
                    <a:lnB w="9360">
                      <a:solidFill>
                        <a:srgbClr val="E3E7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5" name="rich-26"/>
          <p:cNvSpPr/>
          <p:nvPr/>
        </p:nvSpPr>
        <p:spPr>
          <a:xfrm>
            <a:off x="548640" y="5349240"/>
            <a:ext cx="78177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spcAft>
                <a:spcPts val="499"/>
              </a:spcAft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2"/>
                </a:solidFill>
                <a:effectLst/>
                <a:uFillTx/>
                <a:latin typeface="Segoe UI"/>
              </a:rPr>
              <a:t>Все потоки приводятся к единой сетке 50 Гц: такт задаёт акселерометр, остальные каналы берутся последним известным значением. Частота освещённости и приближения неизвестна, но и не нужна: для положения важно только состояние — «темно», «датчик закрыт».</a:t>
            </a:r>
            <a:endParaRPr lang="ru-MD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card-27"/>
          <p:cNvSpPr/>
          <p:nvPr/>
        </p:nvSpPr>
        <p:spPr>
          <a:xfrm>
            <a:off x="8641080" y="1508760"/>
            <a:ext cx="2998800" cy="4663080"/>
          </a:xfrm>
          <a:prstGeom prst="roundRect">
            <a:avLst>
              <a:gd name="adj" fmla="val 3659"/>
            </a:avLst>
          </a:prstGeom>
          <a:solidFill>
            <a:schemeClr val="accent3">
              <a:alpha val="9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MD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text-28"/>
          <p:cNvSpPr/>
          <p:nvPr/>
        </p:nvSpPr>
        <p:spPr>
          <a:xfrm>
            <a:off x="8869680" y="1645920"/>
            <a:ext cx="26514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chemeClr val="dk1"/>
                </a:solidFill>
                <a:effectLst/>
                <a:uFillTx/>
                <a:latin typeface="Segoe UI"/>
              </a:rPr>
              <a:t>Шаг при 50 Гц</a:t>
            </a:r>
            <a:endParaRPr lang="ru-MD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48" name="sampling-chart-29"/>
          <p:cNvGraphicFramePr/>
          <p:nvPr/>
        </p:nvGraphicFramePr>
        <p:xfrm>
          <a:off x="8732520" y="2011680"/>
          <a:ext cx="2834280" cy="1737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49" name="text-30"/>
          <p:cNvSpPr/>
          <p:nvPr/>
        </p:nvSpPr>
        <p:spPr>
          <a:xfrm>
            <a:off x="8869680" y="3767400"/>
            <a:ext cx="2651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chemeClr val="dk2"/>
                </a:solidFill>
                <a:effectLst/>
                <a:uFillTx/>
                <a:latin typeface="Segoe UI"/>
              </a:rPr>
              <a:t>вертикальное ускорение, м/с²; точки — отсчёты</a:t>
            </a:r>
            <a:endParaRPr lang="ru-MD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rich-31"/>
          <p:cNvSpPr/>
          <p:nvPr/>
        </p:nvSpPr>
        <p:spPr>
          <a:xfrm>
            <a:off x="8869680" y="4114800"/>
            <a:ext cx="2651400" cy="20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pos="0" algn="l"/>
              </a:tabLst>
            </a:pPr>
            <a:r>
              <a:rPr lang="en-US" sz="1150" b="1" u="none" strike="noStrike">
                <a:solidFill>
                  <a:schemeClr val="dk1"/>
                </a:solidFill>
                <a:effectLst/>
                <a:uFillTx/>
                <a:latin typeface="Segoe UI"/>
              </a:rPr>
              <a:t>≈ 27 отсчётов </a:t>
            </a:r>
            <a:r>
              <a:rPr lang="en-US" sz="1150" b="0" u="none" strike="noStrike">
                <a:solidFill>
                  <a:schemeClr val="dk1"/>
                </a:solidFill>
                <a:effectLst/>
                <a:uFillTx/>
                <a:latin typeface="Segoe UI"/>
              </a:rPr>
              <a:t>на один шаг (110 шаг/мин)</a:t>
            </a:r>
            <a:endParaRPr lang="ru-MD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pos="0" algn="l"/>
              </a:tabLst>
            </a:pPr>
            <a:r>
              <a:rPr lang="en-US" sz="1150" b="1" u="none" strike="noStrike">
                <a:solidFill>
                  <a:schemeClr val="dk1"/>
                </a:solidFill>
                <a:effectLst/>
                <a:uFillTx/>
                <a:latin typeface="Segoe UI"/>
              </a:rPr>
              <a:t>Найквист 25 Гц: </a:t>
            </a:r>
            <a:r>
              <a:rPr lang="en-US" sz="1150" b="0" u="none" strike="noStrike">
                <a:solidFill>
                  <a:schemeClr val="dk1"/>
                </a:solidFill>
                <a:effectLst/>
                <a:uFillTx/>
                <a:latin typeface="Segoe UI"/>
              </a:rPr>
              <a:t>ритм шага (1–3 Гц) виден</a:t>
            </a:r>
            <a:endParaRPr lang="ru-MD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pos="0" algn="l"/>
              </a:tabLst>
            </a:pPr>
            <a:r>
              <a:rPr lang="en-US" sz="1150" b="1" u="none" strike="noStrike">
                <a:solidFill>
                  <a:schemeClr val="dk1"/>
                </a:solidFill>
                <a:effectLst/>
                <a:uFillTx/>
                <a:latin typeface="Segoe UI"/>
              </a:rPr>
              <a:t>удар стопы — 1–3 отсчёта: </a:t>
            </a:r>
            <a:r>
              <a:rPr lang="en-US" sz="1150" b="0" u="none" strike="noStrike">
                <a:solidFill>
                  <a:schemeClr val="dk1"/>
                </a:solidFill>
                <a:effectLst/>
                <a:uFillTx/>
                <a:latin typeface="Segoe UI"/>
              </a:rPr>
              <a:t>его форма и амплитуда измеряются неточно</a:t>
            </a:r>
            <a:endParaRPr lang="ru-MD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sldNum" idx="6"/>
          </p:nvPr>
        </p:nvSpPr>
        <p:spPr>
          <a:xfrm>
            <a:off x="11274480" y="6446520"/>
            <a:ext cx="456840" cy="255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000" b="0" u="none" strike="noStrike">
                <a:solidFill>
                  <a:schemeClr val="dk2"/>
                </a:solidFill>
                <a:effectLst/>
                <a:uFillTx/>
                <a:latin typeface="Segoe U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3B1EA3B-76B5-4A86-8BDC-A6D14A6487B6}" type="slidenum">
              <a:rPr lang="en-US" sz="1000" b="0" u="none" strike="noStrike">
                <a:solidFill>
                  <a:schemeClr val="dk2"/>
                </a:solidFill>
                <a:effectLst/>
                <a:uFillTx/>
                <a:latin typeface="Segoe UI"/>
              </a:rPr>
              <a:t>15</a:t>
            </a:fld>
            <a:endParaRPr lang="ru-MD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 hasCustomPrompt="1"/>
          </p:nvPr>
        </p:nvSpPr>
        <p:spPr>
          <a:xfrm>
            <a:off x="548640" y="274320"/>
            <a:ext cx="11091240" cy="658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00" b="1" u="none" strike="noStrike">
                <a:solidFill>
                  <a:schemeClr val="dk1"/>
                </a:solidFill>
                <a:effectLst/>
                <a:uFillTx/>
                <a:latin typeface="Segoe UI"/>
              </a:rPr>
              <a:t>Готовые решения: системные API и приложения</a:t>
            </a:r>
            <a:endParaRPr lang="ru-MD" sz="3000" b="0" u="none" strike="noStrike">
              <a:solidFill>
                <a:schemeClr val="dk1"/>
              </a:solidFill>
              <a:effectLst/>
              <a:uFillTx/>
              <a:latin typeface="Segoe UI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hasCustomPrompt="1"/>
          </p:nvPr>
        </p:nvSpPr>
        <p:spPr>
          <a:xfrm>
            <a:off x="548640" y="914400"/>
            <a:ext cx="11091240" cy="411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 defTabSz="914400">
              <a:lnSpc>
                <a:spcPct val="100000"/>
              </a:lnSpc>
              <a:spcBef>
                <a:spcPts val="300"/>
              </a:spcBef>
              <a:buNone/>
              <a:tabLst>
                <a:tab pos="0" algn="l"/>
              </a:tabLst>
            </a:pPr>
            <a:r>
              <a:rPr lang="en-US" sz="1500" b="0" u="none" strike="noStrike">
                <a:solidFill>
                  <a:schemeClr val="dk2"/>
                </a:solidFill>
                <a:effectLst/>
                <a:uFillTx/>
                <a:latin typeface="Segoe UI"/>
              </a:rPr>
              <a:t>Что уже умеют распознавать телефоны «из коробки» и чего не хватает для нашей задачи</a:t>
            </a:r>
            <a:endParaRPr lang="ru-MD" sz="1500" b="0" u="none" strike="noStrike">
              <a:solidFill>
                <a:schemeClr val="dk1"/>
              </a:solidFill>
              <a:effectLst/>
              <a:uFillTx/>
              <a:latin typeface="Segoe UI"/>
            </a:endParaRPr>
          </a:p>
        </p:txBody>
      </p:sp>
      <p:graphicFrame>
        <p:nvGraphicFramePr>
          <p:cNvPr id="54" name="apps-table-32"/>
          <p:cNvGraphicFramePr/>
          <p:nvPr/>
        </p:nvGraphicFramePr>
        <p:xfrm>
          <a:off x="548640" y="1508760"/>
          <a:ext cx="11091240" cy="3557160"/>
        </p:xfrm>
        <a:graphic>
          <a:graphicData uri="http://schemas.openxmlformats.org/drawingml/2006/table">
            <a:tbl>
              <a:tblPr/>
              <a:tblGrid>
                <a:gridCol w="2514600"/>
                <a:gridCol w="2606040"/>
                <a:gridCol w="1600200"/>
                <a:gridCol w="1508760"/>
                <a:gridCol w="2862000"/>
              </a:tblGrid>
              <a:tr h="41148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Segoe UI"/>
                        </a:rPr>
                        <a:t>Решение</a:t>
                      </a:r>
                      <a:endParaRPr lang="ru-MD" sz="11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E3E7EE"/>
                      </a:solidFill>
                      <a:prstDash val="solid"/>
                    </a:lnL>
                    <a:lnR w="9360">
                      <a:solidFill>
                        <a:srgbClr val="E3E7EE"/>
                      </a:solidFill>
                      <a:prstDash val="solid"/>
                    </a:lnR>
                    <a:lnT w="9360">
                      <a:solidFill>
                        <a:srgbClr val="E3E7EE"/>
                      </a:solidFill>
                      <a:prstDash val="solid"/>
                    </a:lnT>
                    <a:lnB w="9360">
                      <a:solidFill>
                        <a:srgbClr val="E3E7EE"/>
                      </a:solidFill>
                      <a:prstDash val="solid"/>
                    </a:lnB>
                    <a:solidFill>
                      <a:srgbClr val="00696E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Segoe UI"/>
                        </a:rPr>
                        <a:t>Что распознаёт</a:t>
                      </a:r>
                      <a:endParaRPr lang="ru-MD" sz="11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E3E7EE"/>
                      </a:solidFill>
                      <a:prstDash val="solid"/>
                    </a:lnL>
                    <a:lnR w="9360">
                      <a:solidFill>
                        <a:srgbClr val="E3E7EE"/>
                      </a:solidFill>
                      <a:prstDash val="solid"/>
                    </a:lnR>
                    <a:lnT w="9360">
                      <a:solidFill>
                        <a:srgbClr val="E3E7EE"/>
                      </a:solidFill>
                      <a:prstDash val="solid"/>
                    </a:lnT>
                    <a:lnB w="9360">
                      <a:solidFill>
                        <a:srgbClr val="E3E7EE"/>
                      </a:solidFill>
                      <a:prstDash val="solid"/>
                    </a:lnB>
                    <a:solidFill>
                      <a:srgbClr val="00696E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Segoe UI"/>
                        </a:rPr>
                        <a:t>Лестница</a:t>
                      </a:r>
                      <a:endParaRPr lang="ru-MD" sz="11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E3E7EE"/>
                      </a:solidFill>
                      <a:prstDash val="solid"/>
                    </a:lnL>
                    <a:lnR w="9360">
                      <a:solidFill>
                        <a:srgbClr val="E3E7EE"/>
                      </a:solidFill>
                      <a:prstDash val="solid"/>
                    </a:lnR>
                    <a:lnT w="9360">
                      <a:solidFill>
                        <a:srgbClr val="E3E7EE"/>
                      </a:solidFill>
                      <a:prstDash val="solid"/>
                    </a:lnT>
                    <a:lnB w="9360">
                      <a:solidFill>
                        <a:srgbClr val="E3E7EE"/>
                      </a:solidFill>
                      <a:prstDash val="solid"/>
                    </a:lnB>
                    <a:solidFill>
                      <a:srgbClr val="00696E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Segoe UI"/>
                        </a:rPr>
                        <a:t>Положение телефона</a:t>
                      </a:r>
                      <a:endParaRPr lang="ru-MD" sz="11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E3E7EE"/>
                      </a:solidFill>
                      <a:prstDash val="solid"/>
                    </a:lnL>
                    <a:lnR w="9360">
                      <a:solidFill>
                        <a:srgbClr val="E3E7EE"/>
                      </a:solidFill>
                      <a:prstDash val="solid"/>
                    </a:lnR>
                    <a:lnT w="9360">
                      <a:solidFill>
                        <a:srgbClr val="E3E7EE"/>
                      </a:solidFill>
                      <a:prstDash val="solid"/>
                    </a:lnT>
                    <a:lnB w="9360">
                      <a:solidFill>
                        <a:srgbClr val="E3E7EE"/>
                      </a:solidFill>
                      <a:prstDash val="solid"/>
                    </a:lnB>
                    <a:solidFill>
                      <a:srgbClr val="00696E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Segoe UI"/>
                        </a:rPr>
                        <a:t>Ограничения для задачи</a:t>
                      </a:r>
                      <a:endParaRPr lang="ru-MD" sz="11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E3E7EE"/>
                      </a:solidFill>
                      <a:prstDash val="solid"/>
                    </a:lnL>
                    <a:lnR w="9360">
                      <a:solidFill>
                        <a:srgbClr val="E3E7EE"/>
                      </a:solidFill>
                      <a:prstDash val="solid"/>
                    </a:lnR>
                    <a:lnT w="9360">
                      <a:solidFill>
                        <a:srgbClr val="E3E7EE"/>
                      </a:solidFill>
                      <a:prstDash val="solid"/>
                    </a:lnT>
                    <a:lnB w="9360">
                      <a:solidFill>
                        <a:srgbClr val="E3E7EE"/>
                      </a:solidFill>
                      <a:prstDash val="solid"/>
                    </a:lnB>
                    <a:solidFill>
                      <a:srgbClr val="00696E"/>
                    </a:solidFill>
                  </a:tcPr>
                </a:tc>
              </a:tr>
              <a:tr h="65808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1" u="none" strike="noStrike">
                          <a:solidFill>
                            <a:srgbClr val="1B2333"/>
                          </a:solidFill>
                          <a:effectLst/>
                          <a:uFillTx/>
                          <a:latin typeface="Segoe UI"/>
                        </a:rPr>
                        <a:t>Google Activity Recognition API</a:t>
                      </a:r>
                      <a:endParaRPr lang="ru-MD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1" u="none" strike="noStrike">
                          <a:solidFill>
                            <a:srgbClr val="1B2333"/>
                          </a:solidFill>
                          <a:effectLst/>
                          <a:uFillTx/>
                          <a:latin typeface="Segoe UI"/>
                        </a:rPr>
                        <a:t>Android, Play Services</a:t>
                      </a:r>
                      <a:endParaRPr lang="ru-MD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E3E7EE"/>
                      </a:solidFill>
                      <a:prstDash val="solid"/>
                    </a:lnL>
                    <a:lnR w="9360">
                      <a:solidFill>
                        <a:srgbClr val="E3E7EE"/>
                      </a:solidFill>
                      <a:prstDash val="solid"/>
                    </a:lnR>
                    <a:lnT w="9360">
                      <a:solidFill>
                        <a:srgbClr val="E3E7EE"/>
                      </a:solidFill>
                      <a:prstDash val="solid"/>
                    </a:lnT>
                    <a:lnB w="9360">
                      <a:solidFill>
                        <a:srgbClr val="E3E7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0" u="none" strike="noStrike">
                          <a:solidFill>
                            <a:srgbClr val="1B2333"/>
                          </a:solidFill>
                          <a:effectLst/>
                          <a:uFillTx/>
                          <a:latin typeface="Segoe UI"/>
                        </a:rPr>
                        <a:t>покой, пешком (ходьба / бег), велосипед, транспорт, наклон</a:t>
                      </a:r>
                      <a:endParaRPr lang="ru-MD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E3E7EE"/>
                      </a:solidFill>
                      <a:prstDash val="solid"/>
                    </a:lnL>
                    <a:lnR w="9360">
                      <a:solidFill>
                        <a:srgbClr val="E3E7EE"/>
                      </a:solidFill>
                      <a:prstDash val="solid"/>
                    </a:lnR>
                    <a:lnT w="9360">
                      <a:solidFill>
                        <a:srgbClr val="E3E7EE"/>
                      </a:solidFill>
                      <a:prstDash val="solid"/>
                    </a:lnT>
                    <a:lnB w="9360">
                      <a:solidFill>
                        <a:srgbClr val="E3E7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0" u="none" strike="noStrike">
                          <a:solidFill>
                            <a:srgbClr val="1B2333"/>
                          </a:solidFill>
                          <a:effectLst/>
                          <a:uFillTx/>
                          <a:latin typeface="Segoe UI"/>
                        </a:rPr>
                        <a:t>нет</a:t>
                      </a:r>
                      <a:endParaRPr lang="ru-MD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E3E7EE"/>
                      </a:solidFill>
                      <a:prstDash val="solid"/>
                    </a:lnL>
                    <a:lnR w="9360">
                      <a:solidFill>
                        <a:srgbClr val="E3E7EE"/>
                      </a:solidFill>
                      <a:prstDash val="solid"/>
                    </a:lnR>
                    <a:lnT w="9360">
                      <a:solidFill>
                        <a:srgbClr val="E3E7EE"/>
                      </a:solidFill>
                      <a:prstDash val="solid"/>
                    </a:lnT>
                    <a:lnB w="9360">
                      <a:solidFill>
                        <a:srgbClr val="E3E7EE"/>
                      </a:solidFill>
                      <a:prstDash val="soli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0" u="none" strike="noStrike">
                          <a:solidFill>
                            <a:srgbClr val="1B2333"/>
                          </a:solidFill>
                          <a:effectLst/>
                          <a:uFillTx/>
                          <a:latin typeface="Segoe UI"/>
                        </a:rPr>
                        <a:t>не учитывает</a:t>
                      </a:r>
                      <a:endParaRPr lang="ru-MD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E3E7EE"/>
                      </a:solidFill>
                      <a:prstDash val="solid"/>
                    </a:lnL>
                    <a:lnR w="9360">
                      <a:solidFill>
                        <a:srgbClr val="E3E7EE"/>
                      </a:solidFill>
                      <a:prstDash val="solid"/>
                    </a:lnR>
                    <a:lnT w="9360">
                      <a:solidFill>
                        <a:srgbClr val="E3E7EE"/>
                      </a:solidFill>
                      <a:prstDash val="solid"/>
                    </a:lnT>
                    <a:lnB w="9360">
                      <a:solidFill>
                        <a:srgbClr val="E3E7EE"/>
                      </a:solidFill>
                      <a:prstDash val="soli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0" u="none" strike="noStrike">
                          <a:solidFill>
                            <a:srgbClr val="1B2333"/>
                          </a:solidFill>
                          <a:effectLst/>
                          <a:uFillTx/>
                          <a:latin typeface="Segoe UI"/>
                        </a:rPr>
                        <a:t>закрытая модель; частоту ответов задаёт система; дообучить нельзя</a:t>
                      </a:r>
                      <a:endParaRPr lang="ru-MD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E3E7EE"/>
                      </a:solidFill>
                      <a:prstDash val="solid"/>
                    </a:lnL>
                    <a:lnR w="9360">
                      <a:solidFill>
                        <a:srgbClr val="E3E7EE"/>
                      </a:solidFill>
                      <a:prstDash val="solid"/>
                    </a:lnR>
                    <a:lnT w="9360">
                      <a:solidFill>
                        <a:srgbClr val="E3E7EE"/>
                      </a:solidFill>
                      <a:prstDash val="solid"/>
                    </a:lnT>
                    <a:lnB w="9360">
                      <a:solidFill>
                        <a:srgbClr val="E3E7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36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1" u="none" strike="noStrike">
                          <a:solidFill>
                            <a:srgbClr val="1B2333"/>
                          </a:solidFill>
                          <a:effectLst/>
                          <a:uFillTx/>
                          <a:latin typeface="Segoe UI"/>
                        </a:rPr>
                        <a:t>Apple Core Motion</a:t>
                      </a:r>
                      <a:endParaRPr lang="ru-MD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1" u="none" strike="noStrike">
                          <a:solidFill>
                            <a:srgbClr val="1B2333"/>
                          </a:solidFill>
                          <a:effectLst/>
                          <a:uFillTx/>
                          <a:latin typeface="Segoe UI"/>
                        </a:rPr>
                        <a:t>iOS, CMMotionActivityManager</a:t>
                      </a:r>
                      <a:endParaRPr lang="ru-MD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E3E7EE"/>
                      </a:solidFill>
                      <a:prstDash val="solid"/>
                    </a:lnL>
                    <a:lnR w="9360">
                      <a:solidFill>
                        <a:srgbClr val="E3E7EE"/>
                      </a:solidFill>
                      <a:prstDash val="solid"/>
                    </a:lnR>
                    <a:lnT w="9360">
                      <a:solidFill>
                        <a:srgbClr val="E3E7EE"/>
                      </a:solidFill>
                      <a:prstDash val="solid"/>
                    </a:lnT>
                    <a:lnB w="9360">
                      <a:solidFill>
                        <a:srgbClr val="E3E7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0" u="none" strike="noStrike">
                          <a:solidFill>
                            <a:srgbClr val="1B2333"/>
                          </a:solidFill>
                          <a:effectLst/>
                          <a:uFillTx/>
                          <a:latin typeface="Segoe UI"/>
                        </a:rPr>
                        <a:t>покой, ходьба, бег, велосипед, автомобиль</a:t>
                      </a:r>
                      <a:endParaRPr lang="ru-MD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E3E7EE"/>
                      </a:solidFill>
                      <a:prstDash val="solid"/>
                    </a:lnL>
                    <a:lnR w="9360">
                      <a:solidFill>
                        <a:srgbClr val="E3E7EE"/>
                      </a:solidFill>
                      <a:prstDash val="solid"/>
                    </a:lnR>
                    <a:lnT w="9360">
                      <a:solidFill>
                        <a:srgbClr val="E3E7EE"/>
                      </a:solidFill>
                      <a:prstDash val="solid"/>
                    </a:lnT>
                    <a:lnB w="9360">
                      <a:solidFill>
                        <a:srgbClr val="E3E7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0" u="none" strike="noStrike">
                          <a:solidFill>
                            <a:srgbClr val="1B2333"/>
                          </a:solidFill>
                          <a:effectLst/>
                          <a:uFillTx/>
                          <a:latin typeface="Segoe UI"/>
                        </a:rPr>
                        <a:t>только этажи по барометру</a:t>
                      </a:r>
                      <a:endParaRPr lang="ru-MD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E3E7EE"/>
                      </a:solidFill>
                      <a:prstDash val="solid"/>
                    </a:lnL>
                    <a:lnR w="9360">
                      <a:solidFill>
                        <a:srgbClr val="E3E7EE"/>
                      </a:solidFill>
                      <a:prstDash val="solid"/>
                    </a:lnR>
                    <a:lnT w="9360">
                      <a:solidFill>
                        <a:srgbClr val="E3E7EE"/>
                      </a:solidFill>
                      <a:prstDash val="solid"/>
                    </a:lnT>
                    <a:lnB w="9360">
                      <a:solidFill>
                        <a:srgbClr val="E3E7EE"/>
                      </a:solidFill>
                      <a:prstDash val="soli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0" u="none" strike="noStrike">
                          <a:solidFill>
                            <a:srgbClr val="1B2333"/>
                          </a:solidFill>
                          <a:effectLst/>
                          <a:uFillTx/>
                          <a:latin typeface="Segoe UI"/>
                        </a:rPr>
                        <a:t>не учитывает</a:t>
                      </a:r>
                      <a:endParaRPr lang="ru-MD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E3E7EE"/>
                      </a:solidFill>
                      <a:prstDash val="solid"/>
                    </a:lnL>
                    <a:lnR w="9360">
                      <a:solidFill>
                        <a:srgbClr val="E3E7EE"/>
                      </a:solidFill>
                      <a:prstDash val="solid"/>
                    </a:lnR>
                    <a:lnT w="9360">
                      <a:solidFill>
                        <a:srgbClr val="E3E7EE"/>
                      </a:solidFill>
                      <a:prstDash val="solid"/>
                    </a:lnT>
                    <a:lnB w="9360">
                      <a:solidFill>
                        <a:srgbClr val="E3E7EE"/>
                      </a:solidFill>
                      <a:prstDash val="soli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0" u="none" strike="noStrike">
                          <a:solidFill>
                            <a:srgbClr val="1B2333"/>
                          </a:solidFill>
                          <a:effectLst/>
                          <a:uFillTx/>
                          <a:latin typeface="Segoe UI"/>
                        </a:rPr>
                        <a:t>только iOS; закрытая модель</a:t>
                      </a:r>
                      <a:endParaRPr lang="ru-MD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E3E7EE"/>
                      </a:solidFill>
                      <a:prstDash val="solid"/>
                    </a:lnL>
                    <a:lnR w="9360">
                      <a:solidFill>
                        <a:srgbClr val="E3E7EE"/>
                      </a:solidFill>
                      <a:prstDash val="solid"/>
                    </a:lnR>
                    <a:lnT w="9360">
                      <a:solidFill>
                        <a:srgbClr val="E3E7EE"/>
                      </a:solidFill>
                      <a:prstDash val="solid"/>
                    </a:lnT>
                    <a:lnB w="9360">
                      <a:solidFill>
                        <a:srgbClr val="E3E7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36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1" u="none" strike="noStrike">
                          <a:solidFill>
                            <a:srgbClr val="1B2333"/>
                          </a:solidFill>
                          <a:effectLst/>
                          <a:uFillTx/>
                          <a:latin typeface="Segoe UI"/>
                        </a:rPr>
                        <a:t>Google Fit, Samsung Health</a:t>
                      </a:r>
                      <a:endParaRPr lang="ru-MD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E3E7EE"/>
                      </a:solidFill>
                      <a:prstDash val="solid"/>
                    </a:lnL>
                    <a:lnR w="9360">
                      <a:solidFill>
                        <a:srgbClr val="E3E7EE"/>
                      </a:solidFill>
                      <a:prstDash val="solid"/>
                    </a:lnR>
                    <a:lnT w="9360">
                      <a:solidFill>
                        <a:srgbClr val="E3E7EE"/>
                      </a:solidFill>
                      <a:prstDash val="solid"/>
                    </a:lnT>
                    <a:lnB w="9360">
                      <a:solidFill>
                        <a:srgbClr val="E3E7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0" u="none" strike="noStrike">
                          <a:solidFill>
                            <a:srgbClr val="1B2333"/>
                          </a:solidFill>
                          <a:effectLst/>
                          <a:uFillTx/>
                          <a:latin typeface="Segoe UI"/>
                        </a:rPr>
                        <a:t>автоматический учёт ходьбы, бега, велосипеда</a:t>
                      </a:r>
                      <a:endParaRPr lang="ru-MD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E3E7EE"/>
                      </a:solidFill>
                      <a:prstDash val="solid"/>
                    </a:lnL>
                    <a:lnR w="9360">
                      <a:solidFill>
                        <a:srgbClr val="E3E7EE"/>
                      </a:solidFill>
                      <a:prstDash val="solid"/>
                    </a:lnR>
                    <a:lnT w="9360">
                      <a:solidFill>
                        <a:srgbClr val="E3E7EE"/>
                      </a:solidFill>
                      <a:prstDash val="solid"/>
                    </a:lnT>
                    <a:lnB w="9360">
                      <a:solidFill>
                        <a:srgbClr val="E3E7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0" u="none" strike="noStrike">
                          <a:solidFill>
                            <a:srgbClr val="1B2333"/>
                          </a:solidFill>
                          <a:effectLst/>
                          <a:uFillTx/>
                          <a:latin typeface="Segoe UI"/>
                        </a:rPr>
                        <a:t>нет; этажи по барометру — Samsung Health</a:t>
                      </a:r>
                      <a:endParaRPr lang="ru-MD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E3E7EE"/>
                      </a:solidFill>
                      <a:prstDash val="solid"/>
                    </a:lnL>
                    <a:lnR w="9360">
                      <a:solidFill>
                        <a:srgbClr val="E3E7EE"/>
                      </a:solidFill>
                      <a:prstDash val="solid"/>
                    </a:lnR>
                    <a:lnT w="9360">
                      <a:solidFill>
                        <a:srgbClr val="E3E7EE"/>
                      </a:solidFill>
                      <a:prstDash val="solid"/>
                    </a:lnT>
                    <a:lnB w="9360">
                      <a:solidFill>
                        <a:srgbClr val="E3E7EE"/>
                      </a:solidFill>
                      <a:prstDash val="soli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0" u="none" strike="noStrike">
                          <a:solidFill>
                            <a:srgbClr val="1B2333"/>
                          </a:solidFill>
                          <a:effectLst/>
                          <a:uFillTx/>
                          <a:latin typeface="Segoe UI"/>
                        </a:rPr>
                        <a:t>не учитывает</a:t>
                      </a:r>
                      <a:endParaRPr lang="ru-MD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E3E7EE"/>
                      </a:solidFill>
                      <a:prstDash val="solid"/>
                    </a:lnL>
                    <a:lnR w="9360">
                      <a:solidFill>
                        <a:srgbClr val="E3E7EE"/>
                      </a:solidFill>
                      <a:prstDash val="solid"/>
                    </a:lnR>
                    <a:lnT w="9360">
                      <a:solidFill>
                        <a:srgbClr val="E3E7EE"/>
                      </a:solidFill>
                      <a:prstDash val="solid"/>
                    </a:lnT>
                    <a:lnB w="9360">
                      <a:solidFill>
                        <a:srgbClr val="E3E7EE"/>
                      </a:solidFill>
                      <a:prstDash val="soli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0" u="none" strike="noStrike">
                          <a:solidFill>
                            <a:srgbClr val="1B2333"/>
                          </a:solidFill>
                          <a:effectLst/>
                          <a:uFillTx/>
                          <a:latin typeface="Segoe UI"/>
                        </a:rPr>
                        <a:t>итоги за интервалы, а не решение каждую секунду; метод не раскрыт</a:t>
                      </a:r>
                      <a:endParaRPr lang="ru-MD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E3E7EE"/>
                      </a:solidFill>
                      <a:prstDash val="solid"/>
                    </a:lnL>
                    <a:lnR w="9360">
                      <a:solidFill>
                        <a:srgbClr val="E3E7EE"/>
                      </a:solidFill>
                      <a:prstDash val="solid"/>
                    </a:lnR>
                    <a:lnT w="9360">
                      <a:solidFill>
                        <a:srgbClr val="E3E7EE"/>
                      </a:solidFill>
                      <a:prstDash val="solid"/>
                    </a:lnT>
                    <a:lnB w="9360">
                      <a:solidFill>
                        <a:srgbClr val="E3E7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36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1" u="none" strike="noStrike">
                          <a:solidFill>
                            <a:srgbClr val="1B2333"/>
                          </a:solidFill>
                          <a:effectLst/>
                          <a:uFillTx/>
                          <a:latin typeface="Segoe UI"/>
                        </a:rPr>
                        <a:t>Шагомер Android</a:t>
                      </a:r>
                      <a:endParaRPr lang="ru-MD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1" u="none" strike="noStrike">
                          <a:solidFill>
                            <a:srgbClr val="1B2333"/>
                          </a:solidFill>
                          <a:effectLst/>
                          <a:uFillTx/>
                          <a:latin typeface="Segoe UI"/>
                        </a:rPr>
                        <a:t>TYPE_STEP_DETECTOR / COUNTER</a:t>
                      </a:r>
                      <a:endParaRPr lang="ru-MD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E3E7EE"/>
                      </a:solidFill>
                      <a:prstDash val="solid"/>
                    </a:lnL>
                    <a:lnR w="9360">
                      <a:solidFill>
                        <a:srgbClr val="E3E7EE"/>
                      </a:solidFill>
                      <a:prstDash val="solid"/>
                    </a:lnR>
                    <a:lnT w="9360">
                      <a:solidFill>
                        <a:srgbClr val="E3E7EE"/>
                      </a:solidFill>
                      <a:prstDash val="solid"/>
                    </a:lnT>
                    <a:lnB w="9360">
                      <a:solidFill>
                        <a:srgbClr val="E3E7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0" u="none" strike="noStrike">
                          <a:solidFill>
                            <a:srgbClr val="1B2333"/>
                          </a:solidFill>
                          <a:effectLst/>
                          <a:uFillTx/>
                          <a:latin typeface="Segoe UI"/>
                        </a:rPr>
                        <a:t>шаги и их число</a:t>
                      </a:r>
                      <a:endParaRPr lang="ru-MD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E3E7EE"/>
                      </a:solidFill>
                      <a:prstDash val="solid"/>
                    </a:lnL>
                    <a:lnR w="9360">
                      <a:solidFill>
                        <a:srgbClr val="E3E7EE"/>
                      </a:solidFill>
                      <a:prstDash val="solid"/>
                    </a:lnR>
                    <a:lnT w="9360">
                      <a:solidFill>
                        <a:srgbClr val="E3E7EE"/>
                      </a:solidFill>
                      <a:prstDash val="solid"/>
                    </a:lnT>
                    <a:lnB w="9360">
                      <a:solidFill>
                        <a:srgbClr val="E3E7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0" u="none" strike="noStrike">
                          <a:solidFill>
                            <a:srgbClr val="1B2333"/>
                          </a:solidFill>
                          <a:effectLst/>
                          <a:uFillTx/>
                          <a:latin typeface="Segoe UI"/>
                        </a:rPr>
                        <a:t>нет</a:t>
                      </a:r>
                      <a:endParaRPr lang="ru-MD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E3E7EE"/>
                      </a:solidFill>
                      <a:prstDash val="solid"/>
                    </a:lnL>
                    <a:lnR w="9360">
                      <a:solidFill>
                        <a:srgbClr val="E3E7EE"/>
                      </a:solidFill>
                      <a:prstDash val="solid"/>
                    </a:lnR>
                    <a:lnT w="9360">
                      <a:solidFill>
                        <a:srgbClr val="E3E7EE"/>
                      </a:solidFill>
                      <a:prstDash val="solid"/>
                    </a:lnT>
                    <a:lnB w="9360">
                      <a:solidFill>
                        <a:srgbClr val="E3E7EE"/>
                      </a:solidFill>
                      <a:prstDash val="soli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0" u="none" strike="noStrike">
                          <a:solidFill>
                            <a:srgbClr val="1B2333"/>
                          </a:solidFill>
                          <a:effectLst/>
                          <a:uFillTx/>
                          <a:latin typeface="Segoe UI"/>
                        </a:rPr>
                        <a:t>нет</a:t>
                      </a:r>
                      <a:endParaRPr lang="ru-MD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E3E7EE"/>
                      </a:solidFill>
                      <a:prstDash val="solid"/>
                    </a:lnL>
                    <a:lnR w="9360">
                      <a:solidFill>
                        <a:srgbClr val="E3E7EE"/>
                      </a:solidFill>
                      <a:prstDash val="solid"/>
                    </a:lnR>
                    <a:lnT w="9360">
                      <a:solidFill>
                        <a:srgbClr val="E3E7EE"/>
                      </a:solidFill>
                      <a:prstDash val="solid"/>
                    </a:lnT>
                    <a:lnB w="9360">
                      <a:solidFill>
                        <a:srgbClr val="E3E7EE"/>
                      </a:solidFill>
                      <a:prstDash val="soli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0" u="none" strike="noStrike">
                          <a:solidFill>
                            <a:srgbClr val="1B2333"/>
                          </a:solidFill>
                          <a:effectLst/>
                          <a:uFillTx/>
                          <a:latin typeface="Segoe UI"/>
                        </a:rPr>
                        <a:t>считает шаги, но не различает вид активности</a:t>
                      </a:r>
                      <a:endParaRPr lang="ru-MD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E3E7EE"/>
                      </a:solidFill>
                      <a:prstDash val="solid"/>
                    </a:lnL>
                    <a:lnR w="9360">
                      <a:solidFill>
                        <a:srgbClr val="E3E7EE"/>
                      </a:solidFill>
                      <a:prstDash val="solid"/>
                    </a:lnR>
                    <a:lnT w="9360">
                      <a:solidFill>
                        <a:srgbClr val="E3E7EE"/>
                      </a:solidFill>
                      <a:prstDash val="solid"/>
                    </a:lnT>
                    <a:lnB w="9360">
                      <a:solidFill>
                        <a:srgbClr val="E3E7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36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1" u="none" strike="noStrike">
                          <a:solidFill>
                            <a:srgbClr val="00696E"/>
                          </a:solidFill>
                          <a:effectLst/>
                          <a:uFillTx/>
                          <a:latin typeface="Segoe UI"/>
                        </a:rPr>
                        <a:t>Эта работа</a:t>
                      </a:r>
                      <a:endParaRPr lang="ru-MD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E3E7EE"/>
                      </a:solidFill>
                      <a:prstDash val="solid"/>
                    </a:lnL>
                    <a:lnR w="9360">
                      <a:solidFill>
                        <a:srgbClr val="E3E7EE"/>
                      </a:solidFill>
                      <a:prstDash val="solid"/>
                    </a:lnR>
                    <a:lnT w="9360">
                      <a:solidFill>
                        <a:srgbClr val="E3E7EE"/>
                      </a:solidFill>
                      <a:prstDash val="solid"/>
                    </a:lnT>
                    <a:lnB w="9360">
                      <a:solidFill>
                        <a:srgbClr val="E3E7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1" u="none" strike="noStrike">
                          <a:solidFill>
                            <a:srgbClr val="1B2333"/>
                          </a:solidFill>
                          <a:effectLst/>
                          <a:uFillTx/>
                          <a:latin typeface="Segoe UI"/>
                        </a:rPr>
                        <a:t>покой, ходьба, бег, подъём, спуск, велосипед</a:t>
                      </a:r>
                      <a:endParaRPr lang="ru-MD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E3E7EE"/>
                      </a:solidFill>
                      <a:prstDash val="solid"/>
                    </a:lnL>
                    <a:lnR w="9360">
                      <a:solidFill>
                        <a:srgbClr val="E3E7EE"/>
                      </a:solidFill>
                      <a:prstDash val="solid"/>
                    </a:lnR>
                    <a:lnT w="9360">
                      <a:solidFill>
                        <a:srgbClr val="E3E7EE"/>
                      </a:solidFill>
                      <a:prstDash val="solid"/>
                    </a:lnT>
                    <a:lnB w="9360">
                      <a:solidFill>
                        <a:srgbClr val="E3E7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0" u="none" strike="noStrike">
                          <a:solidFill>
                            <a:srgbClr val="1B2333"/>
                          </a:solidFill>
                          <a:effectLst/>
                          <a:uFillTx/>
                          <a:latin typeface="Segoe UI"/>
                        </a:rPr>
                        <a:t>подъём и спуск по движению</a:t>
                      </a:r>
                      <a:endParaRPr lang="ru-MD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E3E7EE"/>
                      </a:solidFill>
                      <a:prstDash val="solid"/>
                    </a:lnL>
                    <a:lnR w="9360">
                      <a:solidFill>
                        <a:srgbClr val="E3E7EE"/>
                      </a:solidFill>
                      <a:prstDash val="solid"/>
                    </a:lnR>
                    <a:lnT w="9360">
                      <a:solidFill>
                        <a:srgbClr val="E3E7EE"/>
                      </a:solidFill>
                      <a:prstDash val="solid"/>
                    </a:lnT>
                    <a:lnB w="9360">
                      <a:solidFill>
                        <a:srgbClr val="E3E7EE"/>
                      </a:solidFill>
                      <a:prstDash val="solid"/>
                    </a:lnB>
                    <a:solidFill>
                      <a:srgbClr val="E7F5EC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0" u="none" strike="noStrike">
                          <a:solidFill>
                            <a:srgbClr val="1B2333"/>
                          </a:solidFill>
                          <a:effectLst/>
                          <a:uFillTx/>
                          <a:latin typeface="Segoe UI"/>
                        </a:rPr>
                        <a:t>4 положения, первый этап</a:t>
                      </a:r>
                      <a:endParaRPr lang="ru-MD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E3E7EE"/>
                      </a:solidFill>
                      <a:prstDash val="solid"/>
                    </a:lnL>
                    <a:lnR w="9360">
                      <a:solidFill>
                        <a:srgbClr val="E3E7EE"/>
                      </a:solidFill>
                      <a:prstDash val="solid"/>
                    </a:lnR>
                    <a:lnT w="9360">
                      <a:solidFill>
                        <a:srgbClr val="E3E7EE"/>
                      </a:solidFill>
                      <a:prstDash val="solid"/>
                    </a:lnT>
                    <a:lnB w="9360">
                      <a:solidFill>
                        <a:srgbClr val="E3E7EE"/>
                      </a:solidFill>
                      <a:prstDash val="solid"/>
                    </a:lnB>
                    <a:solidFill>
                      <a:srgbClr val="E7F5EC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1" u="none" strike="noStrike">
                          <a:solidFill>
                            <a:srgbClr val="1B2333"/>
                          </a:solidFill>
                          <a:effectLst/>
                          <a:uFillTx/>
                          <a:latin typeface="Segoe UI"/>
                        </a:rPr>
                        <a:t>открытая модель, дообучение на своём телефоне, объяснение решения</a:t>
                      </a:r>
                      <a:endParaRPr lang="ru-MD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E3E7EE"/>
                      </a:solidFill>
                      <a:prstDash val="solid"/>
                    </a:lnL>
                    <a:lnR w="9360">
                      <a:solidFill>
                        <a:srgbClr val="E3E7EE"/>
                      </a:solidFill>
                      <a:prstDash val="solid"/>
                    </a:lnR>
                    <a:lnT w="9360">
                      <a:solidFill>
                        <a:srgbClr val="E3E7EE"/>
                      </a:solidFill>
                      <a:prstDash val="solid"/>
                    </a:lnT>
                    <a:lnB w="9360">
                      <a:solidFill>
                        <a:srgbClr val="E3E7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5" name="card-33"/>
          <p:cNvSpPr/>
          <p:nvPr/>
        </p:nvSpPr>
        <p:spPr>
          <a:xfrm>
            <a:off x="548640" y="5303520"/>
            <a:ext cx="11091240" cy="868320"/>
          </a:xfrm>
          <a:prstGeom prst="roundRect">
            <a:avLst>
              <a:gd name="adj" fmla="val 12632"/>
            </a:avLst>
          </a:prstGeom>
          <a:solidFill>
            <a:schemeClr val="accent1">
              <a:alpha val="9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MD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" name="text-34"/>
          <p:cNvSpPr/>
          <p:nvPr/>
        </p:nvSpPr>
        <p:spPr>
          <a:xfrm>
            <a:off x="777240" y="5303520"/>
            <a:ext cx="1069812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chemeClr val="dk1"/>
                </a:solidFill>
                <a:effectLst/>
                <a:uFillTx/>
                <a:latin typeface="Segoe UI"/>
              </a:rPr>
              <a:t>Общее для готовых решений: закрытые модели, положение телефона не учитывается, лестница не распознаётся по движению — только этажи по барометру, и только на части устройств.</a:t>
            </a:r>
            <a:endParaRPr lang="ru-MD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sldNum" idx="7"/>
          </p:nvPr>
        </p:nvSpPr>
        <p:spPr>
          <a:xfrm>
            <a:off x="11274480" y="6446520"/>
            <a:ext cx="456840" cy="255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000" b="0" u="none" strike="noStrike">
                <a:solidFill>
                  <a:schemeClr val="dk2"/>
                </a:solidFill>
                <a:effectLst/>
                <a:uFillTx/>
                <a:latin typeface="Segoe U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37D4A47-E054-4BDD-8D1A-B1A22FF43250}" type="slidenum">
              <a:rPr lang="en-US" sz="1000" b="0" u="none" strike="noStrike">
                <a:solidFill>
                  <a:schemeClr val="dk2"/>
                </a:solidFill>
                <a:effectLst/>
                <a:uFillTx/>
                <a:latin typeface="Segoe UI"/>
              </a:rPr>
              <a:t>15</a:t>
            </a:fld>
            <a:endParaRPr lang="ru-MD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 hasCustomPrompt="1"/>
          </p:nvPr>
        </p:nvSpPr>
        <p:spPr>
          <a:xfrm>
            <a:off x="548640" y="274320"/>
            <a:ext cx="11091240" cy="658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00" b="1" u="none" strike="noStrike">
                <a:solidFill>
                  <a:schemeClr val="dk1"/>
                </a:solidFill>
                <a:effectLst/>
                <a:uFillTx/>
                <a:latin typeface="Segoe UI"/>
              </a:rPr>
              <a:t>Алгоритмы распознавания: что уже предложено</a:t>
            </a:r>
            <a:endParaRPr lang="ru-MD" sz="3000" b="0" u="none" strike="noStrike">
              <a:solidFill>
                <a:schemeClr val="dk1"/>
              </a:solidFill>
              <a:effectLst/>
              <a:uFillTx/>
              <a:latin typeface="Segoe UI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hasCustomPrompt="1"/>
          </p:nvPr>
        </p:nvSpPr>
        <p:spPr>
          <a:xfrm>
            <a:off x="548640" y="914400"/>
            <a:ext cx="11091240" cy="411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 defTabSz="914400">
              <a:lnSpc>
                <a:spcPct val="100000"/>
              </a:lnSpc>
              <a:spcBef>
                <a:spcPts val="300"/>
              </a:spcBef>
              <a:buNone/>
              <a:tabLst>
                <a:tab pos="0" algn="l"/>
              </a:tabLst>
            </a:pPr>
            <a:r>
              <a:rPr lang="en-US" sz="1500" b="0" u="none" strike="noStrike">
                <a:solidFill>
                  <a:schemeClr val="dk2"/>
                </a:solidFill>
                <a:effectLst/>
                <a:uFillTx/>
                <a:latin typeface="Segoe UI"/>
              </a:rPr>
              <a:t>Подходы из литературы и открытых работ — и почему их нельзя перенести на телефон в кармане напрямую</a:t>
            </a:r>
            <a:endParaRPr lang="ru-MD" sz="1500" b="0" u="none" strike="noStrike">
              <a:solidFill>
                <a:schemeClr val="dk1"/>
              </a:solidFill>
              <a:effectLst/>
              <a:uFillTx/>
              <a:latin typeface="Segoe UI"/>
            </a:endParaRPr>
          </a:p>
        </p:txBody>
      </p:sp>
      <p:sp>
        <p:nvSpPr>
          <p:cNvPr id="60" name="card-35"/>
          <p:cNvSpPr/>
          <p:nvPr/>
        </p:nvSpPr>
        <p:spPr>
          <a:xfrm>
            <a:off x="548640" y="1508760"/>
            <a:ext cx="2651400" cy="4663080"/>
          </a:xfrm>
          <a:prstGeom prst="roundRect">
            <a:avLst>
              <a:gd name="adj" fmla="val 4138"/>
            </a:avLst>
          </a:prstGeom>
          <a:solidFill>
            <a:schemeClr val="accent3">
              <a:alpha val="9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MD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plate-36"/>
          <p:cNvSpPr/>
          <p:nvPr/>
        </p:nvSpPr>
        <p:spPr>
          <a:xfrm>
            <a:off x="749880" y="1691640"/>
            <a:ext cx="548280" cy="54828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MD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2" name="icon-37" descr="C:\Users\danl0\AppData\Local\Temp\claude\C--Users-danl0\64257144-142c-4560-8b2a-91b138f1175f\scratchpad\deck\assets\img10.png"/>
          <p:cNvPicPr/>
          <p:nvPr/>
        </p:nvPicPr>
        <p:blipFill>
          <a:blip r:embed="rId1"/>
          <a:stretch/>
        </p:blipFill>
        <p:spPr>
          <a:xfrm>
            <a:off x="843120" y="1784880"/>
            <a:ext cx="361800" cy="361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3" name="text-38"/>
          <p:cNvSpPr/>
          <p:nvPr/>
        </p:nvSpPr>
        <p:spPr>
          <a:xfrm>
            <a:off x="749880" y="2331720"/>
            <a:ext cx="22856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chemeClr val="dk1"/>
                </a:solidFill>
                <a:effectLst/>
                <a:uFillTx/>
                <a:latin typeface="Segoe UI"/>
              </a:rPr>
              <a:t>Пороговые правила</a:t>
            </a:r>
            <a:endParaRPr lang="ru-MD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-39"/>
          <p:cNvSpPr/>
          <p:nvPr/>
        </p:nvSpPr>
        <p:spPr>
          <a:xfrm>
            <a:off x="749880" y="2926080"/>
            <a:ext cx="22856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chemeClr val="dk2"/>
                </a:solidFill>
                <a:effectLst/>
                <a:uFillTx/>
                <a:latin typeface="Segoe UI"/>
              </a:rPr>
              <a:t>пороги на амплитуду и частоту окна; так работают шагомеры</a:t>
            </a:r>
            <a:endParaRPr lang="ru-MD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rich-40"/>
          <p:cNvSpPr/>
          <p:nvPr/>
        </p:nvSpPr>
        <p:spPr>
          <a:xfrm>
            <a:off x="749880" y="3611880"/>
            <a:ext cx="2285640" cy="17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spcAft>
                <a:spcPts val="700"/>
              </a:spcAft>
              <a:tabLst>
                <a:tab pos="0" algn="l"/>
              </a:tabLst>
            </a:pPr>
            <a:r>
              <a:rPr lang="en-US" sz="1200" b="1" u="none" strike="noStrike">
                <a:solidFill>
                  <a:schemeClr val="accent5"/>
                </a:solidFill>
                <a:effectLst/>
                <a:uFillTx/>
                <a:latin typeface="Segoe UI"/>
              </a:rPr>
              <a:t>+ 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Segoe UI"/>
              </a:rPr>
              <a:t>просто и экономно</a:t>
            </a:r>
            <a:endParaRPr lang="ru-MD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700"/>
              </a:spcAft>
              <a:tabLst>
                <a:tab pos="0" algn="l"/>
              </a:tabLst>
            </a:pPr>
            <a:r>
              <a:rPr lang="en-US" sz="1200" b="1" u="none" strike="noStrike">
                <a:solidFill>
                  <a:srgbClr val="C62828"/>
                </a:solidFill>
                <a:effectLst/>
                <a:uFillTx/>
                <a:latin typeface="Segoe UI"/>
              </a:rPr>
              <a:t>− 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Segoe UI"/>
              </a:rPr>
              <a:t>не различают лестницу; ломаются при смене положения телефона</a:t>
            </a:r>
            <a:endParaRPr lang="ru-MD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card-41"/>
          <p:cNvSpPr/>
          <p:nvPr/>
        </p:nvSpPr>
        <p:spPr>
          <a:xfrm>
            <a:off x="3346560" y="1508760"/>
            <a:ext cx="2651400" cy="4663080"/>
          </a:xfrm>
          <a:prstGeom prst="roundRect">
            <a:avLst>
              <a:gd name="adj" fmla="val 4138"/>
            </a:avLst>
          </a:prstGeom>
          <a:solidFill>
            <a:schemeClr val="accent2">
              <a:alpha val="9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MD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" name="plate-42"/>
          <p:cNvSpPr/>
          <p:nvPr/>
        </p:nvSpPr>
        <p:spPr>
          <a:xfrm>
            <a:off x="3547800" y="1691640"/>
            <a:ext cx="548280" cy="54828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MD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8" name="icon-43" descr="C:\Users\danl0\AppData\Local\Temp\claude\C--Users-danl0\64257144-142c-4560-8b2a-91b138f1175f\scratchpad\deck\assets\img12.png"/>
          <p:cNvPicPr/>
          <p:nvPr/>
        </p:nvPicPr>
        <p:blipFill>
          <a:blip r:embed="rId2"/>
          <a:stretch/>
        </p:blipFill>
        <p:spPr>
          <a:xfrm>
            <a:off x="3641040" y="1784880"/>
            <a:ext cx="361800" cy="361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9" name="text-44"/>
          <p:cNvSpPr/>
          <p:nvPr/>
        </p:nvSpPr>
        <p:spPr>
          <a:xfrm>
            <a:off x="3547800" y="2331720"/>
            <a:ext cx="22856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chemeClr val="dk1"/>
                </a:solidFill>
                <a:effectLst/>
                <a:uFillTx/>
                <a:latin typeface="Segoe UI"/>
              </a:rPr>
              <a:t>Классическое машинное обучение</a:t>
            </a:r>
            <a:endParaRPr lang="ru-MD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-45"/>
          <p:cNvSpPr/>
          <p:nvPr/>
        </p:nvSpPr>
        <p:spPr>
          <a:xfrm>
            <a:off x="3547800" y="2926080"/>
            <a:ext cx="22856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chemeClr val="dk2"/>
                </a:solidFill>
                <a:effectLst/>
                <a:uFillTx/>
                <a:latin typeface="Segoe UI"/>
              </a:rPr>
              <a:t>SVM, случайный лес, k-NN по статистикам и спектру окна</a:t>
            </a:r>
            <a:endParaRPr lang="ru-MD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rich-46"/>
          <p:cNvSpPr/>
          <p:nvPr/>
        </p:nvSpPr>
        <p:spPr>
          <a:xfrm>
            <a:off x="3547800" y="3611880"/>
            <a:ext cx="2285640" cy="17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spcAft>
                <a:spcPts val="700"/>
              </a:spcAft>
              <a:tabLst>
                <a:tab pos="0" algn="l"/>
              </a:tabLst>
            </a:pPr>
            <a:r>
              <a:rPr lang="en-US" sz="1200" b="1" u="none" strike="noStrike">
                <a:solidFill>
                  <a:schemeClr val="accent5"/>
                </a:solidFill>
                <a:effectLst/>
                <a:uFillTx/>
                <a:latin typeface="Segoe UI"/>
              </a:rPr>
              <a:t>+ 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Segoe UI"/>
              </a:rPr>
              <a:t>на UCI HAR (телефон на поясе) — до ≈ 96 %</a:t>
            </a:r>
            <a:endParaRPr lang="ru-MD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700"/>
              </a:spcAft>
              <a:tabLst>
                <a:tab pos="0" algn="l"/>
              </a:tabLst>
            </a:pPr>
            <a:r>
              <a:rPr lang="en-US" sz="1200" b="1" u="none" strike="noStrike">
                <a:solidFill>
                  <a:srgbClr val="C62828"/>
                </a:solidFill>
                <a:effectLst/>
                <a:uFillTx/>
                <a:latin typeface="Segoe UI"/>
              </a:rPr>
              <a:t>− 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Segoe UI"/>
              </a:rPr>
              <a:t>признаки задаются вручную; чувствительны к ориентации и месту ношения</a:t>
            </a:r>
            <a:endParaRPr lang="ru-MD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card-47"/>
          <p:cNvSpPr/>
          <p:nvPr/>
        </p:nvSpPr>
        <p:spPr>
          <a:xfrm>
            <a:off x="6144840" y="1508760"/>
            <a:ext cx="2651400" cy="4663080"/>
          </a:xfrm>
          <a:prstGeom prst="roundRect">
            <a:avLst>
              <a:gd name="adj" fmla="val 4138"/>
            </a:avLst>
          </a:prstGeom>
          <a:solidFill>
            <a:schemeClr val="accent4">
              <a:alpha val="9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MD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" name="plate-48"/>
          <p:cNvSpPr/>
          <p:nvPr/>
        </p:nvSpPr>
        <p:spPr>
          <a:xfrm>
            <a:off x="6346080" y="1691640"/>
            <a:ext cx="548280" cy="54828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MD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4" name="icon-49" descr="C:\Users\danl0\AppData\Local\Temp\claude\C--Users-danl0\64257144-142c-4560-8b2a-91b138f1175f\scratchpad\deck\assets\img47.png"/>
          <p:cNvPicPr/>
          <p:nvPr/>
        </p:nvPicPr>
        <p:blipFill>
          <a:blip r:embed="rId3"/>
          <a:stretch/>
        </p:blipFill>
        <p:spPr>
          <a:xfrm>
            <a:off x="6439320" y="1784880"/>
            <a:ext cx="361800" cy="361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5" name="text-50"/>
          <p:cNvSpPr/>
          <p:nvPr/>
        </p:nvSpPr>
        <p:spPr>
          <a:xfrm>
            <a:off x="6346080" y="2331720"/>
            <a:ext cx="22856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chemeClr val="dk1"/>
                </a:solidFill>
                <a:effectLst/>
                <a:uFillTx/>
                <a:latin typeface="Segoe UI"/>
              </a:rPr>
              <a:t>Глубокие сети</a:t>
            </a:r>
            <a:endParaRPr lang="ru-MD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text-51"/>
          <p:cNvSpPr/>
          <p:nvPr/>
        </p:nvSpPr>
        <p:spPr>
          <a:xfrm>
            <a:off x="6346080" y="2926080"/>
            <a:ext cx="22856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chemeClr val="dk2"/>
                </a:solidFill>
                <a:effectLst/>
                <a:uFillTx/>
                <a:latin typeface="Segoe UI"/>
              </a:rPr>
              <a:t>1D-CNN, LSTM и их сочетания по сырому сигналу</a:t>
            </a:r>
            <a:endParaRPr lang="ru-MD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rich-52"/>
          <p:cNvSpPr/>
          <p:nvPr/>
        </p:nvSpPr>
        <p:spPr>
          <a:xfrm>
            <a:off x="6346080" y="3611880"/>
            <a:ext cx="2285640" cy="17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spcAft>
                <a:spcPts val="700"/>
              </a:spcAft>
              <a:tabLst>
                <a:tab pos="0" algn="l"/>
              </a:tabLst>
            </a:pPr>
            <a:r>
              <a:rPr lang="en-US" sz="1200" b="1" u="none" strike="noStrike">
                <a:solidFill>
                  <a:schemeClr val="accent5"/>
                </a:solidFill>
                <a:effectLst/>
                <a:uFillTx/>
                <a:latin typeface="Segoe UI"/>
              </a:rPr>
              <a:t>+ 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Segoe UI"/>
              </a:rPr>
              <a:t>сами находят форму сигнала; лучшие результаты на открытых наборах</a:t>
            </a:r>
            <a:endParaRPr lang="ru-MD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700"/>
              </a:spcAft>
              <a:tabLst>
                <a:tab pos="0" algn="l"/>
              </a:tabLst>
            </a:pPr>
            <a:r>
              <a:rPr lang="en-US" sz="1200" b="1" u="none" strike="noStrike">
                <a:solidFill>
                  <a:srgbClr val="C62828"/>
                </a:solidFill>
                <a:effectLst/>
                <a:uFillTx/>
                <a:latin typeface="Segoe UI"/>
              </a:rPr>
              <a:t>− 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Segoe UI"/>
              </a:rPr>
              <a:t>обычно — закреплённый датчик и лабораторные данные; нужна большая разнообразная выборка</a:t>
            </a:r>
            <a:endParaRPr lang="ru-MD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card-53"/>
          <p:cNvSpPr/>
          <p:nvPr/>
        </p:nvSpPr>
        <p:spPr>
          <a:xfrm>
            <a:off x="8942760" y="1508760"/>
            <a:ext cx="2651400" cy="4663080"/>
          </a:xfrm>
          <a:prstGeom prst="roundRect">
            <a:avLst>
              <a:gd name="adj" fmla="val 4138"/>
            </a:avLst>
          </a:prstGeom>
          <a:solidFill>
            <a:schemeClr val="accent5">
              <a:alpha val="9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MD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" name="plate-54"/>
          <p:cNvSpPr/>
          <p:nvPr/>
        </p:nvSpPr>
        <p:spPr>
          <a:xfrm>
            <a:off x="9144000" y="1691640"/>
            <a:ext cx="548280" cy="54828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MD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0" name="icon-55" descr="C:\Users\danl0\AppData\Local\Temp\claude\C--Users-danl0\64257144-142c-4560-8b2a-91b138f1175f\scratchpad\deck\assets\img26.png"/>
          <p:cNvPicPr/>
          <p:nvPr/>
        </p:nvPicPr>
        <p:blipFill>
          <a:blip r:embed="rId4"/>
          <a:stretch/>
        </p:blipFill>
        <p:spPr>
          <a:xfrm>
            <a:off x="9237240" y="1784880"/>
            <a:ext cx="361800" cy="361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1" name="text-56"/>
          <p:cNvSpPr/>
          <p:nvPr/>
        </p:nvSpPr>
        <p:spPr>
          <a:xfrm>
            <a:off x="9144000" y="2331720"/>
            <a:ext cx="22856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chemeClr val="dk1"/>
                </a:solidFill>
                <a:effectLst/>
                <a:uFillTx/>
                <a:latin typeface="Segoe UI"/>
              </a:rPr>
              <a:t>Учёт места ношения</a:t>
            </a:r>
            <a:endParaRPr lang="ru-MD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-57"/>
          <p:cNvSpPr/>
          <p:nvPr/>
        </p:nvSpPr>
        <p:spPr>
          <a:xfrm>
            <a:off x="9144000" y="2926080"/>
            <a:ext cx="22856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chemeClr val="dk2"/>
                </a:solidFill>
                <a:effectLst/>
                <a:uFillTx/>
                <a:latin typeface="Segoe UI"/>
              </a:rPr>
              <a:t>сначала место датчика на теле, затем активность (RealWorld HAR, 2016)</a:t>
            </a:r>
            <a:endParaRPr lang="ru-MD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rich-58"/>
          <p:cNvSpPr/>
          <p:nvPr/>
        </p:nvSpPr>
        <p:spPr>
          <a:xfrm>
            <a:off x="9144000" y="3611880"/>
            <a:ext cx="2285640" cy="17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spcAft>
                <a:spcPts val="700"/>
              </a:spcAft>
              <a:tabLst>
                <a:tab pos="0" algn="l"/>
              </a:tabLst>
            </a:pPr>
            <a:r>
              <a:rPr lang="en-US" sz="1200" b="1" u="none" strike="noStrike">
                <a:solidFill>
                  <a:schemeClr val="accent5"/>
                </a:solidFill>
                <a:effectLst/>
                <a:uFillTx/>
                <a:latin typeface="Segoe UI"/>
              </a:rPr>
              <a:t>+ 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Segoe UI"/>
              </a:rPr>
              <a:t>учитывает, что сигнал зависит от места</a:t>
            </a:r>
            <a:endParaRPr lang="ru-MD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700"/>
              </a:spcAft>
              <a:tabLst>
                <a:tab pos="0" algn="l"/>
              </a:tabLst>
            </a:pPr>
            <a:r>
              <a:rPr lang="en-US" sz="1200" b="1" u="none" strike="noStrike">
                <a:solidFill>
                  <a:srgbClr val="C62828"/>
                </a:solidFill>
                <a:effectLst/>
                <a:uFillTx/>
                <a:latin typeface="Segoe UI"/>
              </a:rPr>
              <a:t>− 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Segoe UI"/>
              </a:rPr>
              <a:t>датчики закреплены на теле; свет и приближение телефона не используются</a:t>
            </a:r>
            <a:endParaRPr lang="ru-MD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 type="sldNum" idx="8"/>
          </p:nvPr>
        </p:nvSpPr>
        <p:spPr>
          <a:xfrm>
            <a:off x="11274480" y="6446520"/>
            <a:ext cx="456840" cy="255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000" b="0" u="none" strike="noStrike">
                <a:solidFill>
                  <a:schemeClr val="dk2"/>
                </a:solidFill>
                <a:effectLst/>
                <a:uFillTx/>
                <a:latin typeface="Segoe U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ADBE3D5-9ACC-4CFB-9E03-F0EADDAEBFC4}" type="slidenum">
              <a:rPr lang="en-US" sz="1000" b="0" u="none" strike="noStrike">
                <a:solidFill>
                  <a:schemeClr val="dk2"/>
                </a:solidFill>
                <a:effectLst/>
                <a:uFillTx/>
                <a:latin typeface="Segoe UI"/>
              </a:rPr>
              <a:t>15</a:t>
            </a:fld>
            <a:endParaRPr lang="ru-MD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 hasCustomPrompt="1"/>
          </p:nvPr>
        </p:nvSpPr>
        <p:spPr>
          <a:xfrm>
            <a:off x="548640" y="274320"/>
            <a:ext cx="11091240" cy="658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00" b="1" u="none" strike="noStrike">
                <a:solidFill>
                  <a:schemeClr val="dk1"/>
                </a:solidFill>
                <a:effectLst/>
                <a:uFillTx/>
                <a:latin typeface="Segoe UI"/>
              </a:rPr>
              <a:t>Проблема: ограничения сенсоров смартфона</a:t>
            </a:r>
            <a:endParaRPr lang="ru-MD" sz="3000" b="0" u="none" strike="noStrike">
              <a:solidFill>
                <a:schemeClr val="dk1"/>
              </a:solidFill>
              <a:effectLst/>
              <a:uFillTx/>
              <a:latin typeface="Segoe UI"/>
            </a:endParaRPr>
          </a:p>
        </p:txBody>
      </p:sp>
      <p:sp>
        <p:nvSpPr>
          <p:cNvPr id="86" name="PlaceHolder 2"/>
          <p:cNvSpPr>
            <a:spLocks noGrp="1"/>
          </p:cNvSpPr>
          <p:nvPr>
            <p:ph hasCustomPrompt="1"/>
          </p:nvPr>
        </p:nvSpPr>
        <p:spPr>
          <a:xfrm>
            <a:off x="548640" y="914400"/>
            <a:ext cx="11091240" cy="411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 defTabSz="914400">
              <a:lnSpc>
                <a:spcPct val="100000"/>
              </a:lnSpc>
              <a:spcBef>
                <a:spcPts val="300"/>
              </a:spcBef>
              <a:buNone/>
              <a:tabLst>
                <a:tab pos="0" algn="l"/>
              </a:tabLst>
            </a:pPr>
            <a:r>
              <a:rPr lang="en-US" sz="1500" b="0" u="none" strike="noStrike">
                <a:solidFill>
                  <a:schemeClr val="dk2"/>
                </a:solidFill>
                <a:effectLst/>
                <a:uFillTx/>
                <a:latin typeface="Segoe UI"/>
              </a:rPr>
              <a:t>Мало датчиков и низкая частота дискретизации ограничивают, что можно извлечь из сигнала</a:t>
            </a:r>
            <a:endParaRPr lang="ru-MD" sz="1500" b="0" u="none" strike="noStrike">
              <a:solidFill>
                <a:schemeClr val="dk1"/>
              </a:solidFill>
              <a:effectLst/>
              <a:uFillTx/>
              <a:latin typeface="Segoe UI"/>
            </a:endParaRPr>
          </a:p>
        </p:txBody>
      </p:sp>
      <p:sp>
        <p:nvSpPr>
          <p:cNvPr id="87" name="card-59"/>
          <p:cNvSpPr/>
          <p:nvPr/>
        </p:nvSpPr>
        <p:spPr>
          <a:xfrm>
            <a:off x="548640" y="1508760"/>
            <a:ext cx="5449320" cy="3611520"/>
          </a:xfrm>
          <a:prstGeom prst="roundRect">
            <a:avLst>
              <a:gd name="adj" fmla="val 3038"/>
            </a:avLst>
          </a:prstGeom>
          <a:solidFill>
            <a:schemeClr val="accent4">
              <a:alpha val="9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MD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" name="plate-60"/>
          <p:cNvSpPr/>
          <p:nvPr/>
        </p:nvSpPr>
        <p:spPr>
          <a:xfrm>
            <a:off x="777240" y="1691640"/>
            <a:ext cx="566640" cy="566640"/>
          </a:xfrm>
          <a:prstGeom prst="roundRect">
            <a:avLst>
              <a:gd name="adj" fmla="val 16129"/>
            </a:avLst>
          </a:prstGeom>
          <a:solidFill>
            <a:schemeClr val="bg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MD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9" name="icon-61" descr="C:\Users\danl0\AppData\Local\Temp\claude\C--Users-danl0\64257144-142c-4560-8b2a-91b138f1175f\scratchpad\deck\assets\img38.png"/>
          <p:cNvPicPr/>
          <p:nvPr/>
        </p:nvPicPr>
        <p:blipFill>
          <a:blip r:embed="rId1"/>
          <a:stretch/>
        </p:blipFill>
        <p:spPr>
          <a:xfrm>
            <a:off x="873720" y="1788120"/>
            <a:ext cx="373680" cy="373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0" name="text-62"/>
          <p:cNvSpPr/>
          <p:nvPr/>
        </p:nvSpPr>
        <p:spPr>
          <a:xfrm>
            <a:off x="1508760" y="1691640"/>
            <a:ext cx="42973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chemeClr val="dk1"/>
                </a:solidFill>
                <a:effectLst/>
                <a:uFillTx/>
                <a:latin typeface="Segoe UI"/>
              </a:rPr>
              <a:t>Мало датчиков</a:t>
            </a:r>
            <a:endParaRPr lang="ru-MD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rich-63"/>
          <p:cNvSpPr/>
          <p:nvPr/>
        </p:nvSpPr>
        <p:spPr>
          <a:xfrm>
            <a:off x="777240" y="2468880"/>
            <a:ext cx="4983120" cy="260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152280" indent="-152280" defTabSz="914400">
              <a:lnSpc>
                <a:spcPct val="100000"/>
              </a:lnSpc>
              <a:spcAft>
                <a:spcPts val="1001"/>
              </a:spcAft>
              <a:buClr>
                <a:srgbClr val="1B2333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Segoe UI"/>
              </a:rPr>
              <a:t>Один инерциальный блок в одной точке — в исследованиях датчики стоят в нескольких местах тела (Shoaib — 5, RealWorld — 7)</a:t>
            </a:r>
            <a:endParaRPr lang="ru-MD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52280" indent="-152280" defTabSz="914400">
              <a:lnSpc>
                <a:spcPct val="100000"/>
              </a:lnSpc>
              <a:spcAft>
                <a:spcPts val="1001"/>
              </a:spcAft>
              <a:buClr>
                <a:srgbClr val="1B2333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Segoe UI"/>
              </a:rPr>
              <a:t>Свет и приближение грубые: приближение даёт всего 2 состояния — «закрыт» и «открыт»</a:t>
            </a:r>
            <a:endParaRPr lang="ru-MD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52280" indent="-152280" defTabSz="914400">
              <a:lnSpc>
                <a:spcPct val="100000"/>
              </a:lnSpc>
              <a:spcAft>
                <a:spcPts val="1001"/>
              </a:spcAft>
              <a:buClr>
                <a:srgbClr val="1B2333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Segoe UI"/>
              </a:rPr>
              <a:t>Магнитометр искажается рядом с металлом — в модели не используется</a:t>
            </a:r>
            <a:endParaRPr lang="ru-MD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52280" indent="-152280" defTabSz="914400">
              <a:lnSpc>
                <a:spcPct val="100000"/>
              </a:lnSpc>
              <a:spcAft>
                <a:spcPts val="1001"/>
              </a:spcAft>
              <a:buClr>
                <a:srgbClr val="1B2333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Segoe UI"/>
              </a:rPr>
              <a:t>Место и ориентация телефона заранее неизвестны</a:t>
            </a:r>
            <a:endParaRPr lang="ru-MD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card-64"/>
          <p:cNvSpPr/>
          <p:nvPr/>
        </p:nvSpPr>
        <p:spPr>
          <a:xfrm>
            <a:off x="6190560" y="1508760"/>
            <a:ext cx="5449320" cy="3611520"/>
          </a:xfrm>
          <a:prstGeom prst="roundRect">
            <a:avLst>
              <a:gd name="adj" fmla="val 3038"/>
            </a:avLst>
          </a:prstGeom>
          <a:solidFill>
            <a:schemeClr val="accent3">
              <a:alpha val="9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MD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plate-65"/>
          <p:cNvSpPr/>
          <p:nvPr/>
        </p:nvSpPr>
        <p:spPr>
          <a:xfrm>
            <a:off x="6419160" y="1691640"/>
            <a:ext cx="566640" cy="566640"/>
          </a:xfrm>
          <a:prstGeom prst="roundRect">
            <a:avLst>
              <a:gd name="adj" fmla="val 16129"/>
            </a:avLst>
          </a:prstGeom>
          <a:solidFill>
            <a:schemeClr val="bg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MD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4" name="icon-66" descr="C:\Users\danl0\AppData\Local\Temp\claude\C--Users-danl0\64257144-142c-4560-8b2a-91b138f1175f\scratchpad\deck\assets\img21.png"/>
          <p:cNvPicPr/>
          <p:nvPr/>
        </p:nvPicPr>
        <p:blipFill>
          <a:blip r:embed="rId2"/>
          <a:stretch/>
        </p:blipFill>
        <p:spPr>
          <a:xfrm>
            <a:off x="6515640" y="1788120"/>
            <a:ext cx="373680" cy="373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5" name="text-67"/>
          <p:cNvSpPr/>
          <p:nvPr/>
        </p:nvSpPr>
        <p:spPr>
          <a:xfrm>
            <a:off x="7150680" y="1691640"/>
            <a:ext cx="42973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chemeClr val="dk1"/>
                </a:solidFill>
                <a:effectLst/>
                <a:uFillTx/>
                <a:latin typeface="Segoe UI"/>
              </a:rPr>
              <a:t>Низкая частота дискретизации</a:t>
            </a:r>
            <a:endParaRPr lang="ru-MD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rich-68"/>
          <p:cNvSpPr/>
          <p:nvPr/>
        </p:nvSpPr>
        <p:spPr>
          <a:xfrm>
            <a:off x="6419160" y="2468880"/>
            <a:ext cx="4983120" cy="260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152280" indent="-152280" defTabSz="914400">
              <a:lnSpc>
                <a:spcPct val="100000"/>
              </a:lnSpc>
              <a:spcAft>
                <a:spcPts val="1001"/>
              </a:spcAft>
              <a:buClr>
                <a:srgbClr val="1B2333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Segoe UI"/>
              </a:rPr>
              <a:t>50 Гц после приведения к единой сетке: частота Найквиста — 25 Гц</a:t>
            </a:r>
            <a:endParaRPr lang="ru-MD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52280" indent="-152280" defTabSz="914400">
              <a:lnSpc>
                <a:spcPct val="100000"/>
              </a:lnSpc>
              <a:spcAft>
                <a:spcPts val="1001"/>
              </a:spcAft>
              <a:buClr>
                <a:srgbClr val="1B2333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Segoe UI"/>
              </a:rPr>
              <a:t>Один шаг ≈ 27 отсчётов, удар стопы — 1–3 отсчёта</a:t>
            </a:r>
            <a:endParaRPr lang="ru-MD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52280" indent="-152280" defTabSz="914400">
              <a:lnSpc>
                <a:spcPct val="100000"/>
              </a:lnSpc>
              <a:spcAft>
                <a:spcPts val="1001"/>
              </a:spcAft>
              <a:buClr>
                <a:srgbClr val="1B2333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Segoe UI"/>
              </a:rPr>
              <a:t>Интервал между отсчётами плавает: запрошенная частота для Android — только пожелание</a:t>
            </a:r>
            <a:endParaRPr lang="ru-MD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52280" indent="-152280" defTabSz="914400">
              <a:lnSpc>
                <a:spcPct val="100000"/>
              </a:lnSpc>
              <a:spcAft>
                <a:spcPts val="1001"/>
              </a:spcAft>
              <a:buClr>
                <a:srgbClr val="1B2333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Segoe UI"/>
              </a:rPr>
              <a:t>По одному отсчёту активность определить невозможно</a:t>
            </a:r>
            <a:endParaRPr lang="ru-MD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card-69"/>
          <p:cNvSpPr/>
          <p:nvPr/>
        </p:nvSpPr>
        <p:spPr>
          <a:xfrm>
            <a:off x="548640" y="5303520"/>
            <a:ext cx="11091240" cy="868320"/>
          </a:xfrm>
          <a:prstGeom prst="roundRect">
            <a:avLst>
              <a:gd name="adj" fmla="val 12632"/>
            </a:avLst>
          </a:prstGeom>
          <a:solidFill>
            <a:schemeClr val="accent1">
              <a:alpha val="9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MD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" name="rich-70"/>
          <p:cNvSpPr/>
          <p:nvPr/>
        </p:nvSpPr>
        <p:spPr>
          <a:xfrm>
            <a:off x="777240" y="5303520"/>
            <a:ext cx="1069812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spcAft>
                <a:spcPts val="499"/>
              </a:spcAft>
              <a:tabLst>
                <a:tab pos="0" algn="l"/>
              </a:tabLst>
            </a:pPr>
            <a:r>
              <a:rPr lang="en-US" sz="1400" b="1" u="none" strike="noStrike">
                <a:solidFill>
                  <a:schemeClr val="accent1"/>
                </a:solidFill>
                <a:effectLst/>
                <a:uFillTx/>
                <a:latin typeface="Segoe UI"/>
              </a:rPr>
              <a:t>Следствие: </a:t>
            </a: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Segoe UI"/>
              </a:rPr>
              <a:t>решение нужно принимать по интервалу сигнала, в который попадает несколько шагов, — по окну, а не по отдельному отсчёту</a:t>
            </a:r>
            <a:endParaRPr lang="ru-MD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PlaceHolder 3"/>
          <p:cNvSpPr>
            <a:spLocks noGrp="1"/>
          </p:cNvSpPr>
          <p:nvPr>
            <p:ph type="sldNum" idx="9"/>
          </p:nvPr>
        </p:nvSpPr>
        <p:spPr>
          <a:xfrm>
            <a:off x="11274480" y="6446520"/>
            <a:ext cx="456840" cy="255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000" b="0" u="none" strike="noStrike">
                <a:solidFill>
                  <a:schemeClr val="dk2"/>
                </a:solidFill>
                <a:effectLst/>
                <a:uFillTx/>
                <a:latin typeface="Segoe U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D5F3988-A085-48B0-9DD7-3437BCFAEA52}" type="slidenum">
              <a:rPr lang="en-US" sz="1000" b="0" u="none" strike="noStrike">
                <a:solidFill>
                  <a:schemeClr val="dk2"/>
                </a:solidFill>
                <a:effectLst/>
                <a:uFillTx/>
                <a:latin typeface="Segoe UI"/>
              </a:rPr>
              <a:t>15</a:t>
            </a:fld>
            <a:endParaRPr lang="ru-MD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 hasCustomPrompt="1"/>
          </p:nvPr>
        </p:nvSpPr>
        <p:spPr>
          <a:xfrm>
            <a:off x="548640" y="274320"/>
            <a:ext cx="11091240" cy="658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00" b="1" u="none" strike="noStrike">
                <a:solidFill>
                  <a:schemeClr val="dk1"/>
                </a:solidFill>
                <a:effectLst/>
                <a:uFillTx/>
                <a:latin typeface="Segoe UI"/>
              </a:rPr>
              <a:t>Решение: обработка сигнала окнами</a:t>
            </a:r>
            <a:endParaRPr lang="ru-MD" sz="3000" b="0" u="none" strike="noStrike">
              <a:solidFill>
                <a:schemeClr val="dk1"/>
              </a:solidFill>
              <a:effectLst/>
              <a:uFillTx/>
              <a:latin typeface="Segoe UI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 hasCustomPrompt="1"/>
          </p:nvPr>
        </p:nvSpPr>
        <p:spPr>
          <a:xfrm>
            <a:off x="548640" y="914400"/>
            <a:ext cx="11091240" cy="411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 defTabSz="914400">
              <a:lnSpc>
                <a:spcPct val="100000"/>
              </a:lnSpc>
              <a:spcBef>
                <a:spcPts val="300"/>
              </a:spcBef>
              <a:buNone/>
              <a:tabLst>
                <a:tab pos="0" algn="l"/>
              </a:tabLst>
            </a:pPr>
            <a:r>
              <a:rPr lang="en-US" sz="1500" b="0" u="none" strike="noStrike">
                <a:solidFill>
                  <a:schemeClr val="dk2"/>
                </a:solidFill>
                <a:effectLst/>
                <a:uFillTx/>
                <a:latin typeface="Segoe UI"/>
              </a:rPr>
              <a:t>Чтобы нивелировать низкую частоту дискретизации, решение принимается не по отдельному отсчёту, а по окну, в которое попадает несколько шагов</a:t>
            </a:r>
            <a:endParaRPr lang="ru-MD" sz="1500" b="0" u="none" strike="noStrike">
              <a:solidFill>
                <a:schemeClr val="dk1"/>
              </a:solidFill>
              <a:effectLst/>
              <a:uFillTx/>
              <a:latin typeface="Segoe UI"/>
            </a:endParaRPr>
          </a:p>
        </p:txBody>
      </p:sp>
      <p:sp>
        <p:nvSpPr>
          <p:cNvPr id="102" name="text-71"/>
          <p:cNvSpPr/>
          <p:nvPr/>
        </p:nvSpPr>
        <p:spPr>
          <a:xfrm>
            <a:off x="548640" y="1554480"/>
            <a:ext cx="7223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chemeClr val="dk1"/>
                </a:solidFill>
                <a:effectLst/>
                <a:uFillTx/>
                <a:latin typeface="Segoe UI"/>
              </a:rPr>
              <a:t>Модуль ускорения |a|, м/с² — спуск по лестнице, 18.10</a:t>
            </a:r>
            <a:endParaRPr lang="ru-MD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03" name="window-signal-72"/>
          <p:cNvGraphicFramePr/>
          <p:nvPr/>
        </p:nvGraphicFramePr>
        <p:xfrm>
          <a:off x="457200" y="1828800"/>
          <a:ext cx="7406280" cy="2468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04" name="window-bar-73"/>
          <p:cNvSpPr/>
          <p:nvPr/>
        </p:nvSpPr>
        <p:spPr>
          <a:xfrm>
            <a:off x="960120" y="4434840"/>
            <a:ext cx="3333960" cy="219240"/>
          </a:xfrm>
          <a:prstGeom prst="roundRect">
            <a:avLst>
              <a:gd name="adj" fmla="val 20833"/>
            </a:avLst>
          </a:prstGeom>
          <a:solidFill>
            <a:schemeClr val="accent2">
              <a:alpha val="75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MD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-74"/>
          <p:cNvSpPr/>
          <p:nvPr/>
        </p:nvSpPr>
        <p:spPr>
          <a:xfrm>
            <a:off x="1033200" y="4434840"/>
            <a:ext cx="10969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chemeClr val="lt1"/>
                </a:solidFill>
                <a:effectLst/>
                <a:uFillTx/>
                <a:latin typeface="Segoe UI"/>
              </a:rPr>
              <a:t>окно 1</a:t>
            </a:r>
            <a:endParaRPr lang="ru-MD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window-bar-75"/>
          <p:cNvSpPr/>
          <p:nvPr/>
        </p:nvSpPr>
        <p:spPr>
          <a:xfrm>
            <a:off x="2627280" y="4727520"/>
            <a:ext cx="3333960" cy="219240"/>
          </a:xfrm>
          <a:prstGeom prst="roundRect">
            <a:avLst>
              <a:gd name="adj" fmla="val 20833"/>
            </a:avLst>
          </a:prstGeom>
          <a:solidFill>
            <a:schemeClr val="accent4">
              <a:alpha val="75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MD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-76"/>
          <p:cNvSpPr/>
          <p:nvPr/>
        </p:nvSpPr>
        <p:spPr>
          <a:xfrm>
            <a:off x="2700360" y="4727520"/>
            <a:ext cx="10969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chemeClr val="lt1"/>
                </a:solidFill>
                <a:effectLst/>
                <a:uFillTx/>
                <a:latin typeface="Segoe UI"/>
              </a:rPr>
              <a:t>окно 2</a:t>
            </a:r>
            <a:endParaRPr lang="ru-MD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window-bar-77"/>
          <p:cNvSpPr/>
          <p:nvPr/>
        </p:nvSpPr>
        <p:spPr>
          <a:xfrm>
            <a:off x="4294440" y="5020200"/>
            <a:ext cx="3333960" cy="219240"/>
          </a:xfrm>
          <a:prstGeom prst="roundRect">
            <a:avLst>
              <a:gd name="adj" fmla="val 20833"/>
            </a:avLst>
          </a:prstGeom>
          <a:solidFill>
            <a:schemeClr val="accent1">
              <a:alpha val="75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MD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-78"/>
          <p:cNvSpPr/>
          <p:nvPr/>
        </p:nvSpPr>
        <p:spPr>
          <a:xfrm>
            <a:off x="4367520" y="5020200"/>
            <a:ext cx="10969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chemeClr val="lt1"/>
                </a:solidFill>
                <a:effectLst/>
                <a:uFillTx/>
                <a:latin typeface="Segoe UI"/>
              </a:rPr>
              <a:t>окно 3</a:t>
            </a:r>
            <a:endParaRPr lang="ru-MD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-79"/>
          <p:cNvSpPr/>
          <p:nvPr/>
        </p:nvSpPr>
        <p:spPr>
          <a:xfrm>
            <a:off x="548640" y="5367600"/>
            <a:ext cx="72234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chemeClr val="dk2"/>
                </a:solidFill>
                <a:effectLst/>
                <a:uFillTx/>
                <a:latin typeface="Segoe UI"/>
              </a:rPr>
              <a:t>окна по 2,56 с со сдвигом 1,28 с: каждое решение опирается на 4–5 шагов, соседние окна перекрываются на 50 %</a:t>
            </a:r>
            <a:endParaRPr lang="ru-MD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card-80"/>
          <p:cNvSpPr/>
          <p:nvPr/>
        </p:nvSpPr>
        <p:spPr>
          <a:xfrm>
            <a:off x="8092440" y="1508760"/>
            <a:ext cx="3547440" cy="105120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MD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-81"/>
          <p:cNvSpPr/>
          <p:nvPr/>
        </p:nvSpPr>
        <p:spPr>
          <a:xfrm>
            <a:off x="8275320" y="1600200"/>
            <a:ext cx="3200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chemeClr val="accent1"/>
                </a:solidFill>
                <a:effectLst/>
                <a:uFillTx/>
                <a:latin typeface="Segoe UI"/>
              </a:rPr>
              <a:t>128 отсчётов</a:t>
            </a:r>
            <a:endParaRPr lang="ru-MD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-82"/>
          <p:cNvSpPr/>
          <p:nvPr/>
        </p:nvSpPr>
        <p:spPr>
          <a:xfrm>
            <a:off x="8275320" y="1965960"/>
            <a:ext cx="32000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chemeClr val="dk2"/>
                </a:solidFill>
                <a:effectLst/>
                <a:uFillTx/>
                <a:latin typeface="Segoe UI"/>
              </a:rPr>
              <a:t>= 2,56 с при 50 Гц; ≈ 4–5 шагов при 110 шаг/мин</a:t>
            </a:r>
            <a:endParaRPr lang="ru-MD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card-83"/>
          <p:cNvSpPr/>
          <p:nvPr/>
        </p:nvSpPr>
        <p:spPr>
          <a:xfrm>
            <a:off x="8092440" y="2679120"/>
            <a:ext cx="3547440" cy="105120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MD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-84"/>
          <p:cNvSpPr/>
          <p:nvPr/>
        </p:nvSpPr>
        <p:spPr>
          <a:xfrm>
            <a:off x="8275320" y="2770560"/>
            <a:ext cx="3200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chemeClr val="accent1"/>
                </a:solidFill>
                <a:effectLst/>
                <a:uFillTx/>
                <a:latin typeface="Segoe UI"/>
              </a:rPr>
              <a:t>Сдвиг 64</a:t>
            </a:r>
            <a:endParaRPr lang="ru-MD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-85"/>
          <p:cNvSpPr/>
          <p:nvPr/>
        </p:nvSpPr>
        <p:spPr>
          <a:xfrm>
            <a:off x="8275320" y="3136320"/>
            <a:ext cx="32000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chemeClr val="dk2"/>
                </a:solidFill>
                <a:effectLst/>
                <a:uFillTx/>
                <a:latin typeface="Segoe UI"/>
              </a:rPr>
              <a:t>перекрытие 50 % → решение каждые 1,28 с</a:t>
            </a:r>
            <a:endParaRPr lang="ru-MD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card-86"/>
          <p:cNvSpPr/>
          <p:nvPr/>
        </p:nvSpPr>
        <p:spPr>
          <a:xfrm>
            <a:off x="8092440" y="3849480"/>
            <a:ext cx="3547440" cy="105120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MD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-87"/>
          <p:cNvSpPr/>
          <p:nvPr/>
        </p:nvSpPr>
        <p:spPr>
          <a:xfrm>
            <a:off x="8275320" y="3940920"/>
            <a:ext cx="3200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chemeClr val="accent1"/>
                </a:solidFill>
                <a:effectLst/>
                <a:uFillTx/>
                <a:latin typeface="Segoe UI"/>
              </a:rPr>
              <a:t>Спектр окна</a:t>
            </a:r>
            <a:endParaRPr lang="ru-MD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-88"/>
          <p:cNvSpPr/>
          <p:nvPr/>
        </p:nvSpPr>
        <p:spPr>
          <a:xfrm>
            <a:off x="8275320" y="4306680"/>
            <a:ext cx="32000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chemeClr val="dk2"/>
                </a:solidFill>
                <a:effectLst/>
                <a:uFillTx/>
                <a:latin typeface="Segoe UI"/>
              </a:rPr>
              <a:t>разрешение 1 / 2,56 с ≈ 0,39 Гц, уточняется интерполяцией пика</a:t>
            </a:r>
            <a:endParaRPr lang="ru-MD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card-89"/>
          <p:cNvSpPr/>
          <p:nvPr/>
        </p:nvSpPr>
        <p:spPr>
          <a:xfrm>
            <a:off x="8092440" y="5020200"/>
            <a:ext cx="3547440" cy="105120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MD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-90"/>
          <p:cNvSpPr/>
          <p:nvPr/>
        </p:nvSpPr>
        <p:spPr>
          <a:xfrm>
            <a:off x="8275320" y="5111640"/>
            <a:ext cx="3200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chemeClr val="accent1"/>
                </a:solidFill>
                <a:effectLst/>
                <a:uFillTx/>
                <a:latin typeface="Segoe UI"/>
              </a:rPr>
              <a:t>Что даёт окно</a:t>
            </a:r>
            <a:endParaRPr lang="ru-MD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-91"/>
          <p:cNvSpPr/>
          <p:nvPr/>
        </p:nvSpPr>
        <p:spPr>
          <a:xfrm>
            <a:off x="8275320" y="5477400"/>
            <a:ext cx="32000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chemeClr val="dk2"/>
                </a:solidFill>
                <a:effectLst/>
                <a:uFillTx/>
                <a:latin typeface="Segoe UI"/>
              </a:rPr>
              <a:t>устойчивые статистики и спектр вместо одного отсчёта; сеть видит всю форму шагов</a:t>
            </a:r>
            <a:endParaRPr lang="ru-MD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PlaceHolder 3"/>
          <p:cNvSpPr>
            <a:spLocks noGrp="1"/>
          </p:cNvSpPr>
          <p:nvPr>
            <p:ph type="sldNum" idx="10"/>
          </p:nvPr>
        </p:nvSpPr>
        <p:spPr>
          <a:xfrm>
            <a:off x="11274480" y="6446520"/>
            <a:ext cx="456840" cy="255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000" b="0" u="none" strike="noStrike">
                <a:solidFill>
                  <a:schemeClr val="dk2"/>
                </a:solidFill>
                <a:effectLst/>
                <a:uFillTx/>
                <a:latin typeface="Segoe U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231EF94-88D7-4582-BC0D-5158AA5129A4}" type="slidenum">
              <a:rPr lang="en-US" sz="1000" b="0" u="none" strike="noStrike">
                <a:solidFill>
                  <a:schemeClr val="dk2"/>
                </a:solidFill>
                <a:effectLst/>
                <a:uFillTx/>
                <a:latin typeface="Segoe UI"/>
              </a:rPr>
              <a:t>15</a:t>
            </a:fld>
            <a:endParaRPr lang="ru-MD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PlaceHolder 1"/>
          <p:cNvSpPr>
            <a:spLocks noGrp="1"/>
          </p:cNvSpPr>
          <p:nvPr>
            <p:ph type="title" hasCustomPrompt="1"/>
          </p:nvPr>
        </p:nvSpPr>
        <p:spPr>
          <a:xfrm>
            <a:off x="548640" y="274320"/>
            <a:ext cx="11091240" cy="658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00" b="1" u="none" strike="noStrike">
                <a:solidFill>
                  <a:schemeClr val="dk1"/>
                </a:solidFill>
                <a:effectLst/>
                <a:uFillTx/>
                <a:latin typeface="Segoe UI"/>
              </a:rPr>
              <a:t>Этап 1: положение — MLP и физические правила</a:t>
            </a:r>
            <a:endParaRPr lang="ru-MD" sz="3000" b="0" u="none" strike="noStrike">
              <a:solidFill>
                <a:schemeClr val="dk1"/>
              </a:solidFill>
              <a:effectLst/>
              <a:uFillTx/>
              <a:latin typeface="Segoe UI"/>
            </a:endParaRPr>
          </a:p>
        </p:txBody>
      </p:sp>
      <p:sp>
        <p:nvSpPr>
          <p:cNvPr id="125" name="card-92"/>
          <p:cNvSpPr/>
          <p:nvPr/>
        </p:nvSpPr>
        <p:spPr>
          <a:xfrm>
            <a:off x="548640" y="1143000"/>
            <a:ext cx="3245760" cy="5028840"/>
          </a:xfrm>
          <a:prstGeom prst="roundRect">
            <a:avLst>
              <a:gd name="adj" fmla="val 3380"/>
            </a:avLst>
          </a:prstGeom>
          <a:solidFill>
            <a:schemeClr val="bg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MD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-93"/>
          <p:cNvSpPr/>
          <p:nvPr/>
        </p:nvSpPr>
        <p:spPr>
          <a:xfrm>
            <a:off x="777240" y="1325880"/>
            <a:ext cx="28342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chemeClr val="dk1"/>
                </a:solidFill>
                <a:effectLst/>
                <a:uFillTx/>
                <a:latin typeface="Segoe UI"/>
              </a:rPr>
              <a:t>16 признаков окна</a:t>
            </a:r>
            <a:endParaRPr lang="ru-MD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grp-94"/>
          <p:cNvSpPr/>
          <p:nvPr/>
        </p:nvSpPr>
        <p:spPr>
          <a:xfrm>
            <a:off x="777240" y="1920240"/>
            <a:ext cx="502560" cy="502560"/>
          </a:xfrm>
          <a:prstGeom prst="ellipse">
            <a:avLst/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MD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-95"/>
          <p:cNvSpPr/>
          <p:nvPr/>
        </p:nvSpPr>
        <p:spPr>
          <a:xfrm>
            <a:off x="777240" y="192024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chemeClr val="lt1"/>
                </a:solidFill>
                <a:effectLst/>
                <a:uFillTx/>
                <a:latin typeface="Segoe UI"/>
              </a:rPr>
              <a:t>3</a:t>
            </a:r>
            <a:endParaRPr lang="ru-MD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-96"/>
          <p:cNvSpPr/>
          <p:nvPr/>
        </p:nvSpPr>
        <p:spPr>
          <a:xfrm>
            <a:off x="1417320" y="1874520"/>
            <a:ext cx="22399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chemeClr val="dk1"/>
                </a:solidFill>
                <a:effectLst/>
                <a:uFillTx/>
                <a:latin typeface="Segoe UI"/>
              </a:rPr>
              <a:t>Приближение</a:t>
            </a:r>
            <a:endParaRPr lang="ru-MD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-97"/>
          <p:cNvSpPr/>
          <p:nvPr/>
        </p:nvSpPr>
        <p:spPr>
          <a:xfrm>
            <a:off x="1417320" y="2194560"/>
            <a:ext cx="22399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chemeClr val="dk2"/>
                </a:solidFill>
                <a:effectLst/>
                <a:uFillTx/>
                <a:latin typeface="Segoe UI"/>
              </a:rPr>
              <a:t>закрыт ли датчик</a:t>
            </a:r>
            <a:endParaRPr lang="ru-MD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grp-98"/>
          <p:cNvSpPr/>
          <p:nvPr/>
        </p:nvSpPr>
        <p:spPr>
          <a:xfrm>
            <a:off x="777240" y="2944440"/>
            <a:ext cx="502560" cy="502560"/>
          </a:xfrm>
          <a:prstGeom prst="ellipse">
            <a:avLst/>
          </a:prstGeom>
          <a:solidFill>
            <a:schemeClr val="accent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MD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-99"/>
          <p:cNvSpPr/>
          <p:nvPr/>
        </p:nvSpPr>
        <p:spPr>
          <a:xfrm>
            <a:off x="777240" y="294444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chemeClr val="lt1"/>
                </a:solidFill>
                <a:effectLst/>
                <a:uFillTx/>
                <a:latin typeface="Segoe UI"/>
              </a:rPr>
              <a:t>4</a:t>
            </a:r>
            <a:endParaRPr lang="ru-MD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-100"/>
          <p:cNvSpPr/>
          <p:nvPr/>
        </p:nvSpPr>
        <p:spPr>
          <a:xfrm>
            <a:off x="1417320" y="2898720"/>
            <a:ext cx="22399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chemeClr val="dk1"/>
                </a:solidFill>
                <a:effectLst/>
                <a:uFillTx/>
                <a:latin typeface="Segoe UI"/>
              </a:rPr>
              <a:t>Освещённость</a:t>
            </a:r>
            <a:endParaRPr lang="ru-MD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-101"/>
          <p:cNvSpPr/>
          <p:nvPr/>
        </p:nvSpPr>
        <p:spPr>
          <a:xfrm>
            <a:off x="1417320" y="3218760"/>
            <a:ext cx="22399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chemeClr val="dk2"/>
                </a:solidFill>
                <a:effectLst/>
                <a:uFillTx/>
                <a:latin typeface="Segoe UI"/>
              </a:rPr>
              <a:t>уровень света, «темно»</a:t>
            </a:r>
            <a:endParaRPr lang="ru-MD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grp-102"/>
          <p:cNvSpPr/>
          <p:nvPr/>
        </p:nvSpPr>
        <p:spPr>
          <a:xfrm>
            <a:off x="777240" y="3968640"/>
            <a:ext cx="502560" cy="502560"/>
          </a:xfrm>
          <a:prstGeom prst="ellipse">
            <a:avLst/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MD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-103"/>
          <p:cNvSpPr/>
          <p:nvPr/>
        </p:nvSpPr>
        <p:spPr>
          <a:xfrm>
            <a:off x="777240" y="396864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chemeClr val="lt1"/>
                </a:solidFill>
                <a:effectLst/>
                <a:uFillTx/>
                <a:latin typeface="Segoe UI"/>
              </a:rPr>
              <a:t>4</a:t>
            </a:r>
            <a:endParaRPr lang="ru-MD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-104"/>
          <p:cNvSpPr/>
          <p:nvPr/>
        </p:nvSpPr>
        <p:spPr>
          <a:xfrm>
            <a:off x="1417320" y="3922920"/>
            <a:ext cx="22399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chemeClr val="dk1"/>
                </a:solidFill>
                <a:effectLst/>
                <a:uFillTx/>
                <a:latin typeface="Segoe UI"/>
              </a:rPr>
              <a:t>Гравитация</a:t>
            </a:r>
            <a:endParaRPr lang="ru-MD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-105"/>
          <p:cNvSpPr/>
          <p:nvPr/>
        </p:nvSpPr>
        <p:spPr>
          <a:xfrm>
            <a:off x="1417320" y="4242960"/>
            <a:ext cx="22399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chemeClr val="dk2"/>
                </a:solidFill>
                <a:effectLst/>
                <a:uFillTx/>
                <a:latin typeface="Segoe UI"/>
              </a:rPr>
              <a:t>наклон телефона</a:t>
            </a:r>
            <a:endParaRPr lang="ru-MD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grp-106"/>
          <p:cNvSpPr/>
          <p:nvPr/>
        </p:nvSpPr>
        <p:spPr>
          <a:xfrm>
            <a:off x="777240" y="4992480"/>
            <a:ext cx="502560" cy="502560"/>
          </a:xfrm>
          <a:prstGeom prst="ellipse">
            <a:avLst/>
          </a:prstGeom>
          <a:solidFill>
            <a:schemeClr val="accent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MD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-107"/>
          <p:cNvSpPr/>
          <p:nvPr/>
        </p:nvSpPr>
        <p:spPr>
          <a:xfrm>
            <a:off x="777240" y="499248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chemeClr val="lt1"/>
                </a:solidFill>
                <a:effectLst/>
                <a:uFillTx/>
                <a:latin typeface="Segoe UI"/>
              </a:rPr>
              <a:t>5</a:t>
            </a:r>
            <a:endParaRPr lang="ru-MD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-108"/>
          <p:cNvSpPr/>
          <p:nvPr/>
        </p:nvSpPr>
        <p:spPr>
          <a:xfrm>
            <a:off x="1417320" y="4946760"/>
            <a:ext cx="22399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chemeClr val="dk1"/>
                </a:solidFill>
                <a:effectLst/>
                <a:uFillTx/>
                <a:latin typeface="Segoe UI"/>
              </a:rPr>
              <a:t>Движение</a:t>
            </a:r>
            <a:endParaRPr lang="ru-MD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-109"/>
          <p:cNvSpPr/>
          <p:nvPr/>
        </p:nvSpPr>
        <p:spPr>
          <a:xfrm>
            <a:off x="1417320" y="5266800"/>
            <a:ext cx="22399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chemeClr val="dk2"/>
                </a:solidFill>
                <a:effectLst/>
                <a:uFillTx/>
                <a:latin typeface="Segoe UI"/>
              </a:rPr>
              <a:t>амплитуда, вращение</a:t>
            </a:r>
            <a:endParaRPr lang="ru-MD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box-110"/>
          <p:cNvSpPr/>
          <p:nvPr/>
        </p:nvSpPr>
        <p:spPr>
          <a:xfrm>
            <a:off x="4069080" y="1143000"/>
            <a:ext cx="2605680" cy="731160"/>
          </a:xfrm>
          <a:prstGeom prst="roundRect">
            <a:avLst>
              <a:gd name="adj" fmla="val 10000"/>
            </a:avLst>
          </a:prstGeom>
          <a:solidFill>
            <a:schemeClr val="accent1">
              <a:alpha val="12000"/>
            </a:schemeClr>
          </a:solidFill>
          <a:ln w="15875">
            <a:solidFill>
              <a:srgbClr val="0069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MD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4" name="box-text-111"/>
          <p:cNvSpPr/>
          <p:nvPr/>
        </p:nvSpPr>
        <p:spPr>
          <a:xfrm>
            <a:off x="4123800" y="1143000"/>
            <a:ext cx="24958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chemeClr val="accent1"/>
                </a:solidFill>
                <a:effectLst/>
                <a:uFillTx/>
                <a:latin typeface="Segoe UI"/>
              </a:rPr>
              <a:t>16 признаков</a:t>
            </a:r>
            <a:endParaRPr lang="ru-MD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arrow-112"/>
          <p:cNvSpPr/>
          <p:nvPr/>
        </p:nvSpPr>
        <p:spPr>
          <a:xfrm>
            <a:off x="5371920" y="1874520"/>
            <a:ext cx="360" cy="292320"/>
          </a:xfrm>
          <a:prstGeom prst="line">
            <a:avLst/>
          </a:prstGeom>
          <a:ln w="19050">
            <a:solidFill>
              <a:srgbClr val="00696E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ru-MD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box-113"/>
          <p:cNvSpPr/>
          <p:nvPr/>
        </p:nvSpPr>
        <p:spPr>
          <a:xfrm>
            <a:off x="4069080" y="2167200"/>
            <a:ext cx="2605680" cy="731160"/>
          </a:xfrm>
          <a:prstGeom prst="roundRect">
            <a:avLst>
              <a:gd name="adj" fmla="val 10000"/>
            </a:avLst>
          </a:prstGeom>
          <a:solidFill>
            <a:schemeClr val="accent1">
              <a:alpha val="12000"/>
            </a:schemeClr>
          </a:solidFill>
          <a:ln w="15875">
            <a:solidFill>
              <a:srgbClr val="0069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MD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7" name="box-text-114"/>
          <p:cNvSpPr/>
          <p:nvPr/>
        </p:nvSpPr>
        <p:spPr>
          <a:xfrm>
            <a:off x="4123800" y="2167200"/>
            <a:ext cx="24958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chemeClr val="accent1"/>
                </a:solidFill>
                <a:effectLst/>
                <a:uFillTx/>
                <a:latin typeface="Segoe UI"/>
              </a:rPr>
              <a:t>Dense 128</a:t>
            </a:r>
            <a:endParaRPr lang="ru-MD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chemeClr val="dk1"/>
                </a:solidFill>
                <a:effectLst/>
                <a:uFillTx/>
                <a:latin typeface="Segoe UI"/>
              </a:rPr>
              <a:t>BatchNorm · ReLU · Dropout</a:t>
            </a:r>
            <a:endParaRPr lang="ru-MD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arrow-115"/>
          <p:cNvSpPr/>
          <p:nvPr/>
        </p:nvSpPr>
        <p:spPr>
          <a:xfrm>
            <a:off x="5371920" y="2898360"/>
            <a:ext cx="360" cy="292680"/>
          </a:xfrm>
          <a:prstGeom prst="line">
            <a:avLst/>
          </a:prstGeom>
          <a:ln w="19050">
            <a:solidFill>
              <a:srgbClr val="00696E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ru-MD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box-116"/>
          <p:cNvSpPr/>
          <p:nvPr/>
        </p:nvSpPr>
        <p:spPr>
          <a:xfrm>
            <a:off x="4069080" y="3191400"/>
            <a:ext cx="2605680" cy="731160"/>
          </a:xfrm>
          <a:prstGeom prst="roundRect">
            <a:avLst>
              <a:gd name="adj" fmla="val 10000"/>
            </a:avLst>
          </a:prstGeom>
          <a:solidFill>
            <a:schemeClr val="accent1">
              <a:alpha val="12000"/>
            </a:schemeClr>
          </a:solidFill>
          <a:ln w="15875">
            <a:solidFill>
              <a:srgbClr val="0069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MD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0" name="box-text-117"/>
          <p:cNvSpPr/>
          <p:nvPr/>
        </p:nvSpPr>
        <p:spPr>
          <a:xfrm>
            <a:off x="4123800" y="3191400"/>
            <a:ext cx="24958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chemeClr val="accent1"/>
                </a:solidFill>
                <a:effectLst/>
                <a:uFillTx/>
                <a:latin typeface="Segoe UI"/>
              </a:rPr>
              <a:t>Dense 64</a:t>
            </a:r>
            <a:endParaRPr lang="ru-MD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chemeClr val="dk1"/>
                </a:solidFill>
                <a:effectLst/>
                <a:uFillTx/>
                <a:latin typeface="Segoe UI"/>
              </a:rPr>
              <a:t>ReLU · Dropout</a:t>
            </a:r>
            <a:endParaRPr lang="ru-MD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arrow-118"/>
          <p:cNvSpPr/>
          <p:nvPr/>
        </p:nvSpPr>
        <p:spPr>
          <a:xfrm>
            <a:off x="5371920" y="3922560"/>
            <a:ext cx="360" cy="292680"/>
          </a:xfrm>
          <a:prstGeom prst="line">
            <a:avLst/>
          </a:prstGeom>
          <a:ln w="19050">
            <a:solidFill>
              <a:srgbClr val="00696E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ru-MD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box-119"/>
          <p:cNvSpPr/>
          <p:nvPr/>
        </p:nvSpPr>
        <p:spPr>
          <a:xfrm>
            <a:off x="4069080" y="4215240"/>
            <a:ext cx="2605680" cy="73116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 w="15875">
            <a:solidFill>
              <a:srgbClr val="0069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MD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3" name="box-text-120"/>
          <p:cNvSpPr/>
          <p:nvPr/>
        </p:nvSpPr>
        <p:spPr>
          <a:xfrm>
            <a:off x="4123800" y="4215240"/>
            <a:ext cx="24958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chemeClr val="lt1"/>
                </a:solidFill>
                <a:effectLst/>
                <a:uFillTx/>
                <a:latin typeface="Segoe UI"/>
              </a:rPr>
              <a:t>Softmax · 4 класса</a:t>
            </a:r>
            <a:endParaRPr lang="ru-MD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chemeClr val="lt1"/>
                </a:solidFill>
                <a:effectLst/>
                <a:uFillTx/>
                <a:latin typeface="Segoe UI"/>
              </a:rPr>
              <a:t>карман · рука · у уха · стол</a:t>
            </a:r>
            <a:endParaRPr lang="ru-MD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card-121"/>
          <p:cNvSpPr/>
          <p:nvPr/>
        </p:nvSpPr>
        <p:spPr>
          <a:xfrm>
            <a:off x="4069080" y="5440680"/>
            <a:ext cx="2605680" cy="731160"/>
          </a:xfrm>
          <a:prstGeom prst="roundRect">
            <a:avLst>
              <a:gd name="adj" fmla="val 15000"/>
            </a:avLst>
          </a:prstGeom>
          <a:solidFill>
            <a:schemeClr val="accent1">
              <a:alpha val="9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MD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-122"/>
          <p:cNvSpPr/>
          <p:nvPr/>
        </p:nvSpPr>
        <p:spPr>
          <a:xfrm>
            <a:off x="4069080" y="5440680"/>
            <a:ext cx="26056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chemeClr val="accent1"/>
                </a:solidFill>
                <a:effectLst/>
                <a:uFillTx/>
                <a:latin typeface="Segoe UI"/>
              </a:rPr>
              <a:t>10 820 параметров</a:t>
            </a:r>
            <a:endParaRPr lang="ru-MD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-123"/>
          <p:cNvSpPr/>
          <p:nvPr/>
        </p:nvSpPr>
        <p:spPr>
          <a:xfrm>
            <a:off x="6949440" y="1143000"/>
            <a:ext cx="46630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chemeClr val="dk1"/>
                </a:solidFill>
                <a:effectLst/>
                <a:uFillTx/>
                <a:latin typeface="Segoe UI"/>
              </a:rPr>
              <a:t>Физические правила</a:t>
            </a:r>
            <a:endParaRPr lang="ru-MD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card-124"/>
          <p:cNvSpPr/>
          <p:nvPr/>
        </p:nvSpPr>
        <p:spPr>
          <a:xfrm>
            <a:off x="6949440" y="1645920"/>
            <a:ext cx="4690440" cy="1325520"/>
          </a:xfrm>
          <a:prstGeom prst="roundRect">
            <a:avLst>
              <a:gd name="adj" fmla="val 8276"/>
            </a:avLst>
          </a:prstGeom>
          <a:solidFill>
            <a:schemeClr val="accent1">
              <a:alpha val="7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MD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8" name="plate-125"/>
          <p:cNvSpPr/>
          <p:nvPr/>
        </p:nvSpPr>
        <p:spPr>
          <a:xfrm>
            <a:off x="7132320" y="1938600"/>
            <a:ext cx="731160" cy="731160"/>
          </a:xfrm>
          <a:prstGeom prst="roundRect">
            <a:avLst>
              <a:gd name="adj" fmla="val 12500"/>
            </a:avLst>
          </a:prstGeom>
          <a:solidFill>
            <a:schemeClr val="bg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MD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9" name="icon-126" descr="C:\Users\danl0\AppData\Local\Temp\claude\C--Users-danl0\64257144-142c-4560-8b2a-91b138f1175f\scratchpad\deck\assets\img28.png"/>
          <p:cNvPicPr/>
          <p:nvPr/>
        </p:nvPicPr>
        <p:blipFill>
          <a:blip r:embed="rId1"/>
          <a:stretch/>
        </p:blipFill>
        <p:spPr>
          <a:xfrm>
            <a:off x="7256520" y="2062800"/>
            <a:ext cx="482400" cy="482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0" name="text-127"/>
          <p:cNvSpPr/>
          <p:nvPr/>
        </p:nvSpPr>
        <p:spPr>
          <a:xfrm>
            <a:off x="8046720" y="1847160"/>
            <a:ext cx="34743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Segoe UI"/>
              </a:rPr>
              <a:t>Карман</a:t>
            </a:r>
            <a:endParaRPr lang="ru-MD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-128"/>
          <p:cNvSpPr/>
          <p:nvPr/>
        </p:nvSpPr>
        <p:spPr>
          <a:xfrm>
            <a:off x="8046720" y="2240280"/>
            <a:ext cx="34743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chemeClr val="dk2"/>
                </a:solidFill>
                <a:effectLst/>
                <a:uFillTx/>
                <a:latin typeface="Segoe UI"/>
              </a:rPr>
              <a:t>темно и датчик закрыт</a:t>
            </a:r>
            <a:endParaRPr lang="ru-MD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card-129"/>
          <p:cNvSpPr/>
          <p:nvPr/>
        </p:nvSpPr>
        <p:spPr>
          <a:xfrm>
            <a:off x="6949440" y="3154680"/>
            <a:ext cx="4690440" cy="1325520"/>
          </a:xfrm>
          <a:prstGeom prst="roundRect">
            <a:avLst>
              <a:gd name="adj" fmla="val 8276"/>
            </a:avLst>
          </a:prstGeom>
          <a:solidFill>
            <a:schemeClr val="accent1">
              <a:alpha val="7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MD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3" name="plate-130"/>
          <p:cNvSpPr/>
          <p:nvPr/>
        </p:nvSpPr>
        <p:spPr>
          <a:xfrm>
            <a:off x="7132320" y="3447360"/>
            <a:ext cx="731160" cy="731160"/>
          </a:xfrm>
          <a:prstGeom prst="roundRect">
            <a:avLst>
              <a:gd name="adj" fmla="val 12500"/>
            </a:avLst>
          </a:prstGeom>
          <a:solidFill>
            <a:schemeClr val="bg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MD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64" name="icon-131" descr="C:\Users\danl0\AppData\Local\Temp\claude\C--Users-danl0\64257144-142c-4560-8b2a-91b138f1175f\scratchpad\deck\assets\img31.png"/>
          <p:cNvPicPr/>
          <p:nvPr/>
        </p:nvPicPr>
        <p:blipFill>
          <a:blip r:embed="rId2"/>
          <a:stretch/>
        </p:blipFill>
        <p:spPr>
          <a:xfrm>
            <a:off x="7256520" y="3571560"/>
            <a:ext cx="482400" cy="482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5" name="text-132"/>
          <p:cNvSpPr/>
          <p:nvPr/>
        </p:nvSpPr>
        <p:spPr>
          <a:xfrm>
            <a:off x="8046720" y="3355920"/>
            <a:ext cx="34743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Segoe UI"/>
              </a:rPr>
              <a:t>У уха</a:t>
            </a:r>
            <a:endParaRPr lang="ru-MD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-133"/>
          <p:cNvSpPr/>
          <p:nvPr/>
        </p:nvSpPr>
        <p:spPr>
          <a:xfrm>
            <a:off x="8046720" y="3749040"/>
            <a:ext cx="34743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chemeClr val="dk2"/>
                </a:solidFill>
                <a:effectLst/>
                <a:uFillTx/>
                <a:latin typeface="Segoe UI"/>
              </a:rPr>
              <a:t>датчик закрыт и экран стоит вертикально — поза, а не свет</a:t>
            </a:r>
            <a:endParaRPr lang="ru-MD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card-134"/>
          <p:cNvSpPr/>
          <p:nvPr/>
        </p:nvSpPr>
        <p:spPr>
          <a:xfrm>
            <a:off x="6949440" y="4663440"/>
            <a:ext cx="4690440" cy="1325520"/>
          </a:xfrm>
          <a:prstGeom prst="roundRect">
            <a:avLst>
              <a:gd name="adj" fmla="val 8276"/>
            </a:avLst>
          </a:prstGeom>
          <a:solidFill>
            <a:schemeClr val="accent1">
              <a:alpha val="7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MD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8" name="plate-135"/>
          <p:cNvSpPr/>
          <p:nvPr/>
        </p:nvSpPr>
        <p:spPr>
          <a:xfrm>
            <a:off x="7132320" y="4956120"/>
            <a:ext cx="731160" cy="731160"/>
          </a:xfrm>
          <a:prstGeom prst="roundRect">
            <a:avLst>
              <a:gd name="adj" fmla="val 12500"/>
            </a:avLst>
          </a:prstGeom>
          <a:solidFill>
            <a:schemeClr val="bg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MD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69" name="icon-136" descr="C:\Users\danl0\AppData\Local\Temp\claude\C--Users-danl0\64257144-142c-4560-8b2a-91b138f1175f\scratchpad\deck\assets\img32.png"/>
          <p:cNvPicPr/>
          <p:nvPr/>
        </p:nvPicPr>
        <p:blipFill>
          <a:blip r:embed="rId3"/>
          <a:stretch/>
        </p:blipFill>
        <p:spPr>
          <a:xfrm>
            <a:off x="7256520" y="5080320"/>
            <a:ext cx="482400" cy="482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0" name="text-137"/>
          <p:cNvSpPr/>
          <p:nvPr/>
        </p:nvSpPr>
        <p:spPr>
          <a:xfrm>
            <a:off x="8046720" y="4864680"/>
            <a:ext cx="34743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Segoe UI"/>
              </a:rPr>
              <a:t>Стол</a:t>
            </a:r>
            <a:endParaRPr lang="ru-MD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-138"/>
          <p:cNvSpPr/>
          <p:nvPr/>
        </p:nvSpPr>
        <p:spPr>
          <a:xfrm>
            <a:off x="8046720" y="5257800"/>
            <a:ext cx="34743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chemeClr val="dk2"/>
                </a:solidFill>
                <a:effectLst/>
                <a:uFillTx/>
                <a:latin typeface="Segoe UI"/>
              </a:rPr>
              <a:t>лежит плашмя и не дрожит; дрожь руки — значит, в руке</a:t>
            </a:r>
            <a:endParaRPr lang="ru-MD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PlaceHolder 2"/>
          <p:cNvSpPr>
            <a:spLocks noGrp="1"/>
          </p:cNvSpPr>
          <p:nvPr>
            <p:ph/>
          </p:nvPr>
        </p:nvSpPr>
        <p:spPr>
          <a:xfrm>
            <a:off x="548640" y="914400"/>
            <a:ext cx="11091240" cy="411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spcBef>
                <a:spcPts val="1417"/>
              </a:spcBef>
              <a:buNone/>
            </a:pPr>
            <a:endParaRPr lang="en-US" sz="1500" b="0" u="none" strike="noStrike">
              <a:solidFill>
                <a:schemeClr val="dk2"/>
              </a:solidFill>
              <a:effectLst/>
              <a:uFillTx/>
              <a:latin typeface="Segoe UI"/>
            </a:endParaRPr>
          </a:p>
        </p:txBody>
      </p:sp>
      <p:sp>
        <p:nvSpPr>
          <p:cNvPr id="173" name="PlaceHolder 3"/>
          <p:cNvSpPr>
            <a:spLocks noGrp="1"/>
          </p:cNvSpPr>
          <p:nvPr>
            <p:ph type="sldNum" idx="11"/>
          </p:nvPr>
        </p:nvSpPr>
        <p:spPr>
          <a:xfrm>
            <a:off x="11274480" y="6446520"/>
            <a:ext cx="456840" cy="255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000" b="0" u="none" strike="noStrike">
                <a:solidFill>
                  <a:schemeClr val="dk2"/>
                </a:solidFill>
                <a:effectLst/>
                <a:uFillTx/>
                <a:latin typeface="Segoe U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71ED91E-8BEA-49D4-B3DA-1E4D7AB66F4A}" type="slidenum">
              <a:rPr lang="en-US" sz="1000" b="0" u="none" strike="noStrike">
                <a:solidFill>
                  <a:schemeClr val="dk2"/>
                </a:solidFill>
                <a:effectLst/>
                <a:uFillTx/>
                <a:latin typeface="Segoe UI"/>
              </a:rPr>
              <a:t>15</a:t>
            </a:fld>
            <a:endParaRPr lang="ru-MD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PlaceHolder 1"/>
          <p:cNvSpPr>
            <a:spLocks noGrp="1"/>
          </p:cNvSpPr>
          <p:nvPr>
            <p:ph type="title" hasCustomPrompt="1"/>
          </p:nvPr>
        </p:nvSpPr>
        <p:spPr>
          <a:xfrm>
            <a:off x="548640" y="274320"/>
            <a:ext cx="11091240" cy="658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00" b="1" u="none" strike="noStrike">
                <a:solidFill>
                  <a:schemeClr val="dk1"/>
                </a:solidFill>
                <a:effectLst/>
                <a:uFillTx/>
                <a:latin typeface="Segoe UI"/>
              </a:rPr>
              <a:t>Пример: одно окно от сырого сигнала до ответа</a:t>
            </a:r>
            <a:endParaRPr lang="ru-MD" sz="3000" b="0" u="none" strike="noStrike">
              <a:solidFill>
                <a:schemeClr val="dk1"/>
              </a:solidFill>
              <a:effectLst/>
              <a:uFillTx/>
              <a:latin typeface="Segoe UI"/>
            </a:endParaRPr>
          </a:p>
        </p:txBody>
      </p:sp>
      <p:sp>
        <p:nvSpPr>
          <p:cNvPr id="175" name="card-139"/>
          <p:cNvSpPr/>
          <p:nvPr/>
        </p:nvSpPr>
        <p:spPr>
          <a:xfrm>
            <a:off x="548640" y="1143000"/>
            <a:ext cx="2669760" cy="5028840"/>
          </a:xfrm>
          <a:prstGeom prst="roundRect">
            <a:avLst>
              <a:gd name="adj" fmla="val 4110"/>
            </a:avLst>
          </a:prstGeom>
          <a:solidFill>
            <a:schemeClr val="accent5">
              <a:alpha val="9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MD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6" name="badge-140"/>
          <p:cNvSpPr/>
          <p:nvPr/>
        </p:nvSpPr>
        <p:spPr>
          <a:xfrm>
            <a:off x="731520" y="1325880"/>
            <a:ext cx="347040" cy="347040"/>
          </a:xfrm>
          <a:prstGeom prst="ellipse">
            <a:avLst/>
          </a:prstGeom>
          <a:solidFill>
            <a:schemeClr val="accent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MD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7" name="badge-num-141"/>
          <p:cNvSpPr/>
          <p:nvPr/>
        </p:nvSpPr>
        <p:spPr>
          <a:xfrm>
            <a:off x="731520" y="132588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chemeClr val="lt1"/>
                </a:solidFill>
                <a:effectLst/>
                <a:uFillTx/>
                <a:latin typeface="Segoe UI"/>
              </a:rPr>
              <a:t>1</a:t>
            </a:r>
            <a:endParaRPr lang="ru-MD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-142"/>
          <p:cNvSpPr/>
          <p:nvPr/>
        </p:nvSpPr>
        <p:spPr>
          <a:xfrm>
            <a:off x="1188720" y="1307520"/>
            <a:ext cx="19382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chemeClr val="dk1"/>
                </a:solidFill>
                <a:effectLst/>
                <a:uFillTx/>
                <a:latin typeface="Segoe UI"/>
              </a:rPr>
              <a:t>Сигнал за 2,56 с</a:t>
            </a:r>
            <a:endParaRPr lang="ru-MD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arrow-143"/>
          <p:cNvSpPr/>
          <p:nvPr/>
        </p:nvSpPr>
        <p:spPr>
          <a:xfrm>
            <a:off x="3227760" y="3657600"/>
            <a:ext cx="118800" cy="360"/>
          </a:xfrm>
          <a:prstGeom prst="line">
            <a:avLst/>
          </a:prstGeom>
          <a:ln w="19050">
            <a:solidFill>
              <a:srgbClr val="5B6475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ru-MD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card-144"/>
          <p:cNvSpPr/>
          <p:nvPr/>
        </p:nvSpPr>
        <p:spPr>
          <a:xfrm>
            <a:off x="3355920" y="1143000"/>
            <a:ext cx="2669760" cy="5028840"/>
          </a:xfrm>
          <a:prstGeom prst="roundRect">
            <a:avLst>
              <a:gd name="adj" fmla="val 4110"/>
            </a:avLst>
          </a:prstGeom>
          <a:solidFill>
            <a:schemeClr val="accent3">
              <a:alpha val="9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MD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badge-145"/>
          <p:cNvSpPr/>
          <p:nvPr/>
        </p:nvSpPr>
        <p:spPr>
          <a:xfrm>
            <a:off x="3538800" y="1325880"/>
            <a:ext cx="347040" cy="347040"/>
          </a:xfrm>
          <a:prstGeom prst="ellipse">
            <a:avLst/>
          </a:prstGeom>
          <a:solidFill>
            <a:schemeClr val="accent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MD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badge-num-146"/>
          <p:cNvSpPr/>
          <p:nvPr/>
        </p:nvSpPr>
        <p:spPr>
          <a:xfrm>
            <a:off x="3538800" y="132588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chemeClr val="lt1"/>
                </a:solidFill>
                <a:effectLst/>
                <a:uFillTx/>
                <a:latin typeface="Segoe UI"/>
              </a:rPr>
              <a:t>2</a:t>
            </a:r>
            <a:endParaRPr lang="ru-MD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text-147"/>
          <p:cNvSpPr/>
          <p:nvPr/>
        </p:nvSpPr>
        <p:spPr>
          <a:xfrm>
            <a:off x="3996000" y="1307520"/>
            <a:ext cx="19382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chemeClr val="dk1"/>
                </a:solidFill>
                <a:effectLst/>
                <a:uFillTx/>
                <a:latin typeface="Segoe UI"/>
              </a:rPr>
              <a:t>Положение</a:t>
            </a:r>
            <a:endParaRPr lang="ru-MD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arrow-148"/>
          <p:cNvSpPr/>
          <p:nvPr/>
        </p:nvSpPr>
        <p:spPr>
          <a:xfrm>
            <a:off x="6035040" y="3657600"/>
            <a:ext cx="118800" cy="360"/>
          </a:xfrm>
          <a:prstGeom prst="line">
            <a:avLst/>
          </a:prstGeom>
          <a:ln w="19050">
            <a:solidFill>
              <a:srgbClr val="5B6475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ru-MD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card-149"/>
          <p:cNvSpPr/>
          <p:nvPr/>
        </p:nvSpPr>
        <p:spPr>
          <a:xfrm>
            <a:off x="6163200" y="1143000"/>
            <a:ext cx="2669760" cy="5028840"/>
          </a:xfrm>
          <a:prstGeom prst="roundRect">
            <a:avLst>
              <a:gd name="adj" fmla="val 4110"/>
            </a:avLst>
          </a:prstGeom>
          <a:solidFill>
            <a:schemeClr val="accent4">
              <a:alpha val="9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MD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6" name="badge-150"/>
          <p:cNvSpPr/>
          <p:nvPr/>
        </p:nvSpPr>
        <p:spPr>
          <a:xfrm>
            <a:off x="6346080" y="1325880"/>
            <a:ext cx="347040" cy="347040"/>
          </a:xfrm>
          <a:prstGeom prst="ellipse">
            <a:avLst/>
          </a:prstGeom>
          <a:solidFill>
            <a:schemeClr val="accent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MD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7" name="badge-num-151"/>
          <p:cNvSpPr/>
          <p:nvPr/>
        </p:nvSpPr>
        <p:spPr>
          <a:xfrm>
            <a:off x="6346080" y="132588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chemeClr val="lt1"/>
                </a:solidFill>
                <a:effectLst/>
                <a:uFillTx/>
                <a:latin typeface="Segoe UI"/>
              </a:rPr>
              <a:t>3</a:t>
            </a:r>
            <a:endParaRPr lang="ru-MD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text-152"/>
          <p:cNvSpPr/>
          <p:nvPr/>
        </p:nvSpPr>
        <p:spPr>
          <a:xfrm>
            <a:off x="6803280" y="1307520"/>
            <a:ext cx="19382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chemeClr val="dk1"/>
                </a:solidFill>
                <a:effectLst/>
                <a:uFillTx/>
                <a:latin typeface="Segoe UI"/>
              </a:rPr>
              <a:t>Активность</a:t>
            </a:r>
            <a:endParaRPr lang="ru-MD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arrow-153"/>
          <p:cNvSpPr/>
          <p:nvPr/>
        </p:nvSpPr>
        <p:spPr>
          <a:xfrm>
            <a:off x="8841960" y="3657600"/>
            <a:ext cx="119160" cy="360"/>
          </a:xfrm>
          <a:prstGeom prst="line">
            <a:avLst/>
          </a:prstGeom>
          <a:ln w="19050">
            <a:solidFill>
              <a:srgbClr val="5B6475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ru-MD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card-154"/>
          <p:cNvSpPr/>
          <p:nvPr/>
        </p:nvSpPr>
        <p:spPr>
          <a:xfrm>
            <a:off x="8970120" y="1143000"/>
            <a:ext cx="2669760" cy="5028840"/>
          </a:xfrm>
          <a:prstGeom prst="roundRect">
            <a:avLst>
              <a:gd name="adj" fmla="val 4110"/>
            </a:avLst>
          </a:prstGeom>
          <a:solidFill>
            <a:schemeClr val="accent1">
              <a:alpha val="9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MD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1" name="badge-155"/>
          <p:cNvSpPr/>
          <p:nvPr/>
        </p:nvSpPr>
        <p:spPr>
          <a:xfrm>
            <a:off x="9153000" y="1325880"/>
            <a:ext cx="347040" cy="347040"/>
          </a:xfrm>
          <a:prstGeom prst="ellipse">
            <a:avLst/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MD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2" name="badge-num-156"/>
          <p:cNvSpPr/>
          <p:nvPr/>
        </p:nvSpPr>
        <p:spPr>
          <a:xfrm>
            <a:off x="9153000" y="132588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chemeClr val="lt1"/>
                </a:solidFill>
                <a:effectLst/>
                <a:uFillTx/>
                <a:latin typeface="Segoe UI"/>
              </a:rPr>
              <a:t>4</a:t>
            </a:r>
            <a:endParaRPr lang="ru-MD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text-157"/>
          <p:cNvSpPr/>
          <p:nvPr/>
        </p:nvSpPr>
        <p:spPr>
          <a:xfrm>
            <a:off x="9610200" y="1307520"/>
            <a:ext cx="19382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chemeClr val="dk1"/>
                </a:solidFill>
                <a:effectLst/>
                <a:uFillTx/>
                <a:latin typeface="Segoe UI"/>
              </a:rPr>
              <a:t>Ответ</a:t>
            </a:r>
            <a:endParaRPr lang="ru-MD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text-158"/>
          <p:cNvSpPr/>
          <p:nvPr/>
        </p:nvSpPr>
        <p:spPr>
          <a:xfrm>
            <a:off x="731520" y="1874520"/>
            <a:ext cx="2304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chemeClr val="dk1"/>
                </a:solidFill>
                <a:effectLst/>
                <a:uFillTx/>
                <a:latin typeface="Segoe UI"/>
              </a:rPr>
              <a:t>Акселерометр, м/с²  X Y Z</a:t>
            </a:r>
            <a:endParaRPr lang="ru-MD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95" name="acc-chart-159"/>
          <p:cNvGraphicFramePr/>
          <p:nvPr/>
        </p:nvGraphicFramePr>
        <p:xfrm>
          <a:off x="594360" y="2148840"/>
          <a:ext cx="2578320" cy="2194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96" name="rich-160"/>
          <p:cNvSpPr/>
          <p:nvPr/>
        </p:nvSpPr>
        <p:spPr>
          <a:xfrm>
            <a:off x="731520" y="4526280"/>
            <a:ext cx="230400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152280" indent="-152280" defTabSz="914400">
              <a:lnSpc>
                <a:spcPct val="100000"/>
              </a:lnSpc>
              <a:spcAft>
                <a:spcPts val="499"/>
              </a:spcAft>
              <a:buClr>
                <a:srgbClr val="1B2333"/>
              </a:buClr>
              <a:buFont typeface="Symbol" charset="2"/>
              <a:buChar char=""/>
            </a:pPr>
            <a:r>
              <a:rPr lang="en-US" sz="1250" b="0" u="none" strike="noStrike">
                <a:solidFill>
                  <a:schemeClr val="dk1"/>
                </a:solidFill>
                <a:effectLst/>
                <a:uFillTx/>
                <a:latin typeface="Segoe UI"/>
              </a:rPr>
              <a:t>удары о ступени</a:t>
            </a:r>
            <a:endParaRPr lang="ru-MD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52280" indent="-152280" defTabSz="914400">
              <a:lnSpc>
                <a:spcPct val="100000"/>
              </a:lnSpc>
              <a:spcAft>
                <a:spcPts val="499"/>
              </a:spcAft>
              <a:buClr>
                <a:srgbClr val="1B2333"/>
              </a:buClr>
              <a:buFont typeface="Symbol" charset="2"/>
              <a:buChar char=""/>
            </a:pPr>
            <a:r>
              <a:rPr lang="en-US" sz="1250" b="0" u="none" strike="noStrike">
                <a:solidFill>
                  <a:schemeClr val="dk1"/>
                </a:solidFill>
                <a:effectLst/>
                <a:uFillTx/>
                <a:latin typeface="Segoe UI"/>
              </a:rPr>
              <a:t>светло, экран открыт</a:t>
            </a:r>
            <a:endParaRPr lang="ru-MD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52280" indent="-152280" defTabSz="914400">
              <a:lnSpc>
                <a:spcPct val="100000"/>
              </a:lnSpc>
              <a:spcAft>
                <a:spcPts val="499"/>
              </a:spcAft>
              <a:buClr>
                <a:srgbClr val="1B2333"/>
              </a:buClr>
              <a:buFont typeface="Symbol" charset="2"/>
              <a:buChar char=""/>
            </a:pPr>
            <a:r>
              <a:rPr lang="en-US" sz="1250" b="0" u="none" strike="noStrike">
                <a:solidFill>
                  <a:schemeClr val="dk1"/>
                </a:solidFill>
                <a:effectLst/>
                <a:uFillTx/>
                <a:latin typeface="Segoe UI"/>
              </a:rPr>
              <a:t>телефон раскачивается</a:t>
            </a:r>
            <a:endParaRPr lang="ru-MD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97" name="place-chart-161"/>
          <p:cNvGraphicFramePr/>
          <p:nvPr/>
        </p:nvGraphicFramePr>
        <p:xfrm>
          <a:off x="3401640" y="1920240"/>
          <a:ext cx="2578320" cy="2377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98" name="card-162"/>
          <p:cNvSpPr/>
          <p:nvPr/>
        </p:nvSpPr>
        <p:spPr>
          <a:xfrm>
            <a:off x="3493080" y="4709160"/>
            <a:ext cx="2395440" cy="123408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MD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99" name="hand-163" descr="C:\Users\danl0\AppData\Local\Temp\claude\C--Users-danl0\64257144-142c-4560-8b2a-91b138f1175f\scratchpad\deck\assets\img26.png"/>
          <p:cNvPicPr/>
          <p:nvPr/>
        </p:nvPicPr>
        <p:blipFill>
          <a:blip r:embed="rId3"/>
          <a:stretch/>
        </p:blipFill>
        <p:spPr>
          <a:xfrm>
            <a:off x="3630240" y="4937760"/>
            <a:ext cx="776880" cy="776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0" name="text-164"/>
          <p:cNvSpPr/>
          <p:nvPr/>
        </p:nvSpPr>
        <p:spPr>
          <a:xfrm>
            <a:off x="4544640" y="4709160"/>
            <a:ext cx="129816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chemeClr val="accent1"/>
                </a:solidFill>
                <a:effectLst/>
                <a:uFillTx/>
                <a:latin typeface="Segoe UI"/>
              </a:rPr>
              <a:t>в руке</a:t>
            </a:r>
            <a:endParaRPr lang="ru-MD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01" name="act-chart-165"/>
          <p:cNvGraphicFramePr/>
          <p:nvPr/>
        </p:nvGraphicFramePr>
        <p:xfrm>
          <a:off x="6208920" y="1920240"/>
          <a:ext cx="2578320" cy="2377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02" name="card-166"/>
          <p:cNvSpPr/>
          <p:nvPr/>
        </p:nvSpPr>
        <p:spPr>
          <a:xfrm>
            <a:off x="6300360" y="4709160"/>
            <a:ext cx="2395440" cy="123408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MD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03" name="down-167" descr="C:\Users\danl0\AppData\Local\Temp\claude\C--Users-danl0\64257144-142c-4560-8b2a-91b138f1175f\scratchpad\deck\assets\img6.png"/>
          <p:cNvPicPr/>
          <p:nvPr/>
        </p:nvPicPr>
        <p:blipFill>
          <a:blip r:embed="rId5"/>
          <a:stretch/>
        </p:blipFill>
        <p:spPr>
          <a:xfrm>
            <a:off x="6437520" y="4937760"/>
            <a:ext cx="776880" cy="776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4" name="text-168"/>
          <p:cNvSpPr/>
          <p:nvPr/>
        </p:nvSpPr>
        <p:spPr>
          <a:xfrm>
            <a:off x="7351920" y="4709160"/>
            <a:ext cx="129816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chemeClr val="accent4"/>
                </a:solidFill>
                <a:effectLst/>
                <a:uFillTx/>
                <a:latin typeface="Segoe UI"/>
              </a:rPr>
              <a:t>лестница вниз</a:t>
            </a:r>
            <a:endParaRPr lang="ru-MD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text-169"/>
          <p:cNvSpPr/>
          <p:nvPr/>
        </p:nvSpPr>
        <p:spPr>
          <a:xfrm>
            <a:off x="9153000" y="2011680"/>
            <a:ext cx="23040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chemeClr val="accent1"/>
                </a:solidFill>
                <a:effectLst/>
                <a:uFillTx/>
                <a:latin typeface="Segoe UI"/>
              </a:rPr>
              <a:t>Лестница вниз</a:t>
            </a:r>
            <a:endParaRPr lang="ru-MD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text-170"/>
          <p:cNvSpPr/>
          <p:nvPr/>
        </p:nvSpPr>
        <p:spPr>
          <a:xfrm>
            <a:off x="9153000" y="2514600"/>
            <a:ext cx="23040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2"/>
                </a:solidFill>
                <a:effectLst/>
                <a:uFillTx/>
                <a:latin typeface="Segoe UI"/>
              </a:rPr>
              <a:t>телефон в руке</a:t>
            </a:r>
            <a:endParaRPr lang="ru-MD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07" name="check-171" descr="C:\Users\danl0\AppData\Local\Temp\claude\C--Users-danl0\64257144-142c-4560-8b2a-91b138f1175f\scratchpad\deck\assets\img27.png"/>
          <p:cNvPicPr/>
          <p:nvPr/>
        </p:nvPicPr>
        <p:blipFill>
          <a:blip r:embed="rId6"/>
          <a:stretch/>
        </p:blipFill>
        <p:spPr>
          <a:xfrm>
            <a:off x="9153000" y="3319200"/>
            <a:ext cx="328680" cy="328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8" name="text-172"/>
          <p:cNvSpPr/>
          <p:nvPr/>
        </p:nvSpPr>
        <p:spPr>
          <a:xfrm>
            <a:off x="9610200" y="3291840"/>
            <a:ext cx="18925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chemeClr val="dk1"/>
                </a:solidFill>
                <a:effectLst/>
                <a:uFillTx/>
                <a:latin typeface="Segoe UI"/>
              </a:rPr>
              <a:t>положение</a:t>
            </a:r>
            <a:endParaRPr lang="ru-MD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text-173"/>
          <p:cNvSpPr/>
          <p:nvPr/>
        </p:nvSpPr>
        <p:spPr>
          <a:xfrm>
            <a:off x="9610200" y="3620880"/>
            <a:ext cx="18925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chemeClr val="dk2"/>
                </a:solidFill>
                <a:effectLst/>
                <a:uFillTx/>
                <a:latin typeface="Segoe UI"/>
              </a:rPr>
              <a:t>в руке спуск возможен</a:t>
            </a:r>
            <a:endParaRPr lang="ru-MD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10" name="check-174" descr="C:\Users\danl0\AppData\Local\Temp\claude\C--Users-danl0\64257144-142c-4560-8b2a-91b138f1175f\scratchpad\deck\assets\img27.png"/>
          <p:cNvPicPr/>
          <p:nvPr/>
        </p:nvPicPr>
        <p:blipFill>
          <a:blip r:embed="rId7"/>
          <a:stretch/>
        </p:blipFill>
        <p:spPr>
          <a:xfrm>
            <a:off x="9153000" y="4233600"/>
            <a:ext cx="328680" cy="328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1" name="text-175"/>
          <p:cNvSpPr/>
          <p:nvPr/>
        </p:nvSpPr>
        <p:spPr>
          <a:xfrm>
            <a:off x="9610200" y="4206240"/>
            <a:ext cx="18925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chemeClr val="dk1"/>
                </a:solidFill>
                <a:effectLst/>
                <a:uFillTx/>
                <a:latin typeface="Segoe UI"/>
              </a:rPr>
              <a:t>темп 140 шаг/мин</a:t>
            </a:r>
            <a:endParaRPr lang="ru-MD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text-176"/>
          <p:cNvSpPr/>
          <p:nvPr/>
        </p:nvSpPr>
        <p:spPr>
          <a:xfrm>
            <a:off x="9610200" y="4535280"/>
            <a:ext cx="18925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chemeClr val="dk2"/>
                </a:solidFill>
                <a:effectLst/>
                <a:uFillTx/>
                <a:latin typeface="Segoe UI"/>
              </a:rPr>
              <a:t>ниже порога бега</a:t>
            </a:r>
            <a:endParaRPr lang="ru-MD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13" name="check-177" descr="C:\Users\danl0\AppData\Local\Temp\claude\C--Users-danl0\64257144-142c-4560-8b2a-91b138f1175f\scratchpad\deck\assets\img27.png"/>
          <p:cNvPicPr/>
          <p:nvPr/>
        </p:nvPicPr>
        <p:blipFill>
          <a:blip r:embed="rId8"/>
          <a:stretch/>
        </p:blipFill>
        <p:spPr>
          <a:xfrm>
            <a:off x="9153000" y="5148000"/>
            <a:ext cx="328680" cy="328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4" name="text-178"/>
          <p:cNvSpPr/>
          <p:nvPr/>
        </p:nvSpPr>
        <p:spPr>
          <a:xfrm>
            <a:off x="9610200" y="5120640"/>
            <a:ext cx="18925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chemeClr val="dk1"/>
                </a:solidFill>
                <a:effectLst/>
                <a:uFillTx/>
                <a:latin typeface="Segoe UI"/>
              </a:rPr>
              <a:t>6 шагов в окне</a:t>
            </a:r>
            <a:endParaRPr lang="ru-MD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text-179"/>
          <p:cNvSpPr/>
          <p:nvPr/>
        </p:nvSpPr>
        <p:spPr>
          <a:xfrm>
            <a:off x="9610200" y="5449680"/>
            <a:ext cx="18925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chemeClr val="dk2"/>
                </a:solidFill>
                <a:effectLst/>
                <a:uFillTx/>
                <a:latin typeface="Segoe UI"/>
              </a:rPr>
              <a:t>есть шаговый ритм</a:t>
            </a:r>
            <a:endParaRPr lang="ru-MD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PlaceHolder 2"/>
          <p:cNvSpPr>
            <a:spLocks noGrp="1"/>
          </p:cNvSpPr>
          <p:nvPr>
            <p:ph/>
          </p:nvPr>
        </p:nvSpPr>
        <p:spPr>
          <a:xfrm>
            <a:off x="548640" y="914400"/>
            <a:ext cx="11091240" cy="411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spcBef>
                <a:spcPts val="1417"/>
              </a:spcBef>
              <a:buNone/>
            </a:pPr>
            <a:endParaRPr lang="en-US" sz="1500" b="0" u="none" strike="noStrike">
              <a:solidFill>
                <a:schemeClr val="dk2"/>
              </a:solidFill>
              <a:effectLst/>
              <a:uFillTx/>
              <a:latin typeface="Segoe UI"/>
            </a:endParaRPr>
          </a:p>
        </p:txBody>
      </p:sp>
      <p:sp>
        <p:nvSpPr>
          <p:cNvPr id="217" name="PlaceHolder 3"/>
          <p:cNvSpPr>
            <a:spLocks noGrp="1"/>
          </p:cNvSpPr>
          <p:nvPr>
            <p:ph type="sldNum" idx="12"/>
          </p:nvPr>
        </p:nvSpPr>
        <p:spPr>
          <a:xfrm>
            <a:off x="11274480" y="6446520"/>
            <a:ext cx="456840" cy="255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000" b="0" u="none" strike="noStrike">
                <a:solidFill>
                  <a:schemeClr val="dk2"/>
                </a:solidFill>
                <a:effectLst/>
                <a:uFillTx/>
                <a:latin typeface="Segoe U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14485DF-5CF8-492B-A692-A428E2A250F3}" type="slidenum">
              <a:rPr lang="en-US" sz="1000" b="0" u="none" strike="noStrike">
                <a:solidFill>
                  <a:schemeClr val="dk2"/>
                </a:solidFill>
                <a:effectLst/>
                <a:uFillTx/>
                <a:latin typeface="Segoe UI"/>
              </a:rPr>
              <a:t>15</a:t>
            </a:fld>
            <a:endParaRPr lang="ru-MD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PlaceHolder 1"/>
          <p:cNvSpPr>
            <a:spLocks noGrp="1"/>
          </p:cNvSpPr>
          <p:nvPr>
            <p:ph type="title" hasCustomPrompt="1"/>
          </p:nvPr>
        </p:nvSpPr>
        <p:spPr>
          <a:xfrm>
            <a:off x="548640" y="274320"/>
            <a:ext cx="11091240" cy="658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00" b="1" u="none" strike="noStrike">
                <a:solidFill>
                  <a:schemeClr val="dk1"/>
                </a:solidFill>
                <a:effectLst/>
                <a:uFillTx/>
                <a:latin typeface="Segoe UI"/>
              </a:rPr>
              <a:t>Данные: четыре открытых набора и собственные записи</a:t>
            </a:r>
            <a:endParaRPr lang="ru-MD" sz="3000" b="0" u="none" strike="noStrike">
              <a:solidFill>
                <a:schemeClr val="dk1"/>
              </a:solidFill>
              <a:effectLst/>
              <a:uFillTx/>
              <a:latin typeface="Segoe UI"/>
            </a:endParaRPr>
          </a:p>
        </p:txBody>
      </p:sp>
      <p:graphicFrame>
        <p:nvGraphicFramePr>
          <p:cNvPr id="219" name="datasets-table-180"/>
          <p:cNvGraphicFramePr/>
          <p:nvPr/>
        </p:nvGraphicFramePr>
        <p:xfrm>
          <a:off x="548640" y="1143000"/>
          <a:ext cx="8000640" cy="3918960"/>
        </p:xfrm>
        <a:graphic>
          <a:graphicData uri="http://schemas.openxmlformats.org/drawingml/2006/table">
            <a:tbl>
              <a:tblPr/>
              <a:tblGrid>
                <a:gridCol w="2194560"/>
                <a:gridCol w="777240"/>
                <a:gridCol w="2606040"/>
                <a:gridCol w="2423160"/>
              </a:tblGrid>
              <a:tr h="36576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Segoe UI"/>
                        </a:rPr>
                        <a:t>Набор</a:t>
                      </a:r>
                      <a:endParaRPr lang="ru-MD" sz="11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E3E7EE"/>
                      </a:solidFill>
                      <a:prstDash val="solid"/>
                    </a:lnL>
                    <a:lnR w="9360">
                      <a:solidFill>
                        <a:srgbClr val="E3E7EE"/>
                      </a:solidFill>
                      <a:prstDash val="solid"/>
                    </a:lnR>
                    <a:lnT w="9360">
                      <a:solidFill>
                        <a:srgbClr val="E3E7EE"/>
                      </a:solidFill>
                      <a:prstDash val="solid"/>
                    </a:lnT>
                    <a:lnB w="9360">
                      <a:solidFill>
                        <a:srgbClr val="E3E7EE"/>
                      </a:solidFill>
                      <a:prstDash val="solid"/>
                    </a:lnB>
                    <a:solidFill>
                      <a:srgbClr val="00696E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Segoe UI"/>
                        </a:rPr>
                        <a:t>Людей</a:t>
                      </a:r>
                      <a:endParaRPr lang="ru-MD" sz="11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E3E7EE"/>
                      </a:solidFill>
                      <a:prstDash val="solid"/>
                    </a:lnL>
                    <a:lnR w="9360">
                      <a:solidFill>
                        <a:srgbClr val="E3E7EE"/>
                      </a:solidFill>
                      <a:prstDash val="solid"/>
                    </a:lnR>
                    <a:lnT w="9360">
                      <a:solidFill>
                        <a:srgbClr val="E3E7EE"/>
                      </a:solidFill>
                      <a:prstDash val="solid"/>
                    </a:lnT>
                    <a:lnB w="9360">
                      <a:solidFill>
                        <a:srgbClr val="E3E7EE"/>
                      </a:solidFill>
                      <a:prstDash val="solid"/>
                    </a:lnB>
                    <a:solidFill>
                      <a:srgbClr val="00696E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Segoe UI"/>
                        </a:rPr>
                        <a:t>Положение телефона</a:t>
                      </a:r>
                      <a:endParaRPr lang="ru-MD" sz="11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E3E7EE"/>
                      </a:solidFill>
                      <a:prstDash val="solid"/>
                    </a:lnL>
                    <a:lnR w="9360">
                      <a:solidFill>
                        <a:srgbClr val="E3E7EE"/>
                      </a:solidFill>
                      <a:prstDash val="solid"/>
                    </a:lnR>
                    <a:lnT w="9360">
                      <a:solidFill>
                        <a:srgbClr val="E3E7EE"/>
                      </a:solidFill>
                      <a:prstDash val="solid"/>
                    </a:lnT>
                    <a:lnB w="9360">
                      <a:solidFill>
                        <a:srgbClr val="E3E7EE"/>
                      </a:solidFill>
                      <a:prstDash val="solid"/>
                    </a:lnB>
                    <a:solidFill>
                      <a:srgbClr val="00696E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Segoe UI"/>
                        </a:rPr>
                        <a:t>Что даёт</a:t>
                      </a:r>
                      <a:endParaRPr lang="ru-MD" sz="11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E3E7EE"/>
                      </a:solidFill>
                      <a:prstDash val="solid"/>
                    </a:lnL>
                    <a:lnR w="9360">
                      <a:solidFill>
                        <a:srgbClr val="E3E7EE"/>
                      </a:solidFill>
                      <a:prstDash val="solid"/>
                    </a:lnR>
                    <a:lnT w="9360">
                      <a:solidFill>
                        <a:srgbClr val="E3E7EE"/>
                      </a:solidFill>
                      <a:prstDash val="solid"/>
                    </a:lnT>
                    <a:lnB w="9360">
                      <a:solidFill>
                        <a:srgbClr val="E3E7EE"/>
                      </a:solidFill>
                      <a:prstDash val="solid"/>
                    </a:lnB>
                    <a:solidFill>
                      <a:srgbClr val="00696E"/>
                    </a:solidFill>
                  </a:tcPr>
                </a:tc>
              </a:tr>
              <a:tr h="56664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1" u="none" strike="noStrike">
                          <a:solidFill>
                            <a:srgbClr val="1B2333"/>
                          </a:solidFill>
                          <a:effectLst/>
                          <a:uFillTx/>
                          <a:latin typeface="Segoe UI"/>
                        </a:rPr>
                        <a:t>UCI HAR</a:t>
                      </a:r>
                      <a:endParaRPr lang="ru-MD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1" u="none" strike="noStrike">
                          <a:solidFill>
                            <a:srgbClr val="1B2333"/>
                          </a:solidFill>
                          <a:effectLst/>
                          <a:uFillTx/>
                          <a:latin typeface="Segoe UI"/>
                        </a:rPr>
                        <a:t>Anguita et al., 2013</a:t>
                      </a:r>
                      <a:endParaRPr lang="ru-MD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E3E7EE"/>
                      </a:solidFill>
                      <a:prstDash val="solid"/>
                    </a:lnL>
                    <a:lnR w="9360">
                      <a:solidFill>
                        <a:srgbClr val="E3E7EE"/>
                      </a:solidFill>
                      <a:prstDash val="solid"/>
                    </a:lnR>
                    <a:lnT w="9360">
                      <a:solidFill>
                        <a:srgbClr val="E3E7EE"/>
                      </a:solidFill>
                      <a:prstDash val="solid"/>
                    </a:lnT>
                    <a:lnB w="9360">
                      <a:solidFill>
                        <a:srgbClr val="E3E7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0" u="none" strike="noStrike">
                          <a:solidFill>
                            <a:srgbClr val="1B2333"/>
                          </a:solidFill>
                          <a:effectLst/>
                          <a:uFillTx/>
                          <a:latin typeface="Segoe UI"/>
                        </a:rPr>
                        <a:t>30</a:t>
                      </a:r>
                      <a:endParaRPr lang="ru-MD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E3E7EE"/>
                      </a:solidFill>
                      <a:prstDash val="solid"/>
                    </a:lnL>
                    <a:lnR w="9360">
                      <a:solidFill>
                        <a:srgbClr val="E3E7EE"/>
                      </a:solidFill>
                      <a:prstDash val="solid"/>
                    </a:lnR>
                    <a:lnT w="9360">
                      <a:solidFill>
                        <a:srgbClr val="E3E7EE"/>
                      </a:solidFill>
                      <a:prstDash val="solid"/>
                    </a:lnT>
                    <a:lnB w="9360">
                      <a:solidFill>
                        <a:srgbClr val="E3E7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0" u="none" strike="noStrike">
                          <a:solidFill>
                            <a:srgbClr val="1B2333"/>
                          </a:solidFill>
                          <a:effectLst/>
                          <a:uFillTx/>
                          <a:latin typeface="Segoe UI"/>
                        </a:rPr>
                        <a:t>пояс</a:t>
                      </a:r>
                      <a:endParaRPr lang="ru-MD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E3E7EE"/>
                      </a:solidFill>
                      <a:prstDash val="solid"/>
                    </a:lnL>
                    <a:lnR w="9360">
                      <a:solidFill>
                        <a:srgbClr val="E3E7EE"/>
                      </a:solidFill>
                      <a:prstDash val="solid"/>
                    </a:lnR>
                    <a:lnT w="9360">
                      <a:solidFill>
                        <a:srgbClr val="E3E7EE"/>
                      </a:solidFill>
                      <a:prstDash val="solid"/>
                    </a:lnT>
                    <a:lnB w="9360">
                      <a:solidFill>
                        <a:srgbClr val="E3E7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0" u="none" strike="noStrike">
                          <a:solidFill>
                            <a:srgbClr val="1B2333"/>
                          </a:solidFill>
                          <a:effectLst/>
                          <a:uFillTx/>
                          <a:latin typeface="Segoe UI"/>
                        </a:rPr>
                        <a:t>ходьба, подъём, спуск, покой (сидя, стоя, лёжа)</a:t>
                      </a:r>
                      <a:endParaRPr lang="ru-MD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E3E7EE"/>
                      </a:solidFill>
                      <a:prstDash val="solid"/>
                    </a:lnL>
                    <a:lnR w="9360">
                      <a:solidFill>
                        <a:srgbClr val="E3E7EE"/>
                      </a:solidFill>
                      <a:prstDash val="solid"/>
                    </a:lnR>
                    <a:lnT w="9360">
                      <a:solidFill>
                        <a:srgbClr val="E3E7EE"/>
                      </a:solidFill>
                      <a:prstDash val="solid"/>
                    </a:lnT>
                    <a:lnB w="9360">
                      <a:solidFill>
                        <a:srgbClr val="E3E7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664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1" u="none" strike="noStrike">
                          <a:solidFill>
                            <a:srgbClr val="1B2333"/>
                          </a:solidFill>
                          <a:effectLst/>
                          <a:uFillTx/>
                          <a:latin typeface="Segoe UI"/>
                        </a:rPr>
                        <a:t>RealWorld HAR</a:t>
                      </a:r>
                      <a:endParaRPr lang="ru-MD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1" u="none" strike="noStrike">
                          <a:solidFill>
                            <a:srgbClr val="1B2333"/>
                          </a:solidFill>
                          <a:effectLst/>
                          <a:uFillTx/>
                          <a:latin typeface="Segoe UI"/>
                        </a:rPr>
                        <a:t>Sztyler, Stuckenschmidt, 2016</a:t>
                      </a:r>
                      <a:endParaRPr lang="ru-MD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E3E7EE"/>
                      </a:solidFill>
                      <a:prstDash val="solid"/>
                    </a:lnL>
                    <a:lnR w="9360">
                      <a:solidFill>
                        <a:srgbClr val="E3E7EE"/>
                      </a:solidFill>
                      <a:prstDash val="solid"/>
                    </a:lnR>
                    <a:lnT w="9360">
                      <a:solidFill>
                        <a:srgbClr val="E3E7EE"/>
                      </a:solidFill>
                      <a:prstDash val="solid"/>
                    </a:lnT>
                    <a:lnB w="9360">
                      <a:solidFill>
                        <a:srgbClr val="E3E7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0" u="none" strike="noStrike">
                          <a:solidFill>
                            <a:srgbClr val="1B2333"/>
                          </a:solidFill>
                          <a:effectLst/>
                          <a:uFillTx/>
                          <a:latin typeface="Segoe UI"/>
                        </a:rPr>
                        <a:t>15</a:t>
                      </a:r>
                      <a:endParaRPr lang="ru-MD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E3E7EE"/>
                      </a:solidFill>
                      <a:prstDash val="solid"/>
                    </a:lnL>
                    <a:lnR w="9360">
                      <a:solidFill>
                        <a:srgbClr val="E3E7EE"/>
                      </a:solidFill>
                      <a:prstDash val="solid"/>
                    </a:lnR>
                    <a:lnT w="9360">
                      <a:solidFill>
                        <a:srgbClr val="E3E7EE"/>
                      </a:solidFill>
                      <a:prstDash val="solid"/>
                    </a:lnT>
                    <a:lnB w="9360">
                      <a:solidFill>
                        <a:srgbClr val="E3E7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0" u="none" strike="noStrike">
                          <a:solidFill>
                            <a:srgbClr val="1B2333"/>
                          </a:solidFill>
                          <a:effectLst/>
                          <a:uFillTx/>
                          <a:latin typeface="Segoe UI"/>
                        </a:rPr>
                        <a:t>7 мест: бедро → карман, голова → у уха, ещё 4 (голень исключена)</a:t>
                      </a:r>
                      <a:endParaRPr lang="ru-MD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E3E7EE"/>
                      </a:solidFill>
                      <a:prstDash val="solid"/>
                    </a:lnL>
                    <a:lnR w="9360">
                      <a:solidFill>
                        <a:srgbClr val="E3E7EE"/>
                      </a:solidFill>
                      <a:prstDash val="solid"/>
                    </a:lnR>
                    <a:lnT w="9360">
                      <a:solidFill>
                        <a:srgbClr val="E3E7EE"/>
                      </a:solidFill>
                      <a:prstDash val="solid"/>
                    </a:lnT>
                    <a:lnB w="9360">
                      <a:solidFill>
                        <a:srgbClr val="E3E7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0" u="none" strike="noStrike">
                          <a:solidFill>
                            <a:srgbClr val="1B2333"/>
                          </a:solidFill>
                          <a:effectLst/>
                          <a:uFillTx/>
                          <a:latin typeface="Segoe UI"/>
                        </a:rPr>
                        <a:t>все классы, кроме велосипеда; бег; освещённость</a:t>
                      </a:r>
                      <a:endParaRPr lang="ru-MD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E3E7EE"/>
                      </a:solidFill>
                      <a:prstDash val="solid"/>
                    </a:lnL>
                    <a:lnR w="9360">
                      <a:solidFill>
                        <a:srgbClr val="E3E7EE"/>
                      </a:solidFill>
                      <a:prstDash val="solid"/>
                    </a:lnR>
                    <a:lnT w="9360">
                      <a:solidFill>
                        <a:srgbClr val="E3E7EE"/>
                      </a:solidFill>
                      <a:prstDash val="solid"/>
                    </a:lnT>
                    <a:lnB w="9360">
                      <a:solidFill>
                        <a:srgbClr val="E3E7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664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1" u="none" strike="noStrike">
                          <a:solidFill>
                            <a:srgbClr val="1B2333"/>
                          </a:solidFill>
                          <a:effectLst/>
                          <a:uFillTx/>
                          <a:latin typeface="Segoe UI"/>
                        </a:rPr>
                        <a:t>MotionSense</a:t>
                      </a:r>
                      <a:endParaRPr lang="ru-MD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1" u="none" strike="noStrike">
                          <a:solidFill>
                            <a:srgbClr val="1B2333"/>
                          </a:solidFill>
                          <a:effectLst/>
                          <a:uFillTx/>
                          <a:latin typeface="Segoe UI"/>
                        </a:rPr>
                        <a:t>Malekzadeh et al., 2019</a:t>
                      </a:r>
                      <a:endParaRPr lang="ru-MD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E3E7EE"/>
                      </a:solidFill>
                      <a:prstDash val="solid"/>
                    </a:lnL>
                    <a:lnR w="9360">
                      <a:solidFill>
                        <a:srgbClr val="E3E7EE"/>
                      </a:solidFill>
                      <a:prstDash val="solid"/>
                    </a:lnR>
                    <a:lnT w="9360">
                      <a:solidFill>
                        <a:srgbClr val="E3E7EE"/>
                      </a:solidFill>
                      <a:prstDash val="solid"/>
                    </a:lnT>
                    <a:lnB w="9360">
                      <a:solidFill>
                        <a:srgbClr val="E3E7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0" u="none" strike="noStrike">
                          <a:solidFill>
                            <a:srgbClr val="1B2333"/>
                          </a:solidFill>
                          <a:effectLst/>
                          <a:uFillTx/>
                          <a:latin typeface="Segoe UI"/>
                        </a:rPr>
                        <a:t>24</a:t>
                      </a:r>
                      <a:endParaRPr lang="ru-MD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E3E7EE"/>
                      </a:solidFill>
                      <a:prstDash val="solid"/>
                    </a:lnL>
                    <a:lnR w="9360">
                      <a:solidFill>
                        <a:srgbClr val="E3E7EE"/>
                      </a:solidFill>
                      <a:prstDash val="solid"/>
                    </a:lnR>
                    <a:lnT w="9360">
                      <a:solidFill>
                        <a:srgbClr val="E3E7EE"/>
                      </a:solidFill>
                      <a:prstDash val="solid"/>
                    </a:lnT>
                    <a:lnB w="9360">
                      <a:solidFill>
                        <a:srgbClr val="E3E7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0" u="none" strike="noStrike">
                          <a:solidFill>
                            <a:srgbClr val="1B2333"/>
                          </a:solidFill>
                          <a:effectLst/>
                          <a:uFillTx/>
                          <a:latin typeface="Segoe UI"/>
                        </a:rPr>
                        <a:t>передний карман (iPhone 6s)</a:t>
                      </a:r>
                      <a:endParaRPr lang="ru-MD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E3E7EE"/>
                      </a:solidFill>
                      <a:prstDash val="solid"/>
                    </a:lnL>
                    <a:lnR w="9360">
                      <a:solidFill>
                        <a:srgbClr val="E3E7EE"/>
                      </a:solidFill>
                      <a:prstDash val="solid"/>
                    </a:lnR>
                    <a:lnT w="9360">
                      <a:solidFill>
                        <a:srgbClr val="E3E7EE"/>
                      </a:solidFill>
                      <a:prstDash val="solid"/>
                    </a:lnT>
                    <a:lnB w="9360">
                      <a:solidFill>
                        <a:srgbClr val="E3E7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0" u="none" strike="noStrike">
                          <a:solidFill>
                            <a:srgbClr val="1B2333"/>
                          </a:solidFill>
                          <a:effectLst/>
                          <a:uFillTx/>
                          <a:latin typeface="Segoe UI"/>
                        </a:rPr>
                        <a:t>ходьба, бег, подъём, спуск, покой</a:t>
                      </a:r>
                      <a:endParaRPr lang="ru-MD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E3E7EE"/>
                      </a:solidFill>
                      <a:prstDash val="solid"/>
                    </a:lnL>
                    <a:lnR w="9360">
                      <a:solidFill>
                        <a:srgbClr val="E3E7EE"/>
                      </a:solidFill>
                      <a:prstDash val="solid"/>
                    </a:lnR>
                    <a:lnT w="9360">
                      <a:solidFill>
                        <a:srgbClr val="E3E7EE"/>
                      </a:solidFill>
                      <a:prstDash val="solid"/>
                    </a:lnT>
                    <a:lnB w="9360">
                      <a:solidFill>
                        <a:srgbClr val="E3E7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664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1" u="none" strike="noStrike">
                          <a:solidFill>
                            <a:srgbClr val="1B2333"/>
                          </a:solidFill>
                          <a:effectLst/>
                          <a:uFillTx/>
                          <a:latin typeface="Segoe UI"/>
                        </a:rPr>
                        <a:t>Shoaib et al., 2014</a:t>
                      </a:r>
                      <a:endParaRPr lang="ru-MD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1" u="none" strike="noStrike">
                          <a:solidFill>
                            <a:srgbClr val="1B2333"/>
                          </a:solidFill>
                          <a:effectLst/>
                          <a:uFillTx/>
                          <a:latin typeface="Segoe UI"/>
                        </a:rPr>
                        <a:t>Univ. of Twente</a:t>
                      </a:r>
                      <a:endParaRPr lang="ru-MD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E3E7EE"/>
                      </a:solidFill>
                      <a:prstDash val="solid"/>
                    </a:lnL>
                    <a:lnR w="9360">
                      <a:solidFill>
                        <a:srgbClr val="E3E7EE"/>
                      </a:solidFill>
                      <a:prstDash val="solid"/>
                    </a:lnR>
                    <a:lnT w="9360">
                      <a:solidFill>
                        <a:srgbClr val="E3E7EE"/>
                      </a:solidFill>
                      <a:prstDash val="solid"/>
                    </a:lnT>
                    <a:lnB w="9360">
                      <a:solidFill>
                        <a:srgbClr val="E3E7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0" u="none" strike="noStrike">
                          <a:solidFill>
                            <a:srgbClr val="1B2333"/>
                          </a:solidFill>
                          <a:effectLst/>
                          <a:uFillTx/>
                          <a:latin typeface="Segoe UI"/>
                        </a:rPr>
                        <a:t>10</a:t>
                      </a:r>
                      <a:endParaRPr lang="ru-MD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E3E7EE"/>
                      </a:solidFill>
                      <a:prstDash val="solid"/>
                    </a:lnL>
                    <a:lnR w="9360">
                      <a:solidFill>
                        <a:srgbClr val="E3E7EE"/>
                      </a:solidFill>
                      <a:prstDash val="solid"/>
                    </a:lnR>
                    <a:lnT w="9360">
                      <a:solidFill>
                        <a:srgbClr val="E3E7EE"/>
                      </a:solidFill>
                      <a:prstDash val="solid"/>
                    </a:lnT>
                    <a:lnB w="9360">
                      <a:solidFill>
                        <a:srgbClr val="E3E7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0" u="none" strike="noStrike">
                          <a:solidFill>
                            <a:srgbClr val="1B2333"/>
                          </a:solidFill>
                          <a:effectLst/>
                          <a:uFillTx/>
                          <a:latin typeface="Segoe UI"/>
                        </a:rPr>
                        <a:t>два кармана, запястье, плечо, пояс</a:t>
                      </a:r>
                      <a:endParaRPr lang="ru-MD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E3E7EE"/>
                      </a:solidFill>
                      <a:prstDash val="solid"/>
                    </a:lnL>
                    <a:lnR w="9360">
                      <a:solidFill>
                        <a:srgbClr val="E3E7EE"/>
                      </a:solidFill>
                      <a:prstDash val="solid"/>
                    </a:lnR>
                    <a:lnT w="9360">
                      <a:solidFill>
                        <a:srgbClr val="E3E7EE"/>
                      </a:solidFill>
                      <a:prstDash val="solid"/>
                    </a:lnT>
                    <a:lnB w="9360">
                      <a:solidFill>
                        <a:srgbClr val="E3E7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0" u="none" strike="noStrike">
                          <a:solidFill>
                            <a:srgbClr val="1B2333"/>
                          </a:solidFill>
                          <a:effectLst/>
                          <a:uFillTx/>
                          <a:latin typeface="Segoe UI"/>
                        </a:rPr>
                        <a:t>велосипед и лестница; одновременная запись в 5 местах</a:t>
                      </a:r>
                      <a:endParaRPr lang="ru-MD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E3E7EE"/>
                      </a:solidFill>
                      <a:prstDash val="solid"/>
                    </a:lnL>
                    <a:lnR w="9360">
                      <a:solidFill>
                        <a:srgbClr val="E3E7EE"/>
                      </a:solidFill>
                      <a:prstDash val="solid"/>
                    </a:lnR>
                    <a:lnT w="9360">
                      <a:solidFill>
                        <a:srgbClr val="E3E7EE"/>
                      </a:solidFill>
                      <a:prstDash val="solid"/>
                    </a:lnT>
                    <a:lnB w="9360">
                      <a:solidFill>
                        <a:srgbClr val="E3E7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664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1" u="none" strike="noStrike">
                          <a:solidFill>
                            <a:srgbClr val="1B2333"/>
                          </a:solidFill>
                          <a:effectLst/>
                          <a:uFillTx/>
                          <a:latin typeface="Segoe UI"/>
                        </a:rPr>
                        <a:t>Собственные записи</a:t>
                      </a:r>
                      <a:endParaRPr lang="ru-MD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1" u="none" strike="noStrike">
                          <a:solidFill>
                            <a:srgbClr val="1B2333"/>
                          </a:solidFill>
                          <a:effectLst/>
                          <a:uFillTx/>
                          <a:latin typeface="Segoe UI"/>
                        </a:rPr>
                        <a:t>20.09–09.10.2026</a:t>
                      </a:r>
                      <a:endParaRPr lang="ru-MD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E3E7EE"/>
                      </a:solidFill>
                      <a:prstDash val="solid"/>
                    </a:lnL>
                    <a:lnR w="9360">
                      <a:solidFill>
                        <a:srgbClr val="E3E7EE"/>
                      </a:solidFill>
                      <a:prstDash val="solid"/>
                    </a:lnR>
                    <a:lnT w="9360">
                      <a:solidFill>
                        <a:srgbClr val="E3E7EE"/>
                      </a:solidFill>
                      <a:prstDash val="solid"/>
                    </a:lnT>
                    <a:lnB w="9360">
                      <a:solidFill>
                        <a:srgbClr val="E3E7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0" u="none" strike="noStrike">
                          <a:solidFill>
                            <a:srgbClr val="1B2333"/>
                          </a:solidFill>
                          <a:effectLst/>
                          <a:uFillTx/>
                          <a:latin typeface="Segoe UI"/>
                        </a:rPr>
                        <a:t>1</a:t>
                      </a:r>
                      <a:endParaRPr lang="ru-MD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E3E7EE"/>
                      </a:solidFill>
                      <a:prstDash val="solid"/>
                    </a:lnL>
                    <a:lnR w="9360">
                      <a:solidFill>
                        <a:srgbClr val="E3E7EE"/>
                      </a:solidFill>
                      <a:prstDash val="solid"/>
                    </a:lnR>
                    <a:lnT w="9360">
                      <a:solidFill>
                        <a:srgbClr val="E3E7EE"/>
                      </a:solidFill>
                      <a:prstDash val="solid"/>
                    </a:lnT>
                    <a:lnB w="9360">
                      <a:solidFill>
                        <a:srgbClr val="E3E7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0" u="none" strike="noStrike">
                          <a:solidFill>
                            <a:srgbClr val="1B2333"/>
                          </a:solidFill>
                          <a:effectLst/>
                          <a:uFillTx/>
                          <a:latin typeface="Segoe UI"/>
                        </a:rPr>
                        <a:t>карман, рука, стол — этот телефон</a:t>
                      </a:r>
                      <a:endParaRPr lang="ru-MD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E3E7EE"/>
                      </a:solidFill>
                      <a:prstDash val="solid"/>
                    </a:lnL>
                    <a:lnR w="9360">
                      <a:solidFill>
                        <a:srgbClr val="E3E7EE"/>
                      </a:solidFill>
                      <a:prstDash val="solid"/>
                    </a:lnR>
                    <a:lnT w="9360">
                      <a:solidFill>
                        <a:srgbClr val="E3E7EE"/>
                      </a:solidFill>
                      <a:prstDash val="solid"/>
                    </a:lnT>
                    <a:lnB w="9360">
                      <a:solidFill>
                        <a:srgbClr val="E3E7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0" u="none" strike="noStrike">
                          <a:solidFill>
                            <a:srgbClr val="1B2333"/>
                          </a:solidFill>
                          <a:effectLst/>
                          <a:uFillTx/>
                          <a:latin typeface="Segoe UI"/>
                        </a:rPr>
                        <a:t>ситуации, которых нет в открытых данных: рука, стол, темнота</a:t>
                      </a:r>
                      <a:endParaRPr lang="ru-MD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E3E7EE"/>
                      </a:solidFill>
                      <a:prstDash val="solid"/>
                    </a:lnL>
                    <a:lnR w="9360">
                      <a:solidFill>
                        <a:srgbClr val="E3E7EE"/>
                      </a:solidFill>
                      <a:prstDash val="solid"/>
                    </a:lnR>
                    <a:lnT w="9360">
                      <a:solidFill>
                        <a:srgbClr val="E3E7EE"/>
                      </a:solidFill>
                      <a:prstDash val="solid"/>
                    </a:lnT>
                    <a:lnB w="9360">
                      <a:solidFill>
                        <a:srgbClr val="E3E7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664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1" u="none" strike="noStrike">
                          <a:solidFill>
                            <a:srgbClr val="5B6475"/>
                          </a:solidFill>
                          <a:effectLst/>
                          <a:uFillTx/>
                          <a:latin typeface="Segoe UI"/>
                        </a:rPr>
                        <a:t>ExtraSensory</a:t>
                      </a:r>
                      <a:endParaRPr lang="ru-MD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1" u="none" strike="noStrike">
                          <a:solidFill>
                            <a:srgbClr val="5B6475"/>
                          </a:solidFill>
                          <a:effectLst/>
                          <a:uFillTx/>
                          <a:latin typeface="Segoe UI"/>
                        </a:rPr>
                        <a:t>Vaizman et al., 2017</a:t>
                      </a:r>
                      <a:endParaRPr lang="ru-MD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E3E7EE"/>
                      </a:solidFill>
                      <a:prstDash val="solid"/>
                    </a:lnL>
                    <a:lnR w="9360">
                      <a:solidFill>
                        <a:srgbClr val="E3E7EE"/>
                      </a:solidFill>
                      <a:prstDash val="solid"/>
                    </a:lnR>
                    <a:lnT w="9360">
                      <a:solidFill>
                        <a:srgbClr val="E3E7EE"/>
                      </a:solidFill>
                      <a:prstDash val="solid"/>
                    </a:lnT>
                    <a:lnB w="9360">
                      <a:solidFill>
                        <a:srgbClr val="E3E7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0" u="none" strike="noStrike">
                          <a:solidFill>
                            <a:srgbClr val="5B6475"/>
                          </a:solidFill>
                          <a:effectLst/>
                          <a:uFillTx/>
                          <a:latin typeface="Segoe UI"/>
                        </a:rPr>
                        <a:t>60</a:t>
                      </a:r>
                      <a:endParaRPr lang="ru-MD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E3E7EE"/>
                      </a:solidFill>
                      <a:prstDash val="solid"/>
                    </a:lnL>
                    <a:lnR w="9360">
                      <a:solidFill>
                        <a:srgbClr val="E3E7EE"/>
                      </a:solidFill>
                      <a:prstDash val="solid"/>
                    </a:lnR>
                    <a:lnT w="9360">
                      <a:solidFill>
                        <a:srgbClr val="E3E7EE"/>
                      </a:solidFill>
                      <a:prstDash val="solid"/>
                    </a:lnT>
                    <a:lnB w="9360">
                      <a:solidFill>
                        <a:srgbClr val="E3E7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0" u="none" strike="noStrike">
                          <a:solidFill>
                            <a:srgbClr val="5B6475"/>
                          </a:solidFill>
                          <a:effectLst/>
                          <a:uFillTx/>
                          <a:latin typeface="Segoe UI"/>
                        </a:rPr>
                        <a:t>карман, рука, стол, разговор</a:t>
                      </a:r>
                      <a:endParaRPr lang="ru-MD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E3E7EE"/>
                      </a:solidFill>
                      <a:prstDash val="solid"/>
                    </a:lnL>
                    <a:lnR w="9360">
                      <a:solidFill>
                        <a:srgbClr val="E3E7EE"/>
                      </a:solidFill>
                      <a:prstDash val="solid"/>
                    </a:lnR>
                    <a:lnT w="9360">
                      <a:solidFill>
                        <a:srgbClr val="E3E7EE"/>
                      </a:solidFill>
                      <a:prstDash val="solid"/>
                    </a:lnT>
                    <a:lnB w="9360">
                      <a:solidFill>
                        <a:srgbClr val="E3E7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0" i="1" u="none" strike="noStrike">
                          <a:solidFill>
                            <a:srgbClr val="5B6475"/>
                          </a:solidFill>
                          <a:effectLst/>
                          <a:uFillTx/>
                          <a:latin typeface="Segoe UI"/>
                        </a:rPr>
                        <a:t>загрузчик готов; в текущую модель не вошёл</a:t>
                      </a:r>
                      <a:endParaRPr lang="ru-MD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E3E7EE"/>
                      </a:solidFill>
                      <a:prstDash val="solid"/>
                    </a:lnL>
                    <a:lnR w="9360">
                      <a:solidFill>
                        <a:srgbClr val="E3E7EE"/>
                      </a:solidFill>
                      <a:prstDash val="solid"/>
                    </a:lnR>
                    <a:lnT w="9360">
                      <a:solidFill>
                        <a:srgbClr val="E3E7EE"/>
                      </a:solidFill>
                      <a:prstDash val="solid"/>
                    </a:lnT>
                    <a:lnB w="9360">
                      <a:solidFill>
                        <a:srgbClr val="E3E7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20" name="text-181"/>
          <p:cNvSpPr/>
          <p:nvPr/>
        </p:nvSpPr>
        <p:spPr>
          <a:xfrm>
            <a:off x="8823960" y="1143000"/>
            <a:ext cx="2834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chemeClr val="dk1"/>
                </a:solidFill>
                <a:effectLst/>
                <a:uFillTx/>
                <a:latin typeface="Segoe UI"/>
              </a:rPr>
              <a:t>Окна по классам</a:t>
            </a:r>
            <a:endParaRPr lang="ru-MD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21" name="classes-chart-182"/>
          <p:cNvGraphicFramePr/>
          <p:nvPr/>
        </p:nvGraphicFramePr>
        <p:xfrm>
          <a:off x="8686800" y="1417320"/>
          <a:ext cx="3017160" cy="4754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222" name="PlaceHolder 2"/>
          <p:cNvSpPr>
            <a:spLocks noGrp="1"/>
          </p:cNvSpPr>
          <p:nvPr>
            <p:ph/>
          </p:nvPr>
        </p:nvSpPr>
        <p:spPr>
          <a:xfrm>
            <a:off x="548640" y="914400"/>
            <a:ext cx="11091240" cy="411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spcBef>
                <a:spcPts val="1417"/>
              </a:spcBef>
              <a:buNone/>
            </a:pPr>
            <a:endParaRPr lang="en-US" sz="1500" b="0" u="none" strike="noStrike">
              <a:solidFill>
                <a:schemeClr val="dk2"/>
              </a:solidFill>
              <a:effectLst/>
              <a:uFillTx/>
              <a:latin typeface="Segoe UI"/>
            </a:endParaRPr>
          </a:p>
        </p:txBody>
      </p:sp>
      <p:sp>
        <p:nvSpPr>
          <p:cNvPr id="223" name="PlaceHolder 3"/>
          <p:cNvSpPr>
            <a:spLocks noGrp="1"/>
          </p:cNvSpPr>
          <p:nvPr>
            <p:ph type="sldNum" idx="13"/>
          </p:nvPr>
        </p:nvSpPr>
        <p:spPr>
          <a:xfrm>
            <a:off x="11274480" y="6446520"/>
            <a:ext cx="456840" cy="255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000" b="0" u="none" strike="noStrike">
                <a:solidFill>
                  <a:schemeClr val="dk2"/>
                </a:solidFill>
                <a:effectLst/>
                <a:uFillTx/>
                <a:latin typeface="Segoe U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A31E64A-35D3-428B-8CCA-E11D4B260CA7}" type="slidenum">
              <a:rPr lang="en-US" sz="1000" b="0" u="none" strike="noStrike">
                <a:solidFill>
                  <a:schemeClr val="dk2"/>
                </a:solidFill>
                <a:effectLst/>
                <a:uFillTx/>
                <a:latin typeface="Segoe UI"/>
              </a:rPr>
              <a:t>15</a:t>
            </a:fld>
            <a:endParaRPr lang="ru-MD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PlaceHolder 1"/>
          <p:cNvSpPr>
            <a:spLocks noGrp="1"/>
          </p:cNvSpPr>
          <p:nvPr>
            <p:ph type="title" hasCustomPrompt="1"/>
          </p:nvPr>
        </p:nvSpPr>
        <p:spPr>
          <a:xfrm>
            <a:off x="548640" y="274320"/>
            <a:ext cx="11091240" cy="658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00" b="1" u="none" strike="noStrike">
                <a:solidFill>
                  <a:schemeClr val="dk1"/>
                </a:solidFill>
                <a:effectLst/>
                <a:uFillTx/>
                <a:latin typeface="Segoe UI"/>
              </a:rPr>
              <a:t>Сигнатуры активностей (1/2): амплитуда и ритм</a:t>
            </a:r>
            <a:endParaRPr lang="ru-MD" sz="3000" b="0" u="none" strike="noStrike">
              <a:solidFill>
                <a:schemeClr val="dk1"/>
              </a:solidFill>
              <a:effectLst/>
              <a:uFillTx/>
              <a:latin typeface="Segoe UI"/>
            </a:endParaRPr>
          </a:p>
        </p:txBody>
      </p:sp>
      <p:sp>
        <p:nvSpPr>
          <p:cNvPr id="225" name="PlaceHolder 2"/>
          <p:cNvSpPr>
            <a:spLocks noGrp="1"/>
          </p:cNvSpPr>
          <p:nvPr>
            <p:ph hasCustomPrompt="1"/>
          </p:nvPr>
        </p:nvSpPr>
        <p:spPr>
          <a:xfrm>
            <a:off x="548640" y="914400"/>
            <a:ext cx="11091240" cy="411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 defTabSz="914400">
              <a:lnSpc>
                <a:spcPct val="100000"/>
              </a:lnSpc>
              <a:spcBef>
                <a:spcPts val="300"/>
              </a:spcBef>
              <a:buNone/>
              <a:tabLst>
                <a:tab pos="0" algn="l"/>
              </a:tabLst>
            </a:pPr>
            <a:r>
              <a:rPr lang="en-US" sz="1500" b="0" u="none" strike="noStrike">
                <a:solidFill>
                  <a:schemeClr val="dk2"/>
                </a:solidFill>
                <a:effectLst/>
                <a:uFillTx/>
                <a:latin typeface="Segoe UI"/>
              </a:rPr>
              <a:t>Распределения по 181 559 окнам: доля окон по значению признака, каждая кривая нормирована на свой максимум</a:t>
            </a:r>
            <a:endParaRPr lang="ru-MD" sz="1500" b="0" u="none" strike="noStrike">
              <a:solidFill>
                <a:schemeClr val="dk1"/>
              </a:solidFill>
              <a:effectLst/>
              <a:uFillTx/>
              <a:latin typeface="Segoe UI"/>
            </a:endParaRPr>
          </a:p>
        </p:txBody>
      </p:sp>
      <p:sp>
        <p:nvSpPr>
          <p:cNvPr id="297" name="PlaceHolder 3"/>
          <p:cNvSpPr>
            <a:spLocks noGrp="1"/>
          </p:cNvSpPr>
          <p:nvPr>
            <p:ph type="sldNum" idx="14"/>
          </p:nvPr>
        </p:nvSpPr>
        <p:spPr>
          <a:xfrm>
            <a:off x="11274480" y="6446520"/>
            <a:ext cx="456840" cy="255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000" b="0" u="none" strike="noStrike">
                <a:solidFill>
                  <a:schemeClr val="dk2"/>
                </a:solidFill>
                <a:effectLst/>
                <a:uFillTx/>
                <a:latin typeface="Segoe U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40EF529-1F1B-46F1-8066-55DFF072F587}" type="slidenum">
              <a:rPr lang="en-US" sz="1000" b="0" u="none" strike="noStrike">
                <a:solidFill>
                  <a:schemeClr val="dk2"/>
                </a:solidFill>
                <a:effectLst/>
                <a:uFillTx/>
                <a:latin typeface="Segoe UI"/>
              </a:rPr>
              <a:t>&lt;номер&gt;</a:t>
            </a:fld>
            <a:endParaRPr lang="ru-MD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cxnSp>
        <p:nvCxnSpPr>
          <p:cNvPr id="298" name="Connector 297"/>
          <p:cNvCxnSpPr/>
          <p:nvPr/>
        </p:nvCxnSpPr>
        <p:spPr>
          <a:xfrm>
            <a:off x="548640" y="1572768"/>
            <a:ext cx="310896" cy="0"/>
          </a:xfrm>
          <a:prstGeom prst="line">
            <a:avLst/>
          </a:prstGeom>
          <a:ln w="38100">
            <a:solidFill>
              <a:srgbClr val="8C96A8"/>
            </a:solidFill>
            <a:prstDash val="dash"/>
          </a:ln>
        </p:spPr>
      </p:cxnSp>
      <p:pic>
        <p:nvPicPr>
          <p:cNvPr id="299" name="Picture 29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" y="1435608"/>
            <a:ext cx="274320" cy="274320"/>
          </a:xfrm>
          <a:prstGeom prst="rect">
            <a:avLst/>
          </a:prstGeom>
        </p:spPr>
      </p:pic>
      <p:sp>
        <p:nvSpPr>
          <p:cNvPr id="300" name="TextBox 299"/>
          <p:cNvSpPr txBox="1"/>
          <p:nvPr/>
        </p:nvSpPr>
        <p:spPr>
          <a:xfrm>
            <a:off x="1280160" y="1417320"/>
            <a:ext cx="1071372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250" b="1">
                <a:solidFill>
                  <a:srgbClr val="1B2333"/>
                </a:solidFill>
                <a:latin typeface="Segoe UI"/>
              </a:rPr>
              <a:t>Покой</a:t>
            </a:r>
          </a:p>
        </p:txBody>
      </p:sp>
      <p:cxnSp>
        <p:nvCxnSpPr>
          <p:cNvPr id="301" name="Connector 300"/>
          <p:cNvCxnSpPr/>
          <p:nvPr/>
        </p:nvCxnSpPr>
        <p:spPr>
          <a:xfrm>
            <a:off x="2397252" y="1572768"/>
            <a:ext cx="310896" cy="0"/>
          </a:xfrm>
          <a:prstGeom prst="line">
            <a:avLst/>
          </a:prstGeom>
          <a:ln w="38100">
            <a:solidFill>
              <a:srgbClr val="3C8A1E"/>
            </a:solidFill>
          </a:ln>
        </p:spPr>
      </p:cxnSp>
      <p:pic>
        <p:nvPicPr>
          <p:cNvPr id="302" name="Picture 30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81300" y="1435608"/>
            <a:ext cx="274320" cy="274320"/>
          </a:xfrm>
          <a:prstGeom prst="rect">
            <a:avLst/>
          </a:prstGeom>
        </p:spPr>
      </p:pic>
      <p:sp>
        <p:nvSpPr>
          <p:cNvPr id="303" name="TextBox 302"/>
          <p:cNvSpPr txBox="1"/>
          <p:nvPr/>
        </p:nvSpPr>
        <p:spPr>
          <a:xfrm>
            <a:off x="3128772" y="1417320"/>
            <a:ext cx="1071372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250" b="1">
                <a:solidFill>
                  <a:srgbClr val="1B2333"/>
                </a:solidFill>
                <a:latin typeface="Segoe UI"/>
              </a:rPr>
              <a:t>Ходьба</a:t>
            </a:r>
          </a:p>
        </p:txBody>
      </p:sp>
      <p:cxnSp>
        <p:nvCxnSpPr>
          <p:cNvPr id="304" name="Connector 303"/>
          <p:cNvCxnSpPr/>
          <p:nvPr/>
        </p:nvCxnSpPr>
        <p:spPr>
          <a:xfrm>
            <a:off x="4245864" y="1572768"/>
            <a:ext cx="310896" cy="0"/>
          </a:xfrm>
          <a:prstGeom prst="line">
            <a:avLst/>
          </a:prstGeom>
          <a:ln w="38100">
            <a:solidFill>
              <a:srgbClr val="D8602A"/>
            </a:solidFill>
          </a:ln>
        </p:spPr>
      </p:cxnSp>
      <p:pic>
        <p:nvPicPr>
          <p:cNvPr id="305" name="Picture 30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29912" y="1435608"/>
            <a:ext cx="274320" cy="274320"/>
          </a:xfrm>
          <a:prstGeom prst="rect">
            <a:avLst/>
          </a:prstGeom>
        </p:spPr>
      </p:pic>
      <p:sp>
        <p:nvSpPr>
          <p:cNvPr id="306" name="TextBox 305"/>
          <p:cNvSpPr txBox="1"/>
          <p:nvPr/>
        </p:nvSpPr>
        <p:spPr>
          <a:xfrm>
            <a:off x="4977384" y="1417320"/>
            <a:ext cx="1071372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250" b="1">
                <a:solidFill>
                  <a:srgbClr val="1B2333"/>
                </a:solidFill>
                <a:latin typeface="Segoe UI"/>
              </a:rPr>
              <a:t>Бег</a:t>
            </a:r>
          </a:p>
        </p:txBody>
      </p:sp>
      <p:cxnSp>
        <p:nvCxnSpPr>
          <p:cNvPr id="307" name="Connector 306"/>
          <p:cNvCxnSpPr/>
          <p:nvPr/>
        </p:nvCxnSpPr>
        <p:spPr>
          <a:xfrm>
            <a:off x="6094476" y="1572768"/>
            <a:ext cx="310896" cy="0"/>
          </a:xfrm>
          <a:prstGeom prst="line">
            <a:avLst/>
          </a:prstGeom>
          <a:ln w="38100">
            <a:solidFill>
              <a:srgbClr val="2D5FA8"/>
            </a:solidFill>
          </a:ln>
        </p:spPr>
      </p:cxnSp>
      <p:pic>
        <p:nvPicPr>
          <p:cNvPr id="308" name="Picture 30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78524" y="1435608"/>
            <a:ext cx="274320" cy="274320"/>
          </a:xfrm>
          <a:prstGeom prst="rect">
            <a:avLst/>
          </a:prstGeom>
        </p:spPr>
      </p:pic>
      <p:sp>
        <p:nvSpPr>
          <p:cNvPr id="309" name="TextBox 308"/>
          <p:cNvSpPr txBox="1"/>
          <p:nvPr/>
        </p:nvSpPr>
        <p:spPr>
          <a:xfrm>
            <a:off x="6825996" y="1417320"/>
            <a:ext cx="1071372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250" b="1">
                <a:solidFill>
                  <a:srgbClr val="1B2333"/>
                </a:solidFill>
                <a:latin typeface="Segoe UI"/>
              </a:rPr>
              <a:t>Подъём</a:t>
            </a:r>
          </a:p>
        </p:txBody>
      </p:sp>
      <p:cxnSp>
        <p:nvCxnSpPr>
          <p:cNvPr id="310" name="Connector 309"/>
          <p:cNvCxnSpPr/>
          <p:nvPr/>
        </p:nvCxnSpPr>
        <p:spPr>
          <a:xfrm>
            <a:off x="7943088" y="1572768"/>
            <a:ext cx="310896" cy="0"/>
          </a:xfrm>
          <a:prstGeom prst="line">
            <a:avLst/>
          </a:prstGeom>
          <a:ln w="38100">
            <a:solidFill>
              <a:srgbClr val="7888E0"/>
            </a:solidFill>
          </a:ln>
        </p:spPr>
      </p:cxnSp>
      <p:pic>
        <p:nvPicPr>
          <p:cNvPr id="311" name="Picture 3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27136" y="1435608"/>
            <a:ext cx="274320" cy="274320"/>
          </a:xfrm>
          <a:prstGeom prst="rect">
            <a:avLst/>
          </a:prstGeom>
        </p:spPr>
      </p:pic>
      <p:sp>
        <p:nvSpPr>
          <p:cNvPr id="312" name="TextBox 311"/>
          <p:cNvSpPr txBox="1"/>
          <p:nvPr/>
        </p:nvSpPr>
        <p:spPr>
          <a:xfrm>
            <a:off x="8674608" y="1417320"/>
            <a:ext cx="1071372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250" b="1">
                <a:solidFill>
                  <a:srgbClr val="1B2333"/>
                </a:solidFill>
                <a:latin typeface="Segoe UI"/>
              </a:rPr>
              <a:t>Спуск</a:t>
            </a:r>
          </a:p>
        </p:txBody>
      </p:sp>
      <p:cxnSp>
        <p:nvCxnSpPr>
          <p:cNvPr id="313" name="Connector 312"/>
          <p:cNvCxnSpPr/>
          <p:nvPr/>
        </p:nvCxnSpPr>
        <p:spPr>
          <a:xfrm>
            <a:off x="9791700" y="1572768"/>
            <a:ext cx="310896" cy="0"/>
          </a:xfrm>
          <a:prstGeom prst="line">
            <a:avLst/>
          </a:prstGeom>
          <a:ln w="38100">
            <a:solidFill>
              <a:srgbClr val="C08600"/>
            </a:solidFill>
          </a:ln>
        </p:spPr>
      </p:cxnSp>
      <p:pic>
        <p:nvPicPr>
          <p:cNvPr id="314" name="Picture 3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75748" y="1435608"/>
            <a:ext cx="274320" cy="274320"/>
          </a:xfrm>
          <a:prstGeom prst="rect">
            <a:avLst/>
          </a:prstGeom>
        </p:spPr>
      </p:pic>
      <p:sp>
        <p:nvSpPr>
          <p:cNvPr id="315" name="TextBox 314"/>
          <p:cNvSpPr txBox="1"/>
          <p:nvPr/>
        </p:nvSpPr>
        <p:spPr>
          <a:xfrm>
            <a:off x="10523220" y="1417320"/>
            <a:ext cx="1071372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250" b="1">
                <a:solidFill>
                  <a:srgbClr val="1B2333"/>
                </a:solidFill>
                <a:latin typeface="Segoe UI"/>
              </a:rPr>
              <a:t>Велосипед</a:t>
            </a:r>
          </a:p>
        </p:txBody>
      </p:sp>
      <p:sp>
        <p:nvSpPr>
          <p:cNvPr id="316" name="Rounded Rectangle 315"/>
          <p:cNvSpPr/>
          <p:nvPr/>
        </p:nvSpPr>
        <p:spPr>
          <a:xfrm>
            <a:off x="548640" y="1938528"/>
            <a:ext cx="3575304" cy="4325112"/>
          </a:xfrm>
          <a:prstGeom prst="roundRect">
            <a:avLst>
              <a:gd name="adj" fmla="val 5000"/>
            </a:avLst>
          </a:prstGeom>
          <a:solidFill>
            <a:srgbClr val="F4F6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7" name="TextBox 316"/>
          <p:cNvSpPr txBox="1"/>
          <p:nvPr/>
        </p:nvSpPr>
        <p:spPr>
          <a:xfrm>
            <a:off x="713232" y="2066544"/>
            <a:ext cx="32461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1300" b="1">
                <a:solidFill>
                  <a:srgbClr val="1B2333"/>
                </a:solidFill>
                <a:latin typeface="Segoe UI"/>
              </a:rPr>
              <a:t>СКО модуля ускорения</a:t>
            </a:r>
            <a:r>
              <a:rPr sz="1200" b="0">
                <a:solidFill>
                  <a:srgbClr val="5B6475"/>
                </a:solidFill>
                <a:latin typeface="Segoe UI"/>
              </a:rPr>
              <a:t>, м/с²</a:t>
            </a:r>
          </a:p>
        </p:txBody>
      </p:sp>
      <p:graphicFrame>
        <p:nvGraphicFramePr>
          <p:cNvPr id="318" name="Chart 317"/>
          <p:cNvGraphicFramePr>
            <a:graphicFrameLocks noGrp="1"/>
          </p:cNvGraphicFramePr>
          <p:nvPr/>
        </p:nvGraphicFramePr>
        <p:xfrm>
          <a:off x="594360" y="2377440"/>
          <a:ext cx="3483864" cy="2450591"/>
        </p:xfrm>
        <a:graphic>
          <a:graphicData uri="http://schemas.openxmlformats.org/drawingml/2006/chart">
            <c:chart xmlns:c="http://schemas.openxmlformats.org/drawingml/2006/chart" r:id="rId9"/>
          </a:graphicData>
        </a:graphic>
      </p:graphicFrame>
      <p:sp>
        <p:nvSpPr>
          <p:cNvPr id="319" name="TextBox 318"/>
          <p:cNvSpPr txBox="1"/>
          <p:nvPr/>
        </p:nvSpPr>
        <p:spPr>
          <a:xfrm>
            <a:off x="713232" y="4882895"/>
            <a:ext cx="32461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1B2333"/>
                </a:solidFill>
                <a:latin typeface="Segoe UI"/>
              </a:rPr>
              <a:t>У покоя — почти ноль, у бега — самая высокая амплитуда; спуск ударнее ходьбы и подъёма</a:t>
            </a:r>
          </a:p>
        </p:txBody>
      </p:sp>
      <p:sp>
        <p:nvSpPr>
          <p:cNvPr id="320" name="TextBox 319"/>
          <p:cNvSpPr txBox="1"/>
          <p:nvPr/>
        </p:nvSpPr>
        <p:spPr>
          <a:xfrm>
            <a:off x="713232" y="5614415"/>
            <a:ext cx="1082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1000" b="0">
                <a:solidFill>
                  <a:srgbClr val="8C96A8"/>
                </a:solidFill>
                <a:latin typeface="Segoe UI"/>
              </a:rPr>
              <a:t>● </a:t>
            </a:r>
            <a:r>
              <a:rPr sz="950" b="0">
                <a:solidFill>
                  <a:srgbClr val="5B6475"/>
                </a:solidFill>
                <a:latin typeface="Segoe UI"/>
              </a:rPr>
              <a:t>Покой </a:t>
            </a:r>
            <a:r>
              <a:rPr sz="1000" b="1">
                <a:solidFill>
                  <a:srgbClr val="1B2333"/>
                </a:solidFill>
                <a:latin typeface="Segoe UI"/>
              </a:rPr>
              <a:t>0,04</a:t>
            </a:r>
          </a:p>
        </p:txBody>
      </p:sp>
      <p:sp>
        <p:nvSpPr>
          <p:cNvPr id="321" name="TextBox 320"/>
          <p:cNvSpPr txBox="1"/>
          <p:nvPr/>
        </p:nvSpPr>
        <p:spPr>
          <a:xfrm>
            <a:off x="1795272" y="5614415"/>
            <a:ext cx="1082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1000" b="0">
                <a:solidFill>
                  <a:srgbClr val="3C8A1E"/>
                </a:solidFill>
                <a:latin typeface="Segoe UI"/>
              </a:rPr>
              <a:t>● </a:t>
            </a:r>
            <a:r>
              <a:rPr sz="950" b="0">
                <a:solidFill>
                  <a:srgbClr val="5B6475"/>
                </a:solidFill>
                <a:latin typeface="Segoe UI"/>
              </a:rPr>
              <a:t>Ходьба </a:t>
            </a:r>
            <a:r>
              <a:rPr sz="1000" b="0">
                <a:solidFill>
                  <a:srgbClr val="1B2333"/>
                </a:solidFill>
                <a:latin typeface="Segoe UI"/>
              </a:rPr>
              <a:t>2,89</a:t>
            </a:r>
          </a:p>
        </p:txBody>
      </p:sp>
      <p:sp>
        <p:nvSpPr>
          <p:cNvPr id="322" name="TextBox 321"/>
          <p:cNvSpPr txBox="1"/>
          <p:nvPr/>
        </p:nvSpPr>
        <p:spPr>
          <a:xfrm>
            <a:off x="2877312" y="5614415"/>
            <a:ext cx="1082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1000" b="0">
                <a:solidFill>
                  <a:srgbClr val="D8602A"/>
                </a:solidFill>
                <a:latin typeface="Segoe UI"/>
              </a:rPr>
              <a:t>● </a:t>
            </a:r>
            <a:r>
              <a:rPr sz="950" b="0">
                <a:solidFill>
                  <a:srgbClr val="5B6475"/>
                </a:solidFill>
                <a:latin typeface="Segoe UI"/>
              </a:rPr>
              <a:t>Бег </a:t>
            </a:r>
            <a:r>
              <a:rPr sz="1000" b="1">
                <a:solidFill>
                  <a:srgbClr val="1B2333"/>
                </a:solidFill>
                <a:latin typeface="Segoe UI"/>
              </a:rPr>
              <a:t>6,64</a:t>
            </a:r>
          </a:p>
        </p:txBody>
      </p:sp>
      <p:sp>
        <p:nvSpPr>
          <p:cNvPr id="323" name="TextBox 322"/>
          <p:cNvSpPr txBox="1"/>
          <p:nvPr/>
        </p:nvSpPr>
        <p:spPr>
          <a:xfrm>
            <a:off x="713232" y="5815583"/>
            <a:ext cx="1082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1000" b="0">
                <a:solidFill>
                  <a:srgbClr val="2D5FA8"/>
                </a:solidFill>
                <a:latin typeface="Segoe UI"/>
              </a:rPr>
              <a:t>● </a:t>
            </a:r>
            <a:r>
              <a:rPr sz="950" b="0">
                <a:solidFill>
                  <a:srgbClr val="5B6475"/>
                </a:solidFill>
                <a:latin typeface="Segoe UI"/>
              </a:rPr>
              <a:t>Подъём </a:t>
            </a:r>
            <a:r>
              <a:rPr sz="1000" b="0">
                <a:solidFill>
                  <a:srgbClr val="1B2333"/>
                </a:solidFill>
                <a:latin typeface="Segoe UI"/>
              </a:rPr>
              <a:t>2,69</a:t>
            </a:r>
          </a:p>
        </p:txBody>
      </p:sp>
      <p:sp>
        <p:nvSpPr>
          <p:cNvPr id="324" name="TextBox 323"/>
          <p:cNvSpPr txBox="1"/>
          <p:nvPr/>
        </p:nvSpPr>
        <p:spPr>
          <a:xfrm>
            <a:off x="1795272" y="5815583"/>
            <a:ext cx="1082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1000" b="0">
                <a:solidFill>
                  <a:srgbClr val="7888E0"/>
                </a:solidFill>
                <a:latin typeface="Segoe UI"/>
              </a:rPr>
              <a:t>● </a:t>
            </a:r>
            <a:r>
              <a:rPr sz="950" b="0">
                <a:solidFill>
                  <a:srgbClr val="5B6475"/>
                </a:solidFill>
                <a:latin typeface="Segoe UI"/>
              </a:rPr>
              <a:t>Спуск </a:t>
            </a:r>
            <a:r>
              <a:rPr sz="1000" b="1">
                <a:solidFill>
                  <a:srgbClr val="1B2333"/>
                </a:solidFill>
                <a:latin typeface="Segoe UI"/>
              </a:rPr>
              <a:t>3,78</a:t>
            </a:r>
          </a:p>
        </p:txBody>
      </p:sp>
      <p:sp>
        <p:nvSpPr>
          <p:cNvPr id="325" name="TextBox 324"/>
          <p:cNvSpPr txBox="1"/>
          <p:nvPr/>
        </p:nvSpPr>
        <p:spPr>
          <a:xfrm>
            <a:off x="2877312" y="5815583"/>
            <a:ext cx="1082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1000" b="0">
                <a:solidFill>
                  <a:srgbClr val="C08600"/>
                </a:solidFill>
                <a:latin typeface="Segoe UI"/>
              </a:rPr>
              <a:t>● </a:t>
            </a:r>
            <a:r>
              <a:rPr sz="950" b="0">
                <a:solidFill>
                  <a:srgbClr val="5B6475"/>
                </a:solidFill>
                <a:latin typeface="Segoe UI"/>
              </a:rPr>
              <a:t>Велосипед </a:t>
            </a:r>
            <a:r>
              <a:rPr sz="1000" b="0">
                <a:solidFill>
                  <a:srgbClr val="1B2333"/>
                </a:solidFill>
                <a:latin typeface="Segoe UI"/>
              </a:rPr>
              <a:t>1,56</a:t>
            </a:r>
          </a:p>
        </p:txBody>
      </p:sp>
      <p:sp>
        <p:nvSpPr>
          <p:cNvPr id="326" name="Rounded Rectangle 325"/>
          <p:cNvSpPr/>
          <p:nvPr/>
        </p:nvSpPr>
        <p:spPr>
          <a:xfrm>
            <a:off x="4306824" y="1938528"/>
            <a:ext cx="3575304" cy="4325112"/>
          </a:xfrm>
          <a:prstGeom prst="roundRect">
            <a:avLst>
              <a:gd name="adj" fmla="val 5000"/>
            </a:avLst>
          </a:prstGeom>
          <a:solidFill>
            <a:srgbClr val="F4F6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7" name="TextBox 326"/>
          <p:cNvSpPr txBox="1"/>
          <p:nvPr/>
        </p:nvSpPr>
        <p:spPr>
          <a:xfrm>
            <a:off x="4471416" y="2066544"/>
            <a:ext cx="32461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1300" b="1">
                <a:solidFill>
                  <a:srgbClr val="1B2333"/>
                </a:solidFill>
                <a:latin typeface="Segoe UI"/>
              </a:rPr>
              <a:t>Частота главного пика</a:t>
            </a:r>
            <a:r>
              <a:rPr sz="1200" b="0">
                <a:solidFill>
                  <a:srgbClr val="5B6475"/>
                </a:solidFill>
                <a:latin typeface="Segoe UI"/>
              </a:rPr>
              <a:t>, Гц</a:t>
            </a:r>
          </a:p>
        </p:txBody>
      </p:sp>
      <p:graphicFrame>
        <p:nvGraphicFramePr>
          <p:cNvPr id="328" name="Chart 327"/>
          <p:cNvGraphicFramePr>
            <a:graphicFrameLocks noGrp="1"/>
          </p:cNvGraphicFramePr>
          <p:nvPr/>
        </p:nvGraphicFramePr>
        <p:xfrm>
          <a:off x="4352544" y="2377440"/>
          <a:ext cx="3483864" cy="2450591"/>
        </p:xfrm>
        <a:graphic>
          <a:graphicData uri="http://schemas.openxmlformats.org/drawingml/2006/chart">
            <c:chart xmlns:c="http://schemas.openxmlformats.org/drawingml/2006/chart" r:id="rId10"/>
          </a:graphicData>
        </a:graphic>
      </p:graphicFrame>
      <p:sp>
        <p:nvSpPr>
          <p:cNvPr id="329" name="TextBox 328"/>
          <p:cNvSpPr txBox="1"/>
          <p:nvPr/>
        </p:nvSpPr>
        <p:spPr>
          <a:xfrm>
            <a:off x="4471416" y="4882895"/>
            <a:ext cx="32461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1B2333"/>
                </a:solidFill>
                <a:latin typeface="Segoe UI"/>
              </a:rPr>
              <a:t>Это темп шага: бег ≈ 2,7 Гц, подъём медленнее ходьбы; у покоя пика нет — шум по всей полосе</a:t>
            </a:r>
          </a:p>
        </p:txBody>
      </p:sp>
      <p:sp>
        <p:nvSpPr>
          <p:cNvPr id="330" name="TextBox 329"/>
          <p:cNvSpPr txBox="1"/>
          <p:nvPr/>
        </p:nvSpPr>
        <p:spPr>
          <a:xfrm>
            <a:off x="4471416" y="5614415"/>
            <a:ext cx="1082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1000" b="0">
                <a:solidFill>
                  <a:srgbClr val="8C96A8"/>
                </a:solidFill>
                <a:latin typeface="Segoe UI"/>
              </a:rPr>
              <a:t>● </a:t>
            </a:r>
            <a:r>
              <a:rPr sz="950" b="0">
                <a:solidFill>
                  <a:srgbClr val="5B6475"/>
                </a:solidFill>
                <a:latin typeface="Segoe UI"/>
              </a:rPr>
              <a:t>Покой </a:t>
            </a:r>
            <a:r>
              <a:rPr sz="1000" b="0">
                <a:solidFill>
                  <a:srgbClr val="1B2333"/>
                </a:solidFill>
                <a:latin typeface="Segoe UI"/>
              </a:rPr>
              <a:t>—</a:t>
            </a:r>
          </a:p>
        </p:txBody>
      </p:sp>
      <p:sp>
        <p:nvSpPr>
          <p:cNvPr id="331" name="TextBox 330"/>
          <p:cNvSpPr txBox="1"/>
          <p:nvPr/>
        </p:nvSpPr>
        <p:spPr>
          <a:xfrm>
            <a:off x="5553456" y="5614415"/>
            <a:ext cx="1082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1000" b="0">
                <a:solidFill>
                  <a:srgbClr val="3C8A1E"/>
                </a:solidFill>
                <a:latin typeface="Segoe UI"/>
              </a:rPr>
              <a:t>● </a:t>
            </a:r>
            <a:r>
              <a:rPr sz="950" b="0">
                <a:solidFill>
                  <a:srgbClr val="5B6475"/>
                </a:solidFill>
                <a:latin typeface="Segoe UI"/>
              </a:rPr>
              <a:t>Ходьба </a:t>
            </a:r>
            <a:r>
              <a:rPr sz="1000" b="0">
                <a:solidFill>
                  <a:srgbClr val="1B2333"/>
                </a:solidFill>
                <a:latin typeface="Segoe UI"/>
              </a:rPr>
              <a:t>1,84</a:t>
            </a:r>
          </a:p>
        </p:txBody>
      </p:sp>
      <p:sp>
        <p:nvSpPr>
          <p:cNvPr id="332" name="TextBox 331"/>
          <p:cNvSpPr txBox="1"/>
          <p:nvPr/>
        </p:nvSpPr>
        <p:spPr>
          <a:xfrm>
            <a:off x="6635495" y="5614415"/>
            <a:ext cx="1082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1000" b="0">
                <a:solidFill>
                  <a:srgbClr val="D8602A"/>
                </a:solidFill>
                <a:latin typeface="Segoe UI"/>
              </a:rPr>
              <a:t>● </a:t>
            </a:r>
            <a:r>
              <a:rPr sz="950" b="0">
                <a:solidFill>
                  <a:srgbClr val="5B6475"/>
                </a:solidFill>
                <a:latin typeface="Segoe UI"/>
              </a:rPr>
              <a:t>Бег </a:t>
            </a:r>
            <a:r>
              <a:rPr sz="1000" b="1">
                <a:solidFill>
                  <a:srgbClr val="1B2333"/>
                </a:solidFill>
                <a:latin typeface="Segoe UI"/>
              </a:rPr>
              <a:t>2,69</a:t>
            </a:r>
          </a:p>
        </p:txBody>
      </p:sp>
      <p:sp>
        <p:nvSpPr>
          <p:cNvPr id="333" name="TextBox 332"/>
          <p:cNvSpPr txBox="1"/>
          <p:nvPr/>
        </p:nvSpPr>
        <p:spPr>
          <a:xfrm>
            <a:off x="4471416" y="5815583"/>
            <a:ext cx="1082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1000" b="0">
                <a:solidFill>
                  <a:srgbClr val="2D5FA8"/>
                </a:solidFill>
                <a:latin typeface="Segoe UI"/>
              </a:rPr>
              <a:t>● </a:t>
            </a:r>
            <a:r>
              <a:rPr sz="950" b="0">
                <a:solidFill>
                  <a:srgbClr val="5B6475"/>
                </a:solidFill>
                <a:latin typeface="Segoe UI"/>
              </a:rPr>
              <a:t>Подъём </a:t>
            </a:r>
            <a:r>
              <a:rPr sz="1000" b="1">
                <a:solidFill>
                  <a:srgbClr val="1B2333"/>
                </a:solidFill>
                <a:latin typeface="Segoe UI"/>
              </a:rPr>
              <a:t>1,60</a:t>
            </a:r>
          </a:p>
        </p:txBody>
      </p:sp>
      <p:sp>
        <p:nvSpPr>
          <p:cNvPr id="334" name="TextBox 333"/>
          <p:cNvSpPr txBox="1"/>
          <p:nvPr/>
        </p:nvSpPr>
        <p:spPr>
          <a:xfrm>
            <a:off x="5553456" y="5815583"/>
            <a:ext cx="1082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1000" b="0">
                <a:solidFill>
                  <a:srgbClr val="7888E0"/>
                </a:solidFill>
                <a:latin typeface="Segoe UI"/>
              </a:rPr>
              <a:t>● </a:t>
            </a:r>
            <a:r>
              <a:rPr sz="950" b="0">
                <a:solidFill>
                  <a:srgbClr val="5B6475"/>
                </a:solidFill>
                <a:latin typeface="Segoe UI"/>
              </a:rPr>
              <a:t>Спуск </a:t>
            </a:r>
            <a:r>
              <a:rPr sz="1000" b="0">
                <a:solidFill>
                  <a:srgbClr val="1B2333"/>
                </a:solidFill>
                <a:latin typeface="Segoe UI"/>
              </a:rPr>
              <a:t>1,91</a:t>
            </a:r>
          </a:p>
        </p:txBody>
      </p:sp>
      <p:sp>
        <p:nvSpPr>
          <p:cNvPr id="335" name="TextBox 334"/>
          <p:cNvSpPr txBox="1"/>
          <p:nvPr/>
        </p:nvSpPr>
        <p:spPr>
          <a:xfrm>
            <a:off x="6635495" y="5815583"/>
            <a:ext cx="1082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1000" b="0">
                <a:solidFill>
                  <a:srgbClr val="C08600"/>
                </a:solidFill>
                <a:latin typeface="Segoe UI"/>
              </a:rPr>
              <a:t>● </a:t>
            </a:r>
            <a:r>
              <a:rPr sz="950" b="0">
                <a:solidFill>
                  <a:srgbClr val="5B6475"/>
                </a:solidFill>
                <a:latin typeface="Segoe UI"/>
              </a:rPr>
              <a:t>Велосипед </a:t>
            </a:r>
            <a:r>
              <a:rPr sz="1000" b="0">
                <a:solidFill>
                  <a:srgbClr val="1B2333"/>
                </a:solidFill>
                <a:latin typeface="Segoe UI"/>
              </a:rPr>
              <a:t>1,57</a:t>
            </a:r>
          </a:p>
        </p:txBody>
      </p:sp>
      <p:sp>
        <p:nvSpPr>
          <p:cNvPr id="336" name="Rounded Rectangle 335"/>
          <p:cNvSpPr/>
          <p:nvPr/>
        </p:nvSpPr>
        <p:spPr>
          <a:xfrm>
            <a:off x="8065008" y="1938528"/>
            <a:ext cx="3575304" cy="4325112"/>
          </a:xfrm>
          <a:prstGeom prst="roundRect">
            <a:avLst>
              <a:gd name="adj" fmla="val 5000"/>
            </a:avLst>
          </a:prstGeom>
          <a:solidFill>
            <a:srgbClr val="F4F6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7" name="TextBox 336"/>
          <p:cNvSpPr txBox="1"/>
          <p:nvPr/>
        </p:nvSpPr>
        <p:spPr>
          <a:xfrm>
            <a:off x="8229600" y="2066544"/>
            <a:ext cx="32461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1300" b="1">
                <a:solidFill>
                  <a:srgbClr val="1B2333"/>
                </a:solidFill>
                <a:latin typeface="Segoe UI"/>
              </a:rPr>
              <a:t>Мощность главного пика</a:t>
            </a:r>
            <a:r>
              <a:rPr sz="1200" b="0">
                <a:solidFill>
                  <a:srgbClr val="5B6475"/>
                </a:solidFill>
                <a:latin typeface="Segoe UI"/>
              </a:rPr>
              <a:t>, м/с²</a:t>
            </a:r>
          </a:p>
        </p:txBody>
      </p:sp>
      <p:graphicFrame>
        <p:nvGraphicFramePr>
          <p:cNvPr id="338" name="Chart 337"/>
          <p:cNvGraphicFramePr>
            <a:graphicFrameLocks noGrp="1"/>
          </p:cNvGraphicFramePr>
          <p:nvPr/>
        </p:nvGraphicFramePr>
        <p:xfrm>
          <a:off x="8110728" y="2377440"/>
          <a:ext cx="3483864" cy="2450591"/>
        </p:xfrm>
        <a:graphic>
          <a:graphicData uri="http://schemas.openxmlformats.org/drawingml/2006/chart">
            <c:chart xmlns:c="http://schemas.openxmlformats.org/drawingml/2006/chart" r:id="rId11"/>
          </a:graphicData>
        </a:graphic>
      </p:graphicFrame>
      <p:sp>
        <p:nvSpPr>
          <p:cNvPr id="339" name="TextBox 338"/>
          <p:cNvSpPr txBox="1"/>
          <p:nvPr/>
        </p:nvSpPr>
        <p:spPr>
          <a:xfrm>
            <a:off x="8229600" y="4882895"/>
            <a:ext cx="32461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1B2333"/>
                </a:solidFill>
                <a:latin typeface="Segoe UI"/>
              </a:rPr>
              <a:t>У велосипеда пик втрое слабее, чем у ходьбы: педалирование не ударное</a:t>
            </a:r>
          </a:p>
        </p:txBody>
      </p:sp>
      <p:sp>
        <p:nvSpPr>
          <p:cNvPr id="340" name="TextBox 339"/>
          <p:cNvSpPr txBox="1"/>
          <p:nvPr/>
        </p:nvSpPr>
        <p:spPr>
          <a:xfrm>
            <a:off x="8229600" y="5614415"/>
            <a:ext cx="1082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1000" b="0">
                <a:solidFill>
                  <a:srgbClr val="8C96A8"/>
                </a:solidFill>
                <a:latin typeface="Segoe UI"/>
              </a:rPr>
              <a:t>● </a:t>
            </a:r>
            <a:r>
              <a:rPr sz="950" b="0">
                <a:solidFill>
                  <a:srgbClr val="5B6475"/>
                </a:solidFill>
                <a:latin typeface="Segoe UI"/>
              </a:rPr>
              <a:t>Покой </a:t>
            </a:r>
            <a:r>
              <a:rPr sz="1000" b="0">
                <a:solidFill>
                  <a:srgbClr val="1B2333"/>
                </a:solidFill>
                <a:latin typeface="Segoe UI"/>
              </a:rPr>
              <a:t>0,01</a:t>
            </a:r>
          </a:p>
        </p:txBody>
      </p:sp>
      <p:sp>
        <p:nvSpPr>
          <p:cNvPr id="341" name="TextBox 340"/>
          <p:cNvSpPr txBox="1"/>
          <p:nvPr/>
        </p:nvSpPr>
        <p:spPr>
          <a:xfrm>
            <a:off x="9311640" y="5614415"/>
            <a:ext cx="1082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1000" b="0">
                <a:solidFill>
                  <a:srgbClr val="3C8A1E"/>
                </a:solidFill>
                <a:latin typeface="Segoe UI"/>
              </a:rPr>
              <a:t>● </a:t>
            </a:r>
            <a:r>
              <a:rPr sz="950" b="0">
                <a:solidFill>
                  <a:srgbClr val="5B6475"/>
                </a:solidFill>
                <a:latin typeface="Segoe UI"/>
              </a:rPr>
              <a:t>Ходьба </a:t>
            </a:r>
            <a:r>
              <a:rPr sz="1000" b="0">
                <a:solidFill>
                  <a:srgbClr val="1B2333"/>
                </a:solidFill>
                <a:latin typeface="Segoe UI"/>
              </a:rPr>
              <a:t>1,42</a:t>
            </a:r>
          </a:p>
        </p:txBody>
      </p:sp>
      <p:sp>
        <p:nvSpPr>
          <p:cNvPr id="342" name="TextBox 341"/>
          <p:cNvSpPr txBox="1"/>
          <p:nvPr/>
        </p:nvSpPr>
        <p:spPr>
          <a:xfrm>
            <a:off x="10393680" y="5614415"/>
            <a:ext cx="1082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1000" b="0">
                <a:solidFill>
                  <a:srgbClr val="D8602A"/>
                </a:solidFill>
                <a:latin typeface="Segoe UI"/>
              </a:rPr>
              <a:t>● </a:t>
            </a:r>
            <a:r>
              <a:rPr sz="950" b="0">
                <a:solidFill>
                  <a:srgbClr val="5B6475"/>
                </a:solidFill>
                <a:latin typeface="Segoe UI"/>
              </a:rPr>
              <a:t>Бег </a:t>
            </a:r>
            <a:r>
              <a:rPr sz="1000" b="0">
                <a:solidFill>
                  <a:srgbClr val="1B2333"/>
                </a:solidFill>
                <a:latin typeface="Segoe UI"/>
              </a:rPr>
              <a:t>3,46</a:t>
            </a:r>
          </a:p>
        </p:txBody>
      </p:sp>
      <p:sp>
        <p:nvSpPr>
          <p:cNvPr id="343" name="TextBox 342"/>
          <p:cNvSpPr txBox="1"/>
          <p:nvPr/>
        </p:nvSpPr>
        <p:spPr>
          <a:xfrm>
            <a:off x="8229600" y="5815583"/>
            <a:ext cx="1082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1000" b="0">
                <a:solidFill>
                  <a:srgbClr val="2D5FA8"/>
                </a:solidFill>
                <a:latin typeface="Segoe UI"/>
              </a:rPr>
              <a:t>● </a:t>
            </a:r>
            <a:r>
              <a:rPr sz="950" b="0">
                <a:solidFill>
                  <a:srgbClr val="5B6475"/>
                </a:solidFill>
                <a:latin typeface="Segoe UI"/>
              </a:rPr>
              <a:t>Подъём </a:t>
            </a:r>
            <a:r>
              <a:rPr sz="1000" b="0">
                <a:solidFill>
                  <a:srgbClr val="1B2333"/>
                </a:solidFill>
                <a:latin typeface="Segoe UI"/>
              </a:rPr>
              <a:t>1,33</a:t>
            </a:r>
          </a:p>
        </p:txBody>
      </p:sp>
      <p:sp>
        <p:nvSpPr>
          <p:cNvPr id="344" name="TextBox 343"/>
          <p:cNvSpPr txBox="1"/>
          <p:nvPr/>
        </p:nvSpPr>
        <p:spPr>
          <a:xfrm>
            <a:off x="9311640" y="5815583"/>
            <a:ext cx="1082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1000" b="0">
                <a:solidFill>
                  <a:srgbClr val="7888E0"/>
                </a:solidFill>
                <a:latin typeface="Segoe UI"/>
              </a:rPr>
              <a:t>● </a:t>
            </a:r>
            <a:r>
              <a:rPr sz="950" b="0">
                <a:solidFill>
                  <a:srgbClr val="5B6475"/>
                </a:solidFill>
                <a:latin typeface="Segoe UI"/>
              </a:rPr>
              <a:t>Спуск </a:t>
            </a:r>
            <a:r>
              <a:rPr sz="1000" b="0">
                <a:solidFill>
                  <a:srgbClr val="1B2333"/>
                </a:solidFill>
                <a:latin typeface="Segoe UI"/>
              </a:rPr>
              <a:t>1,76</a:t>
            </a:r>
          </a:p>
        </p:txBody>
      </p:sp>
      <p:sp>
        <p:nvSpPr>
          <p:cNvPr id="345" name="TextBox 344"/>
          <p:cNvSpPr txBox="1"/>
          <p:nvPr/>
        </p:nvSpPr>
        <p:spPr>
          <a:xfrm>
            <a:off x="10393680" y="5815583"/>
            <a:ext cx="1082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1000" b="0">
                <a:solidFill>
                  <a:srgbClr val="C08600"/>
                </a:solidFill>
                <a:latin typeface="Segoe UI"/>
              </a:rPr>
              <a:t>● </a:t>
            </a:r>
            <a:r>
              <a:rPr sz="950" b="0">
                <a:solidFill>
                  <a:srgbClr val="5B6475"/>
                </a:solidFill>
                <a:latin typeface="Segoe UI"/>
              </a:rPr>
              <a:t>Велосипед </a:t>
            </a:r>
            <a:r>
              <a:rPr sz="1000" b="1">
                <a:solidFill>
                  <a:srgbClr val="1B2333"/>
                </a:solidFill>
                <a:latin typeface="Segoe UI"/>
              </a:rPr>
              <a:t>0,46</a:t>
            </a:r>
          </a:p>
        </p:txBody>
      </p:sp>
      <p:sp>
        <p:nvSpPr>
          <p:cNvPr id="346" name="TextBox 345"/>
          <p:cNvSpPr txBox="1"/>
          <p:nvPr/>
        </p:nvSpPr>
        <p:spPr>
          <a:xfrm>
            <a:off x="548640" y="6327648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950" b="0">
                <a:solidFill>
                  <a:srgbClr val="5B6475"/>
                </a:solidFill>
                <a:latin typeface="Segoe UI"/>
              </a:rPr>
              <a:t>Под графиком — медианы классов; жирным — классы, которые признак отделяет лучше всего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PlaceHolder 1"/>
          <p:cNvSpPr>
            <a:spLocks noGrp="1"/>
          </p:cNvSpPr>
          <p:nvPr>
            <p:ph type="title" hasCustomPrompt="1"/>
          </p:nvPr>
        </p:nvSpPr>
        <p:spPr>
          <a:xfrm>
            <a:off x="548640" y="274320"/>
            <a:ext cx="11091240" cy="658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00" b="1" u="none" strike="noStrike">
                <a:solidFill>
                  <a:schemeClr val="dk1"/>
                </a:solidFill>
                <a:effectLst/>
                <a:uFillTx/>
                <a:latin typeface="Segoe UI"/>
              </a:rPr>
              <a:t>Сигнатуры активностей (2/2): спектр, вращение, наклон</a:t>
            </a:r>
            <a:endParaRPr lang="ru-MD" sz="3000" b="0" u="none" strike="noStrike">
              <a:solidFill>
                <a:schemeClr val="dk1"/>
              </a:solidFill>
              <a:effectLst/>
              <a:uFillTx/>
              <a:latin typeface="Segoe UI"/>
            </a:endParaRPr>
          </a:p>
        </p:txBody>
      </p:sp>
      <p:sp>
        <p:nvSpPr>
          <p:cNvPr id="299" name="PlaceHolder 2"/>
          <p:cNvSpPr>
            <a:spLocks noGrp="1"/>
          </p:cNvSpPr>
          <p:nvPr>
            <p:ph hasCustomPrompt="1"/>
          </p:nvPr>
        </p:nvSpPr>
        <p:spPr>
          <a:xfrm>
            <a:off x="548640" y="914400"/>
            <a:ext cx="11091240" cy="411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 defTabSz="914400">
              <a:lnSpc>
                <a:spcPct val="100000"/>
              </a:lnSpc>
              <a:spcBef>
                <a:spcPts val="300"/>
              </a:spcBef>
              <a:buNone/>
              <a:tabLst>
                <a:tab pos="0" algn="l"/>
              </a:tabLst>
            </a:pPr>
            <a:r>
              <a:rPr lang="en-US" sz="1500" b="0" u="none" strike="noStrike">
                <a:solidFill>
                  <a:schemeClr val="dk2"/>
                </a:solidFill>
                <a:effectLst/>
                <a:uFillTx/>
                <a:latin typeface="Segoe UI"/>
              </a:rPr>
              <a:t>Распределения по 181 559 окнам: доля окон по значению признака, каждая кривая нормирована на свой максимум</a:t>
            </a:r>
            <a:endParaRPr lang="ru-MD" sz="1500" b="0" u="none" strike="noStrike">
              <a:solidFill>
                <a:schemeClr val="dk1"/>
              </a:solidFill>
              <a:effectLst/>
              <a:uFillTx/>
              <a:latin typeface="Segoe UI"/>
            </a:endParaRPr>
          </a:p>
        </p:txBody>
      </p:sp>
      <p:sp>
        <p:nvSpPr>
          <p:cNvPr id="374" name="PlaceHolder 3"/>
          <p:cNvSpPr>
            <a:spLocks noGrp="1"/>
          </p:cNvSpPr>
          <p:nvPr>
            <p:ph type="sldNum" idx="15"/>
          </p:nvPr>
        </p:nvSpPr>
        <p:spPr>
          <a:xfrm>
            <a:off x="11274480" y="6446520"/>
            <a:ext cx="456840" cy="255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000" b="0" u="none" strike="noStrike">
                <a:solidFill>
                  <a:schemeClr val="dk2"/>
                </a:solidFill>
                <a:effectLst/>
                <a:uFillTx/>
                <a:latin typeface="Segoe U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B25BE7D-80B8-46E3-B487-34FA0EE3EB0F}" type="slidenum">
              <a:rPr lang="en-US" sz="1000" b="0" u="none" strike="noStrike">
                <a:solidFill>
                  <a:schemeClr val="dk2"/>
                </a:solidFill>
                <a:effectLst/>
                <a:uFillTx/>
                <a:latin typeface="Segoe UI"/>
              </a:rPr>
              <a:t>&lt;номер&gt;</a:t>
            </a:fld>
            <a:endParaRPr lang="ru-MD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cxnSp>
        <p:nvCxnSpPr>
          <p:cNvPr id="375" name="Connector 374"/>
          <p:cNvCxnSpPr/>
          <p:nvPr/>
        </p:nvCxnSpPr>
        <p:spPr>
          <a:xfrm>
            <a:off x="548640" y="1572768"/>
            <a:ext cx="310896" cy="0"/>
          </a:xfrm>
          <a:prstGeom prst="line">
            <a:avLst/>
          </a:prstGeom>
          <a:ln w="38100">
            <a:solidFill>
              <a:srgbClr val="8C96A8"/>
            </a:solidFill>
            <a:prstDash val="dash"/>
          </a:ln>
        </p:spPr>
      </p:cxnSp>
      <p:pic>
        <p:nvPicPr>
          <p:cNvPr id="376" name="Picture 37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" y="1435608"/>
            <a:ext cx="274320" cy="274320"/>
          </a:xfrm>
          <a:prstGeom prst="rect">
            <a:avLst/>
          </a:prstGeom>
        </p:spPr>
      </p:pic>
      <p:sp>
        <p:nvSpPr>
          <p:cNvPr id="377" name="TextBox 376"/>
          <p:cNvSpPr txBox="1"/>
          <p:nvPr/>
        </p:nvSpPr>
        <p:spPr>
          <a:xfrm>
            <a:off x="1280160" y="1417320"/>
            <a:ext cx="1071372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250" b="1">
                <a:solidFill>
                  <a:srgbClr val="1B2333"/>
                </a:solidFill>
                <a:latin typeface="Segoe UI"/>
              </a:rPr>
              <a:t>Покой</a:t>
            </a:r>
          </a:p>
        </p:txBody>
      </p:sp>
      <p:sp>
        <p:nvSpPr>
          <p:cNvPr id="378" name="TextBox 377"/>
          <p:cNvSpPr txBox="1"/>
          <p:nvPr/>
        </p:nvSpPr>
        <p:spPr>
          <a:xfrm>
            <a:off x="548640" y="1764792"/>
            <a:ext cx="173888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950" b="0">
                <a:solidFill>
                  <a:srgbClr val="5B6475"/>
                </a:solidFill>
                <a:latin typeface="Segoe UI"/>
              </a:rPr>
              <a:t>ускорение — шум датчика</a:t>
            </a:r>
          </a:p>
        </p:txBody>
      </p:sp>
      <p:cxnSp>
        <p:nvCxnSpPr>
          <p:cNvPr id="379" name="Connector 378"/>
          <p:cNvCxnSpPr/>
          <p:nvPr/>
        </p:nvCxnSpPr>
        <p:spPr>
          <a:xfrm>
            <a:off x="2397252" y="1572768"/>
            <a:ext cx="310896" cy="0"/>
          </a:xfrm>
          <a:prstGeom prst="line">
            <a:avLst/>
          </a:prstGeom>
          <a:ln w="38100">
            <a:solidFill>
              <a:srgbClr val="3C8A1E"/>
            </a:solidFill>
          </a:ln>
        </p:spPr>
      </p:cxnSp>
      <p:pic>
        <p:nvPicPr>
          <p:cNvPr id="380" name="Picture 37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81300" y="1435608"/>
            <a:ext cx="274320" cy="274320"/>
          </a:xfrm>
          <a:prstGeom prst="rect">
            <a:avLst/>
          </a:prstGeom>
        </p:spPr>
      </p:pic>
      <p:sp>
        <p:nvSpPr>
          <p:cNvPr id="381" name="TextBox 380"/>
          <p:cNvSpPr txBox="1"/>
          <p:nvPr/>
        </p:nvSpPr>
        <p:spPr>
          <a:xfrm>
            <a:off x="3128772" y="1417320"/>
            <a:ext cx="1071372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250" b="1">
                <a:solidFill>
                  <a:srgbClr val="1B2333"/>
                </a:solidFill>
                <a:latin typeface="Segoe UI"/>
              </a:rPr>
              <a:t>Ходьба</a:t>
            </a:r>
          </a:p>
        </p:txBody>
      </p:sp>
      <p:sp>
        <p:nvSpPr>
          <p:cNvPr id="382" name="TextBox 381"/>
          <p:cNvSpPr txBox="1"/>
          <p:nvPr/>
        </p:nvSpPr>
        <p:spPr>
          <a:xfrm>
            <a:off x="2397252" y="1764792"/>
            <a:ext cx="173888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950" b="0">
                <a:solidFill>
                  <a:srgbClr val="5B6475"/>
                </a:solidFill>
                <a:latin typeface="Segoe UI"/>
              </a:rPr>
              <a:t>один пик ≈ 110 шаг/мин</a:t>
            </a:r>
          </a:p>
        </p:txBody>
      </p:sp>
      <p:cxnSp>
        <p:nvCxnSpPr>
          <p:cNvPr id="383" name="Connector 382"/>
          <p:cNvCxnSpPr/>
          <p:nvPr/>
        </p:nvCxnSpPr>
        <p:spPr>
          <a:xfrm>
            <a:off x="4245864" y="1572768"/>
            <a:ext cx="310896" cy="0"/>
          </a:xfrm>
          <a:prstGeom prst="line">
            <a:avLst/>
          </a:prstGeom>
          <a:ln w="38100">
            <a:solidFill>
              <a:srgbClr val="D8602A"/>
            </a:solidFill>
          </a:ln>
        </p:spPr>
      </p:cxnSp>
      <p:pic>
        <p:nvPicPr>
          <p:cNvPr id="384" name="Picture 38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29912" y="1435608"/>
            <a:ext cx="274320" cy="274320"/>
          </a:xfrm>
          <a:prstGeom prst="rect">
            <a:avLst/>
          </a:prstGeom>
        </p:spPr>
      </p:pic>
      <p:sp>
        <p:nvSpPr>
          <p:cNvPr id="385" name="TextBox 384"/>
          <p:cNvSpPr txBox="1"/>
          <p:nvPr/>
        </p:nvSpPr>
        <p:spPr>
          <a:xfrm>
            <a:off x="4977384" y="1417320"/>
            <a:ext cx="1071372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250" b="1">
                <a:solidFill>
                  <a:srgbClr val="1B2333"/>
                </a:solidFill>
                <a:latin typeface="Segoe UI"/>
              </a:rPr>
              <a:t>Бег</a:t>
            </a:r>
          </a:p>
        </p:txBody>
      </p:sp>
      <p:sp>
        <p:nvSpPr>
          <p:cNvPr id="386" name="TextBox 385"/>
          <p:cNvSpPr txBox="1"/>
          <p:nvPr/>
        </p:nvSpPr>
        <p:spPr>
          <a:xfrm>
            <a:off x="4245864" y="1764792"/>
            <a:ext cx="173888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950" b="0">
                <a:solidFill>
                  <a:srgbClr val="5B6475"/>
                </a:solidFill>
                <a:latin typeface="Segoe UI"/>
              </a:rPr>
              <a:t>темп ×1,5, удар пятки: амплитуда ×2,3</a:t>
            </a:r>
          </a:p>
        </p:txBody>
      </p:sp>
      <p:cxnSp>
        <p:nvCxnSpPr>
          <p:cNvPr id="387" name="Connector 386"/>
          <p:cNvCxnSpPr/>
          <p:nvPr/>
        </p:nvCxnSpPr>
        <p:spPr>
          <a:xfrm>
            <a:off x="6094476" y="1572768"/>
            <a:ext cx="310896" cy="0"/>
          </a:xfrm>
          <a:prstGeom prst="line">
            <a:avLst/>
          </a:prstGeom>
          <a:ln w="38100">
            <a:solidFill>
              <a:srgbClr val="2D5FA8"/>
            </a:solidFill>
          </a:ln>
        </p:spPr>
      </p:cxnSp>
      <p:pic>
        <p:nvPicPr>
          <p:cNvPr id="388" name="Picture 38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78524" y="1435608"/>
            <a:ext cx="274320" cy="274320"/>
          </a:xfrm>
          <a:prstGeom prst="rect">
            <a:avLst/>
          </a:prstGeom>
        </p:spPr>
      </p:pic>
      <p:sp>
        <p:nvSpPr>
          <p:cNvPr id="389" name="TextBox 388"/>
          <p:cNvSpPr txBox="1"/>
          <p:nvPr/>
        </p:nvSpPr>
        <p:spPr>
          <a:xfrm>
            <a:off x="6825996" y="1417320"/>
            <a:ext cx="1071372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250" b="1">
                <a:solidFill>
                  <a:srgbClr val="1B2333"/>
                </a:solidFill>
                <a:latin typeface="Segoe UI"/>
              </a:rPr>
              <a:t>Подъём</a:t>
            </a:r>
          </a:p>
        </p:txBody>
      </p:sp>
      <p:sp>
        <p:nvSpPr>
          <p:cNvPr id="390" name="TextBox 389"/>
          <p:cNvSpPr txBox="1"/>
          <p:nvPr/>
        </p:nvSpPr>
        <p:spPr>
          <a:xfrm>
            <a:off x="6094476" y="1764792"/>
            <a:ext cx="173888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950" b="0">
                <a:solidFill>
                  <a:srgbClr val="5B6475"/>
                </a:solidFill>
                <a:latin typeface="Segoe UI"/>
              </a:rPr>
              <a:t>темп ниже (≈ 96/мин), толчок вверх</a:t>
            </a:r>
          </a:p>
        </p:txBody>
      </p:sp>
      <p:cxnSp>
        <p:nvCxnSpPr>
          <p:cNvPr id="391" name="Connector 390"/>
          <p:cNvCxnSpPr/>
          <p:nvPr/>
        </p:nvCxnSpPr>
        <p:spPr>
          <a:xfrm>
            <a:off x="7943088" y="1572768"/>
            <a:ext cx="310896" cy="0"/>
          </a:xfrm>
          <a:prstGeom prst="line">
            <a:avLst/>
          </a:prstGeom>
          <a:ln w="38100">
            <a:solidFill>
              <a:srgbClr val="7888E0"/>
            </a:solidFill>
          </a:ln>
        </p:spPr>
      </p:cxnSp>
      <p:pic>
        <p:nvPicPr>
          <p:cNvPr id="392" name="Picture 39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27136" y="1435608"/>
            <a:ext cx="274320" cy="274320"/>
          </a:xfrm>
          <a:prstGeom prst="rect">
            <a:avLst/>
          </a:prstGeom>
        </p:spPr>
      </p:pic>
      <p:sp>
        <p:nvSpPr>
          <p:cNvPr id="393" name="TextBox 392"/>
          <p:cNvSpPr txBox="1"/>
          <p:nvPr/>
        </p:nvSpPr>
        <p:spPr>
          <a:xfrm>
            <a:off x="8674608" y="1417320"/>
            <a:ext cx="1071372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250" b="1">
                <a:solidFill>
                  <a:srgbClr val="1B2333"/>
                </a:solidFill>
                <a:latin typeface="Segoe UI"/>
              </a:rPr>
              <a:t>Спуск</a:t>
            </a:r>
          </a:p>
        </p:txBody>
      </p:sp>
      <p:sp>
        <p:nvSpPr>
          <p:cNvPr id="394" name="TextBox 393"/>
          <p:cNvSpPr txBox="1"/>
          <p:nvPr/>
        </p:nvSpPr>
        <p:spPr>
          <a:xfrm>
            <a:off x="7943088" y="1764792"/>
            <a:ext cx="173888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950" b="0">
                <a:solidFill>
                  <a:srgbClr val="5B6475"/>
                </a:solidFill>
                <a:latin typeface="Segoe UI"/>
              </a:rPr>
              <a:t>удар о ступень: амплитуда +30 %</a:t>
            </a:r>
          </a:p>
        </p:txBody>
      </p:sp>
      <p:cxnSp>
        <p:nvCxnSpPr>
          <p:cNvPr id="395" name="Connector 394"/>
          <p:cNvCxnSpPr/>
          <p:nvPr/>
        </p:nvCxnSpPr>
        <p:spPr>
          <a:xfrm>
            <a:off x="9791700" y="1572768"/>
            <a:ext cx="310896" cy="0"/>
          </a:xfrm>
          <a:prstGeom prst="line">
            <a:avLst/>
          </a:prstGeom>
          <a:ln w="38100">
            <a:solidFill>
              <a:srgbClr val="C08600"/>
            </a:solidFill>
          </a:ln>
        </p:spPr>
      </p:cxnSp>
      <p:pic>
        <p:nvPicPr>
          <p:cNvPr id="396" name="Picture 39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75748" y="1435608"/>
            <a:ext cx="274320" cy="274320"/>
          </a:xfrm>
          <a:prstGeom prst="rect">
            <a:avLst/>
          </a:prstGeom>
        </p:spPr>
      </p:pic>
      <p:sp>
        <p:nvSpPr>
          <p:cNvPr id="397" name="TextBox 396"/>
          <p:cNvSpPr txBox="1"/>
          <p:nvPr/>
        </p:nvSpPr>
        <p:spPr>
          <a:xfrm>
            <a:off x="10523220" y="1417320"/>
            <a:ext cx="1071372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250" b="1">
                <a:solidFill>
                  <a:srgbClr val="1B2333"/>
                </a:solidFill>
                <a:latin typeface="Segoe UI"/>
              </a:rPr>
              <a:t>Велосипед</a:t>
            </a:r>
          </a:p>
        </p:txBody>
      </p:sp>
      <p:sp>
        <p:nvSpPr>
          <p:cNvPr id="398" name="TextBox 397"/>
          <p:cNvSpPr txBox="1"/>
          <p:nvPr/>
        </p:nvSpPr>
        <p:spPr>
          <a:xfrm>
            <a:off x="9791700" y="1764792"/>
            <a:ext cx="173888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950" b="0">
                <a:solidFill>
                  <a:srgbClr val="5B6475"/>
                </a:solidFill>
                <a:latin typeface="Segoe UI"/>
              </a:rPr>
              <a:t>педали 1–1,5 Гц, ударов нет, спектр размыт</a:t>
            </a:r>
          </a:p>
        </p:txBody>
      </p:sp>
      <p:sp>
        <p:nvSpPr>
          <p:cNvPr id="399" name="Rounded Rectangle 398"/>
          <p:cNvSpPr/>
          <p:nvPr/>
        </p:nvSpPr>
        <p:spPr>
          <a:xfrm>
            <a:off x="548640" y="2286000"/>
            <a:ext cx="3575304" cy="3977639"/>
          </a:xfrm>
          <a:prstGeom prst="roundRect">
            <a:avLst>
              <a:gd name="adj" fmla="val 5000"/>
            </a:avLst>
          </a:prstGeom>
          <a:solidFill>
            <a:srgbClr val="F4F6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0" name="TextBox 399"/>
          <p:cNvSpPr txBox="1"/>
          <p:nvPr/>
        </p:nvSpPr>
        <p:spPr>
          <a:xfrm>
            <a:off x="713232" y="2414016"/>
            <a:ext cx="32461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1300" b="1">
                <a:solidFill>
                  <a:srgbClr val="1B2333"/>
                </a:solidFill>
                <a:latin typeface="Segoe UI"/>
              </a:rPr>
              <a:t>Спектральная энтропия</a:t>
            </a:r>
            <a:r>
              <a:rPr sz="1200" b="0">
                <a:solidFill>
                  <a:srgbClr val="5B6475"/>
                </a:solidFill>
                <a:latin typeface="Segoe UI"/>
              </a:rPr>
              <a:t>, нат</a:t>
            </a:r>
          </a:p>
        </p:txBody>
      </p:sp>
      <p:graphicFrame>
        <p:nvGraphicFramePr>
          <p:cNvPr id="401" name="Chart 400"/>
          <p:cNvGraphicFramePr>
            <a:graphicFrameLocks noGrp="1"/>
          </p:cNvGraphicFramePr>
          <p:nvPr/>
        </p:nvGraphicFramePr>
        <p:xfrm>
          <a:off x="594360" y="2724912"/>
          <a:ext cx="3483864" cy="2103120"/>
        </p:xfrm>
        <a:graphic>
          <a:graphicData uri="http://schemas.openxmlformats.org/drawingml/2006/chart">
            <c:chart xmlns:c="http://schemas.openxmlformats.org/drawingml/2006/chart" r:id="rId9"/>
          </a:graphicData>
        </a:graphic>
      </p:graphicFrame>
      <p:sp>
        <p:nvSpPr>
          <p:cNvPr id="402" name="TextBox 401"/>
          <p:cNvSpPr txBox="1"/>
          <p:nvPr/>
        </p:nvSpPr>
        <p:spPr>
          <a:xfrm>
            <a:off x="713232" y="4882895"/>
            <a:ext cx="32461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1B2333"/>
                </a:solidFill>
                <a:latin typeface="Segoe UI"/>
              </a:rPr>
              <a:t>Низкая у ритмичных движений: у бега энергия в одном пике, у покоя и велосипеда спектр размыт</a:t>
            </a:r>
          </a:p>
        </p:txBody>
      </p:sp>
      <p:sp>
        <p:nvSpPr>
          <p:cNvPr id="403" name="TextBox 402"/>
          <p:cNvSpPr txBox="1"/>
          <p:nvPr/>
        </p:nvSpPr>
        <p:spPr>
          <a:xfrm>
            <a:off x="713232" y="5614415"/>
            <a:ext cx="1082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1000" b="0">
                <a:solidFill>
                  <a:srgbClr val="8C96A8"/>
                </a:solidFill>
                <a:latin typeface="Segoe UI"/>
              </a:rPr>
              <a:t>● </a:t>
            </a:r>
            <a:r>
              <a:rPr sz="950" b="0">
                <a:solidFill>
                  <a:srgbClr val="5B6475"/>
                </a:solidFill>
                <a:latin typeface="Segoe UI"/>
              </a:rPr>
              <a:t>Покой </a:t>
            </a:r>
            <a:r>
              <a:rPr sz="1000" b="0">
                <a:solidFill>
                  <a:srgbClr val="1B2333"/>
                </a:solidFill>
                <a:latin typeface="Segoe UI"/>
              </a:rPr>
              <a:t>2,05</a:t>
            </a:r>
          </a:p>
        </p:txBody>
      </p:sp>
      <p:sp>
        <p:nvSpPr>
          <p:cNvPr id="404" name="TextBox 403"/>
          <p:cNvSpPr txBox="1"/>
          <p:nvPr/>
        </p:nvSpPr>
        <p:spPr>
          <a:xfrm>
            <a:off x="1795272" y="5614415"/>
            <a:ext cx="1082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1000" b="0">
                <a:solidFill>
                  <a:srgbClr val="3C8A1E"/>
                </a:solidFill>
                <a:latin typeface="Segoe UI"/>
              </a:rPr>
              <a:t>● </a:t>
            </a:r>
            <a:r>
              <a:rPr sz="950" b="0">
                <a:solidFill>
                  <a:srgbClr val="5B6475"/>
                </a:solidFill>
                <a:latin typeface="Segoe UI"/>
              </a:rPr>
              <a:t>Ходьба </a:t>
            </a:r>
            <a:r>
              <a:rPr sz="1000" b="0">
                <a:solidFill>
                  <a:srgbClr val="1B2333"/>
                </a:solidFill>
                <a:latin typeface="Segoe UI"/>
              </a:rPr>
              <a:t>1,65</a:t>
            </a:r>
          </a:p>
        </p:txBody>
      </p:sp>
      <p:sp>
        <p:nvSpPr>
          <p:cNvPr id="405" name="TextBox 404"/>
          <p:cNvSpPr txBox="1"/>
          <p:nvPr/>
        </p:nvSpPr>
        <p:spPr>
          <a:xfrm>
            <a:off x="2877312" y="5614415"/>
            <a:ext cx="1082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1000" b="0">
                <a:solidFill>
                  <a:srgbClr val="D8602A"/>
                </a:solidFill>
                <a:latin typeface="Segoe UI"/>
              </a:rPr>
              <a:t>● </a:t>
            </a:r>
            <a:r>
              <a:rPr sz="950" b="0">
                <a:solidFill>
                  <a:srgbClr val="5B6475"/>
                </a:solidFill>
                <a:latin typeface="Segoe UI"/>
              </a:rPr>
              <a:t>Бег </a:t>
            </a:r>
            <a:r>
              <a:rPr sz="1000" b="0">
                <a:solidFill>
                  <a:srgbClr val="1B2333"/>
                </a:solidFill>
                <a:latin typeface="Segoe UI"/>
              </a:rPr>
              <a:t>1,33</a:t>
            </a:r>
          </a:p>
        </p:txBody>
      </p:sp>
      <p:sp>
        <p:nvSpPr>
          <p:cNvPr id="406" name="TextBox 405"/>
          <p:cNvSpPr txBox="1"/>
          <p:nvPr/>
        </p:nvSpPr>
        <p:spPr>
          <a:xfrm>
            <a:off x="713232" y="5815583"/>
            <a:ext cx="1082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1000" b="0">
                <a:solidFill>
                  <a:srgbClr val="2D5FA8"/>
                </a:solidFill>
                <a:latin typeface="Segoe UI"/>
              </a:rPr>
              <a:t>● </a:t>
            </a:r>
            <a:r>
              <a:rPr sz="950" b="0">
                <a:solidFill>
                  <a:srgbClr val="5B6475"/>
                </a:solidFill>
                <a:latin typeface="Segoe UI"/>
              </a:rPr>
              <a:t>Подъём </a:t>
            </a:r>
            <a:r>
              <a:rPr sz="1000" b="0">
                <a:solidFill>
                  <a:srgbClr val="1B2333"/>
                </a:solidFill>
                <a:latin typeface="Segoe UI"/>
              </a:rPr>
              <a:t>1,72</a:t>
            </a:r>
          </a:p>
        </p:txBody>
      </p:sp>
      <p:sp>
        <p:nvSpPr>
          <p:cNvPr id="407" name="TextBox 406"/>
          <p:cNvSpPr txBox="1"/>
          <p:nvPr/>
        </p:nvSpPr>
        <p:spPr>
          <a:xfrm>
            <a:off x="1795272" y="5815583"/>
            <a:ext cx="1082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1000" b="0">
                <a:solidFill>
                  <a:srgbClr val="7888E0"/>
                </a:solidFill>
                <a:latin typeface="Segoe UI"/>
              </a:rPr>
              <a:t>● </a:t>
            </a:r>
            <a:r>
              <a:rPr sz="950" b="0">
                <a:solidFill>
                  <a:srgbClr val="5B6475"/>
                </a:solidFill>
                <a:latin typeface="Segoe UI"/>
              </a:rPr>
              <a:t>Спуск </a:t>
            </a:r>
            <a:r>
              <a:rPr sz="1000" b="0">
                <a:solidFill>
                  <a:srgbClr val="1B2333"/>
                </a:solidFill>
                <a:latin typeface="Segoe UI"/>
              </a:rPr>
              <a:t>1,70</a:t>
            </a:r>
          </a:p>
        </p:txBody>
      </p:sp>
      <p:sp>
        <p:nvSpPr>
          <p:cNvPr id="408" name="TextBox 407"/>
          <p:cNvSpPr txBox="1"/>
          <p:nvPr/>
        </p:nvSpPr>
        <p:spPr>
          <a:xfrm>
            <a:off x="2877312" y="5815583"/>
            <a:ext cx="1082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1000" b="0">
                <a:solidFill>
                  <a:srgbClr val="C08600"/>
                </a:solidFill>
                <a:latin typeface="Segoe UI"/>
              </a:rPr>
              <a:t>● </a:t>
            </a:r>
            <a:r>
              <a:rPr sz="950" b="0">
                <a:solidFill>
                  <a:srgbClr val="5B6475"/>
                </a:solidFill>
                <a:latin typeface="Segoe UI"/>
              </a:rPr>
              <a:t>Велосипед </a:t>
            </a:r>
            <a:r>
              <a:rPr sz="1000" b="0">
                <a:solidFill>
                  <a:srgbClr val="1B2333"/>
                </a:solidFill>
                <a:latin typeface="Segoe UI"/>
              </a:rPr>
              <a:t>1,93</a:t>
            </a:r>
          </a:p>
        </p:txBody>
      </p:sp>
      <p:sp>
        <p:nvSpPr>
          <p:cNvPr id="409" name="Rounded Rectangle 408"/>
          <p:cNvSpPr/>
          <p:nvPr/>
        </p:nvSpPr>
        <p:spPr>
          <a:xfrm>
            <a:off x="4306824" y="2286000"/>
            <a:ext cx="3575304" cy="3977639"/>
          </a:xfrm>
          <a:prstGeom prst="roundRect">
            <a:avLst>
              <a:gd name="adj" fmla="val 5000"/>
            </a:avLst>
          </a:prstGeom>
          <a:solidFill>
            <a:srgbClr val="F4F6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0" name="TextBox 409"/>
          <p:cNvSpPr txBox="1"/>
          <p:nvPr/>
        </p:nvSpPr>
        <p:spPr>
          <a:xfrm>
            <a:off x="4471416" y="2414016"/>
            <a:ext cx="32461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1300" b="1">
                <a:solidFill>
                  <a:srgbClr val="1B2333"/>
                </a:solidFill>
                <a:latin typeface="Segoe UI"/>
              </a:rPr>
              <a:t>Среднее |ω|</a:t>
            </a:r>
            <a:r>
              <a:rPr sz="1200" b="0">
                <a:solidFill>
                  <a:srgbClr val="5B6475"/>
                </a:solidFill>
                <a:latin typeface="Segoe UI"/>
              </a:rPr>
              <a:t>, рад/с</a:t>
            </a:r>
          </a:p>
        </p:txBody>
      </p:sp>
      <p:graphicFrame>
        <p:nvGraphicFramePr>
          <p:cNvPr id="411" name="Chart 410"/>
          <p:cNvGraphicFramePr>
            <a:graphicFrameLocks noGrp="1"/>
          </p:cNvGraphicFramePr>
          <p:nvPr/>
        </p:nvGraphicFramePr>
        <p:xfrm>
          <a:off x="4352544" y="2724912"/>
          <a:ext cx="3483864" cy="2103120"/>
        </p:xfrm>
        <a:graphic>
          <a:graphicData uri="http://schemas.openxmlformats.org/drawingml/2006/chart">
            <c:chart xmlns:c="http://schemas.openxmlformats.org/drawingml/2006/chart" r:id="rId10"/>
          </a:graphicData>
        </a:graphic>
      </p:graphicFrame>
      <p:sp>
        <p:nvSpPr>
          <p:cNvPr id="412" name="TextBox 411"/>
          <p:cNvSpPr txBox="1"/>
          <p:nvPr/>
        </p:nvSpPr>
        <p:spPr>
          <a:xfrm>
            <a:off x="4471416" y="4882895"/>
            <a:ext cx="32461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1B2333"/>
                </a:solidFill>
                <a:latin typeface="Segoe UI"/>
              </a:rPr>
              <a:t>Вращение повторяет амплитуду: у покоя около нуля, у бега — максимум</a:t>
            </a:r>
          </a:p>
        </p:txBody>
      </p:sp>
      <p:sp>
        <p:nvSpPr>
          <p:cNvPr id="413" name="TextBox 412"/>
          <p:cNvSpPr txBox="1"/>
          <p:nvPr/>
        </p:nvSpPr>
        <p:spPr>
          <a:xfrm>
            <a:off x="4471416" y="5614415"/>
            <a:ext cx="1082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1000" b="0">
                <a:solidFill>
                  <a:srgbClr val="8C96A8"/>
                </a:solidFill>
                <a:latin typeface="Segoe UI"/>
              </a:rPr>
              <a:t>● </a:t>
            </a:r>
            <a:r>
              <a:rPr sz="950" b="0">
                <a:solidFill>
                  <a:srgbClr val="5B6475"/>
                </a:solidFill>
                <a:latin typeface="Segoe UI"/>
              </a:rPr>
              <a:t>Покой </a:t>
            </a:r>
            <a:r>
              <a:rPr sz="1000" b="0">
                <a:solidFill>
                  <a:srgbClr val="1B2333"/>
                </a:solidFill>
                <a:latin typeface="Segoe UI"/>
              </a:rPr>
              <a:t>0,05</a:t>
            </a:r>
          </a:p>
        </p:txBody>
      </p:sp>
      <p:sp>
        <p:nvSpPr>
          <p:cNvPr id="414" name="TextBox 413"/>
          <p:cNvSpPr txBox="1"/>
          <p:nvPr/>
        </p:nvSpPr>
        <p:spPr>
          <a:xfrm>
            <a:off x="5553456" y="5614415"/>
            <a:ext cx="1082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1000" b="0">
                <a:solidFill>
                  <a:srgbClr val="3C8A1E"/>
                </a:solidFill>
                <a:latin typeface="Segoe UI"/>
              </a:rPr>
              <a:t>● </a:t>
            </a:r>
            <a:r>
              <a:rPr sz="950" b="0">
                <a:solidFill>
                  <a:srgbClr val="5B6475"/>
                </a:solidFill>
                <a:latin typeface="Segoe UI"/>
              </a:rPr>
              <a:t>Ходьба </a:t>
            </a:r>
            <a:r>
              <a:rPr sz="1000" b="0">
                <a:solidFill>
                  <a:srgbClr val="1B2333"/>
                </a:solidFill>
                <a:latin typeface="Segoe UI"/>
              </a:rPr>
              <a:t>1,35</a:t>
            </a:r>
          </a:p>
        </p:txBody>
      </p:sp>
      <p:sp>
        <p:nvSpPr>
          <p:cNvPr id="415" name="TextBox 414"/>
          <p:cNvSpPr txBox="1"/>
          <p:nvPr/>
        </p:nvSpPr>
        <p:spPr>
          <a:xfrm>
            <a:off x="6635495" y="5614415"/>
            <a:ext cx="1082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1000" b="0">
                <a:solidFill>
                  <a:srgbClr val="D8602A"/>
                </a:solidFill>
                <a:latin typeface="Segoe UI"/>
              </a:rPr>
              <a:t>● </a:t>
            </a:r>
            <a:r>
              <a:rPr sz="950" b="0">
                <a:solidFill>
                  <a:srgbClr val="5B6475"/>
                </a:solidFill>
                <a:latin typeface="Segoe UI"/>
              </a:rPr>
              <a:t>Бег </a:t>
            </a:r>
            <a:r>
              <a:rPr sz="1000" b="0">
                <a:solidFill>
                  <a:srgbClr val="1B2333"/>
                </a:solidFill>
                <a:latin typeface="Segoe UI"/>
              </a:rPr>
              <a:t>2,59</a:t>
            </a:r>
          </a:p>
        </p:txBody>
      </p:sp>
      <p:sp>
        <p:nvSpPr>
          <p:cNvPr id="416" name="TextBox 415"/>
          <p:cNvSpPr txBox="1"/>
          <p:nvPr/>
        </p:nvSpPr>
        <p:spPr>
          <a:xfrm>
            <a:off x="4471416" y="5815583"/>
            <a:ext cx="1082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1000" b="0">
                <a:solidFill>
                  <a:srgbClr val="2D5FA8"/>
                </a:solidFill>
                <a:latin typeface="Segoe UI"/>
              </a:rPr>
              <a:t>● </a:t>
            </a:r>
            <a:r>
              <a:rPr sz="950" b="0">
                <a:solidFill>
                  <a:srgbClr val="5B6475"/>
                </a:solidFill>
                <a:latin typeface="Segoe UI"/>
              </a:rPr>
              <a:t>Подъём </a:t>
            </a:r>
            <a:r>
              <a:rPr sz="1000" b="0">
                <a:solidFill>
                  <a:srgbClr val="1B2333"/>
                </a:solidFill>
                <a:latin typeface="Segoe UI"/>
              </a:rPr>
              <a:t>1,18</a:t>
            </a:r>
          </a:p>
        </p:txBody>
      </p:sp>
      <p:sp>
        <p:nvSpPr>
          <p:cNvPr id="417" name="TextBox 416"/>
          <p:cNvSpPr txBox="1"/>
          <p:nvPr/>
        </p:nvSpPr>
        <p:spPr>
          <a:xfrm>
            <a:off x="5553456" y="5815583"/>
            <a:ext cx="1082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1000" b="0">
                <a:solidFill>
                  <a:srgbClr val="7888E0"/>
                </a:solidFill>
                <a:latin typeface="Segoe UI"/>
              </a:rPr>
              <a:t>● </a:t>
            </a:r>
            <a:r>
              <a:rPr sz="950" b="0">
                <a:solidFill>
                  <a:srgbClr val="5B6475"/>
                </a:solidFill>
                <a:latin typeface="Segoe UI"/>
              </a:rPr>
              <a:t>Спуск </a:t>
            </a:r>
            <a:r>
              <a:rPr sz="1000" b="0">
                <a:solidFill>
                  <a:srgbClr val="1B2333"/>
                </a:solidFill>
                <a:latin typeface="Segoe UI"/>
              </a:rPr>
              <a:t>1,29</a:t>
            </a:r>
          </a:p>
        </p:txBody>
      </p:sp>
      <p:sp>
        <p:nvSpPr>
          <p:cNvPr id="418" name="TextBox 417"/>
          <p:cNvSpPr txBox="1"/>
          <p:nvPr/>
        </p:nvSpPr>
        <p:spPr>
          <a:xfrm>
            <a:off x="6635495" y="5815583"/>
            <a:ext cx="1082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1000" b="0">
                <a:solidFill>
                  <a:srgbClr val="C08600"/>
                </a:solidFill>
                <a:latin typeface="Segoe UI"/>
              </a:rPr>
              <a:t>● </a:t>
            </a:r>
            <a:r>
              <a:rPr sz="950" b="0">
                <a:solidFill>
                  <a:srgbClr val="5B6475"/>
                </a:solidFill>
                <a:latin typeface="Segoe UI"/>
              </a:rPr>
              <a:t>Велосипед </a:t>
            </a:r>
            <a:r>
              <a:rPr sz="1000" b="0">
                <a:solidFill>
                  <a:srgbClr val="1B2333"/>
                </a:solidFill>
                <a:latin typeface="Segoe UI"/>
              </a:rPr>
              <a:t>0,66</a:t>
            </a:r>
          </a:p>
        </p:txBody>
      </p:sp>
      <p:sp>
        <p:nvSpPr>
          <p:cNvPr id="419" name="Rounded Rectangle 418"/>
          <p:cNvSpPr/>
          <p:nvPr/>
        </p:nvSpPr>
        <p:spPr>
          <a:xfrm>
            <a:off x="8065008" y="2286000"/>
            <a:ext cx="3575304" cy="3977639"/>
          </a:xfrm>
          <a:prstGeom prst="roundRect">
            <a:avLst>
              <a:gd name="adj" fmla="val 5000"/>
            </a:avLst>
          </a:prstGeom>
          <a:solidFill>
            <a:srgbClr val="F4F6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0" name="TextBox 419"/>
          <p:cNvSpPr txBox="1"/>
          <p:nvPr/>
        </p:nvSpPr>
        <p:spPr>
          <a:xfrm>
            <a:off x="8229600" y="2414016"/>
            <a:ext cx="32461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1300" b="1">
                <a:solidFill>
                  <a:srgbClr val="1B2333"/>
                </a:solidFill>
                <a:latin typeface="Segoe UI"/>
              </a:rPr>
              <a:t>Наклон телефона</a:t>
            </a:r>
            <a:r>
              <a:rPr sz="1200" b="0">
                <a:solidFill>
                  <a:srgbClr val="5B6475"/>
                </a:solidFill>
                <a:latin typeface="Segoe UI"/>
              </a:rPr>
              <a:t>, °</a:t>
            </a:r>
          </a:p>
        </p:txBody>
      </p:sp>
      <p:graphicFrame>
        <p:nvGraphicFramePr>
          <p:cNvPr id="421" name="Chart 420"/>
          <p:cNvGraphicFramePr>
            <a:graphicFrameLocks noGrp="1"/>
          </p:cNvGraphicFramePr>
          <p:nvPr/>
        </p:nvGraphicFramePr>
        <p:xfrm>
          <a:off x="8110728" y="2724912"/>
          <a:ext cx="3483864" cy="2103120"/>
        </p:xfrm>
        <a:graphic>
          <a:graphicData uri="http://schemas.openxmlformats.org/drawingml/2006/chart">
            <c:chart xmlns:c="http://schemas.openxmlformats.org/drawingml/2006/chart" r:id="rId11"/>
          </a:graphicData>
        </a:graphic>
      </p:graphicFrame>
      <p:sp>
        <p:nvSpPr>
          <p:cNvPr id="422" name="TextBox 421"/>
          <p:cNvSpPr txBox="1"/>
          <p:nvPr/>
        </p:nvSpPr>
        <p:spPr>
          <a:xfrm>
            <a:off x="8229600" y="4882895"/>
            <a:ext cx="32461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1B2333"/>
                </a:solidFill>
                <a:latin typeface="Segoe UI"/>
              </a:rPr>
              <a:t>У велосипеда сдвинут к ≈ 120° — след условий записи, а не физика; поэтому при обучении окна поворачиваются</a:t>
            </a:r>
          </a:p>
        </p:txBody>
      </p:sp>
      <p:sp>
        <p:nvSpPr>
          <p:cNvPr id="423" name="TextBox 422"/>
          <p:cNvSpPr txBox="1"/>
          <p:nvPr/>
        </p:nvSpPr>
        <p:spPr>
          <a:xfrm>
            <a:off x="8229600" y="5614415"/>
            <a:ext cx="1082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1000" b="0">
                <a:solidFill>
                  <a:srgbClr val="8C96A8"/>
                </a:solidFill>
                <a:latin typeface="Segoe UI"/>
              </a:rPr>
              <a:t>● </a:t>
            </a:r>
            <a:r>
              <a:rPr sz="950" b="0">
                <a:solidFill>
                  <a:srgbClr val="5B6475"/>
                </a:solidFill>
                <a:latin typeface="Segoe UI"/>
              </a:rPr>
              <a:t>Покой </a:t>
            </a:r>
            <a:r>
              <a:rPr sz="1000" b="0">
                <a:solidFill>
                  <a:srgbClr val="1B2333"/>
                </a:solidFill>
                <a:latin typeface="Segoe UI"/>
              </a:rPr>
              <a:t>87</a:t>
            </a:r>
          </a:p>
        </p:txBody>
      </p:sp>
      <p:sp>
        <p:nvSpPr>
          <p:cNvPr id="424" name="TextBox 423"/>
          <p:cNvSpPr txBox="1"/>
          <p:nvPr/>
        </p:nvSpPr>
        <p:spPr>
          <a:xfrm>
            <a:off x="9311640" y="5614415"/>
            <a:ext cx="1082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1000" b="0">
                <a:solidFill>
                  <a:srgbClr val="3C8A1E"/>
                </a:solidFill>
                <a:latin typeface="Segoe UI"/>
              </a:rPr>
              <a:t>● </a:t>
            </a:r>
            <a:r>
              <a:rPr sz="950" b="0">
                <a:solidFill>
                  <a:srgbClr val="5B6475"/>
                </a:solidFill>
                <a:latin typeface="Segoe UI"/>
              </a:rPr>
              <a:t>Ходьба </a:t>
            </a:r>
            <a:r>
              <a:rPr sz="1000" b="0">
                <a:solidFill>
                  <a:srgbClr val="1B2333"/>
                </a:solidFill>
                <a:latin typeface="Segoe UI"/>
              </a:rPr>
              <a:t>89</a:t>
            </a:r>
          </a:p>
        </p:txBody>
      </p:sp>
      <p:sp>
        <p:nvSpPr>
          <p:cNvPr id="425" name="TextBox 424"/>
          <p:cNvSpPr txBox="1"/>
          <p:nvPr/>
        </p:nvSpPr>
        <p:spPr>
          <a:xfrm>
            <a:off x="10393680" y="5614415"/>
            <a:ext cx="1082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1000" b="0">
                <a:solidFill>
                  <a:srgbClr val="D8602A"/>
                </a:solidFill>
                <a:latin typeface="Segoe UI"/>
              </a:rPr>
              <a:t>● </a:t>
            </a:r>
            <a:r>
              <a:rPr sz="950" b="0">
                <a:solidFill>
                  <a:srgbClr val="5B6475"/>
                </a:solidFill>
                <a:latin typeface="Segoe UI"/>
              </a:rPr>
              <a:t>Бег </a:t>
            </a:r>
            <a:r>
              <a:rPr sz="1000" b="0">
                <a:solidFill>
                  <a:srgbClr val="1B2333"/>
                </a:solidFill>
                <a:latin typeface="Segoe UI"/>
              </a:rPr>
              <a:t>92</a:t>
            </a:r>
          </a:p>
        </p:txBody>
      </p:sp>
      <p:sp>
        <p:nvSpPr>
          <p:cNvPr id="426" name="TextBox 425"/>
          <p:cNvSpPr txBox="1"/>
          <p:nvPr/>
        </p:nvSpPr>
        <p:spPr>
          <a:xfrm>
            <a:off x="8229600" y="5815583"/>
            <a:ext cx="1082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1000" b="0">
                <a:solidFill>
                  <a:srgbClr val="2D5FA8"/>
                </a:solidFill>
                <a:latin typeface="Segoe UI"/>
              </a:rPr>
              <a:t>● </a:t>
            </a:r>
            <a:r>
              <a:rPr sz="950" b="0">
                <a:solidFill>
                  <a:srgbClr val="5B6475"/>
                </a:solidFill>
                <a:latin typeface="Segoe UI"/>
              </a:rPr>
              <a:t>Подъём </a:t>
            </a:r>
            <a:r>
              <a:rPr sz="1000" b="0">
                <a:solidFill>
                  <a:srgbClr val="1B2333"/>
                </a:solidFill>
                <a:latin typeface="Segoe UI"/>
              </a:rPr>
              <a:t>91</a:t>
            </a:r>
          </a:p>
        </p:txBody>
      </p:sp>
      <p:sp>
        <p:nvSpPr>
          <p:cNvPr id="427" name="TextBox 426"/>
          <p:cNvSpPr txBox="1"/>
          <p:nvPr/>
        </p:nvSpPr>
        <p:spPr>
          <a:xfrm>
            <a:off x="9311640" y="5815583"/>
            <a:ext cx="1082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1000" b="0">
                <a:solidFill>
                  <a:srgbClr val="7888E0"/>
                </a:solidFill>
                <a:latin typeface="Segoe UI"/>
              </a:rPr>
              <a:t>● </a:t>
            </a:r>
            <a:r>
              <a:rPr sz="950" b="0">
                <a:solidFill>
                  <a:srgbClr val="5B6475"/>
                </a:solidFill>
                <a:latin typeface="Segoe UI"/>
              </a:rPr>
              <a:t>Спуск </a:t>
            </a:r>
            <a:r>
              <a:rPr sz="1000" b="0">
                <a:solidFill>
                  <a:srgbClr val="1B2333"/>
                </a:solidFill>
                <a:latin typeface="Segoe UI"/>
              </a:rPr>
              <a:t>90</a:t>
            </a:r>
          </a:p>
        </p:txBody>
      </p:sp>
      <p:sp>
        <p:nvSpPr>
          <p:cNvPr id="428" name="TextBox 427"/>
          <p:cNvSpPr txBox="1"/>
          <p:nvPr/>
        </p:nvSpPr>
        <p:spPr>
          <a:xfrm>
            <a:off x="10393680" y="5815583"/>
            <a:ext cx="1082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1000" b="0">
                <a:solidFill>
                  <a:srgbClr val="C08600"/>
                </a:solidFill>
                <a:latin typeface="Segoe UI"/>
              </a:rPr>
              <a:t>● </a:t>
            </a:r>
            <a:r>
              <a:rPr sz="950" b="0">
                <a:solidFill>
                  <a:srgbClr val="5B6475"/>
                </a:solidFill>
                <a:latin typeface="Segoe UI"/>
              </a:rPr>
              <a:t>Велосипед </a:t>
            </a:r>
            <a:r>
              <a:rPr sz="1000" b="1">
                <a:solidFill>
                  <a:srgbClr val="1B2333"/>
                </a:solidFill>
                <a:latin typeface="Segoe UI"/>
              </a:rPr>
              <a:t>119</a:t>
            </a:r>
          </a:p>
        </p:txBody>
      </p:sp>
      <p:sp>
        <p:nvSpPr>
          <p:cNvPr id="429" name="TextBox 428"/>
          <p:cNvSpPr txBox="1"/>
          <p:nvPr/>
        </p:nvSpPr>
        <p:spPr>
          <a:xfrm>
            <a:off x="548640" y="6327648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950" b="0">
                <a:solidFill>
                  <a:srgbClr val="5B6475"/>
                </a:solidFill>
                <a:latin typeface="Segoe UI"/>
              </a:rPr>
              <a:t>Под графиком — медианы классов; жирным — классы, которые признак отделяет лучше всего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PlaceHolder 1"/>
          <p:cNvSpPr>
            <a:spLocks noGrp="1"/>
          </p:cNvSpPr>
          <p:nvPr>
            <p:ph type="title" hasCustomPrompt="1"/>
          </p:nvPr>
        </p:nvSpPr>
        <p:spPr>
          <a:xfrm>
            <a:off x="548640" y="274320"/>
            <a:ext cx="11091240" cy="658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00" b="1" u="none" strike="noStrike">
                <a:solidFill>
                  <a:schemeClr val="dk1"/>
                </a:solidFill>
                <a:effectLst/>
                <a:uFillTx/>
                <a:latin typeface="Segoe UI"/>
              </a:rPr>
              <a:t>Результат на людях, которых модель не видела</a:t>
            </a:r>
            <a:endParaRPr lang="ru-MD" sz="3000" b="0" u="none" strike="noStrike">
              <a:solidFill>
                <a:schemeClr val="dk1"/>
              </a:solidFill>
              <a:effectLst/>
              <a:uFillTx/>
              <a:latin typeface="Segoe UI"/>
            </a:endParaRPr>
          </a:p>
        </p:txBody>
      </p:sp>
      <p:graphicFrame>
        <p:nvGraphicFramePr>
          <p:cNvPr id="376" name="confusion-328"/>
          <p:cNvGraphicFramePr/>
          <p:nvPr/>
        </p:nvGraphicFramePr>
        <p:xfrm>
          <a:off x="548640" y="1143000"/>
          <a:ext cx="7223400" cy="4224240"/>
        </p:xfrm>
        <a:graphic>
          <a:graphicData uri="http://schemas.openxmlformats.org/drawingml/2006/table">
            <a:tbl>
              <a:tblPr/>
              <a:tblGrid>
                <a:gridCol w="1188720"/>
                <a:gridCol w="685800"/>
                <a:gridCol w="868680"/>
                <a:gridCol w="868680"/>
                <a:gridCol w="822960"/>
                <a:gridCol w="868680"/>
                <a:gridCol w="868680"/>
                <a:gridCol w="1051560"/>
              </a:tblGrid>
              <a:tr h="60336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Segoe UI"/>
                        </a:rPr>
                        <a:t>Истина</a:t>
                      </a:r>
                      <a:endParaRPr lang="ru-MD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E3E7EE"/>
                      </a:solidFill>
                      <a:prstDash val="solid"/>
                    </a:lnL>
                    <a:lnR w="9360">
                      <a:solidFill>
                        <a:srgbClr val="E3E7EE"/>
                      </a:solidFill>
                      <a:prstDash val="solid"/>
                    </a:lnR>
                    <a:lnT w="9360">
                      <a:solidFill>
                        <a:srgbClr val="E3E7EE"/>
                      </a:solidFill>
                      <a:prstDash val="solid"/>
                    </a:lnT>
                    <a:lnB w="9360">
                      <a:solidFill>
                        <a:srgbClr val="E3E7EE"/>
                      </a:solidFill>
                      <a:prstDash val="solid"/>
                    </a:lnB>
                    <a:solidFill>
                      <a:srgbClr val="00696E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Segoe UI"/>
                        </a:rPr>
                        <a:t>Окон</a:t>
                      </a:r>
                      <a:endParaRPr lang="ru-MD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E3E7EE"/>
                      </a:solidFill>
                      <a:prstDash val="solid"/>
                    </a:lnL>
                    <a:lnR w="9360">
                      <a:solidFill>
                        <a:srgbClr val="E3E7EE"/>
                      </a:solidFill>
                      <a:prstDash val="solid"/>
                    </a:lnR>
                    <a:lnT w="9360">
                      <a:solidFill>
                        <a:srgbClr val="E3E7EE"/>
                      </a:solidFill>
                      <a:prstDash val="solid"/>
                    </a:lnT>
                    <a:lnB w="9360">
                      <a:solidFill>
                        <a:srgbClr val="E3E7EE"/>
                      </a:solidFill>
                      <a:prstDash val="solid"/>
                    </a:lnB>
                    <a:solidFill>
                      <a:srgbClr val="00696E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Segoe UI"/>
                        </a:rPr>
                        <a:t>Покой</a:t>
                      </a:r>
                      <a:endParaRPr lang="ru-MD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E3E7EE"/>
                      </a:solidFill>
                      <a:prstDash val="solid"/>
                    </a:lnL>
                    <a:lnR w="9360">
                      <a:solidFill>
                        <a:srgbClr val="E3E7EE"/>
                      </a:solidFill>
                      <a:prstDash val="solid"/>
                    </a:lnR>
                    <a:lnT w="9360">
                      <a:solidFill>
                        <a:srgbClr val="E3E7EE"/>
                      </a:solidFill>
                      <a:prstDash val="solid"/>
                    </a:lnT>
                    <a:lnB w="9360">
                      <a:solidFill>
                        <a:srgbClr val="E3E7EE"/>
                      </a:solidFill>
                      <a:prstDash val="solid"/>
                    </a:lnB>
                    <a:solidFill>
                      <a:srgbClr val="00696E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Segoe UI"/>
                        </a:rPr>
                        <a:t>Ходьба</a:t>
                      </a:r>
                      <a:endParaRPr lang="ru-MD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E3E7EE"/>
                      </a:solidFill>
                      <a:prstDash val="solid"/>
                    </a:lnL>
                    <a:lnR w="9360">
                      <a:solidFill>
                        <a:srgbClr val="E3E7EE"/>
                      </a:solidFill>
                      <a:prstDash val="solid"/>
                    </a:lnR>
                    <a:lnT w="9360">
                      <a:solidFill>
                        <a:srgbClr val="E3E7EE"/>
                      </a:solidFill>
                      <a:prstDash val="solid"/>
                    </a:lnT>
                    <a:lnB w="9360">
                      <a:solidFill>
                        <a:srgbClr val="E3E7EE"/>
                      </a:solidFill>
                      <a:prstDash val="solid"/>
                    </a:lnB>
                    <a:solidFill>
                      <a:srgbClr val="00696E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Segoe UI"/>
                        </a:rPr>
                        <a:t>Бег</a:t>
                      </a:r>
                      <a:endParaRPr lang="ru-MD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E3E7EE"/>
                      </a:solidFill>
                      <a:prstDash val="solid"/>
                    </a:lnL>
                    <a:lnR w="9360">
                      <a:solidFill>
                        <a:srgbClr val="E3E7EE"/>
                      </a:solidFill>
                      <a:prstDash val="solid"/>
                    </a:lnR>
                    <a:lnT w="9360">
                      <a:solidFill>
                        <a:srgbClr val="E3E7EE"/>
                      </a:solidFill>
                      <a:prstDash val="solid"/>
                    </a:lnT>
                    <a:lnB w="9360">
                      <a:solidFill>
                        <a:srgbClr val="E3E7EE"/>
                      </a:solidFill>
                      <a:prstDash val="solid"/>
                    </a:lnB>
                    <a:solidFill>
                      <a:srgbClr val="00696E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Segoe UI"/>
                        </a:rPr>
                        <a:t>Подъём</a:t>
                      </a:r>
                      <a:endParaRPr lang="ru-MD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E3E7EE"/>
                      </a:solidFill>
                      <a:prstDash val="solid"/>
                    </a:lnL>
                    <a:lnR w="9360">
                      <a:solidFill>
                        <a:srgbClr val="E3E7EE"/>
                      </a:solidFill>
                      <a:prstDash val="solid"/>
                    </a:lnR>
                    <a:lnT w="9360">
                      <a:solidFill>
                        <a:srgbClr val="E3E7EE"/>
                      </a:solidFill>
                      <a:prstDash val="solid"/>
                    </a:lnT>
                    <a:lnB w="9360">
                      <a:solidFill>
                        <a:srgbClr val="E3E7EE"/>
                      </a:solidFill>
                      <a:prstDash val="solid"/>
                    </a:lnB>
                    <a:solidFill>
                      <a:srgbClr val="00696E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Segoe UI"/>
                        </a:rPr>
                        <a:t>Спуск</a:t>
                      </a:r>
                      <a:endParaRPr lang="ru-MD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E3E7EE"/>
                      </a:solidFill>
                      <a:prstDash val="solid"/>
                    </a:lnL>
                    <a:lnR w="9360">
                      <a:solidFill>
                        <a:srgbClr val="E3E7EE"/>
                      </a:solidFill>
                      <a:prstDash val="solid"/>
                    </a:lnR>
                    <a:lnT w="9360">
                      <a:solidFill>
                        <a:srgbClr val="E3E7EE"/>
                      </a:solidFill>
                      <a:prstDash val="solid"/>
                    </a:lnT>
                    <a:lnB w="9360">
                      <a:solidFill>
                        <a:srgbClr val="E3E7EE"/>
                      </a:solidFill>
                      <a:prstDash val="solid"/>
                    </a:lnB>
                    <a:solidFill>
                      <a:srgbClr val="00696E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Segoe UI"/>
                        </a:rPr>
                        <a:t>Велосипед</a:t>
                      </a:r>
                      <a:endParaRPr lang="ru-MD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E3E7EE"/>
                      </a:solidFill>
                      <a:prstDash val="solid"/>
                    </a:lnL>
                    <a:lnR w="9360">
                      <a:solidFill>
                        <a:srgbClr val="E3E7EE"/>
                      </a:solidFill>
                      <a:prstDash val="solid"/>
                    </a:lnR>
                    <a:lnT w="9360">
                      <a:solidFill>
                        <a:srgbClr val="E3E7EE"/>
                      </a:solidFill>
                      <a:prstDash val="solid"/>
                    </a:lnT>
                    <a:lnB w="9360">
                      <a:solidFill>
                        <a:srgbClr val="E3E7EE"/>
                      </a:solidFill>
                      <a:prstDash val="solid"/>
                    </a:lnB>
                    <a:solidFill>
                      <a:srgbClr val="00696E"/>
                    </a:solidFill>
                  </a:tcPr>
                </a:tc>
              </a:tr>
              <a:tr h="60336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1B2333"/>
                          </a:solidFill>
                          <a:effectLst/>
                          <a:uFillTx/>
                          <a:latin typeface="Segoe UI"/>
                        </a:rPr>
                        <a:t>Покой</a:t>
                      </a:r>
                      <a:endParaRPr lang="ru-MD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E3E7EE"/>
                      </a:solidFill>
                      <a:prstDash val="solid"/>
                    </a:lnL>
                    <a:lnR w="9360">
                      <a:solidFill>
                        <a:srgbClr val="E3E7EE"/>
                      </a:solidFill>
                      <a:prstDash val="solid"/>
                    </a:lnR>
                    <a:lnT w="9360">
                      <a:solidFill>
                        <a:srgbClr val="E3E7EE"/>
                      </a:solidFill>
                      <a:prstDash val="solid"/>
                    </a:lnT>
                    <a:lnB w="9360">
                      <a:solidFill>
                        <a:srgbClr val="E3E7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5B6475"/>
                          </a:solidFill>
                          <a:effectLst/>
                          <a:uFillTx/>
                          <a:latin typeface="Segoe UI"/>
                        </a:rPr>
                        <a:t>7 716</a:t>
                      </a:r>
                      <a:endParaRPr lang="ru-MD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E3E7EE"/>
                      </a:solidFill>
                      <a:prstDash val="solid"/>
                    </a:lnL>
                    <a:lnR w="9360">
                      <a:solidFill>
                        <a:srgbClr val="E3E7EE"/>
                      </a:solidFill>
                      <a:prstDash val="solid"/>
                    </a:lnR>
                    <a:lnT w="9360">
                      <a:solidFill>
                        <a:srgbClr val="E3E7EE"/>
                      </a:solidFill>
                      <a:prstDash val="solid"/>
                    </a:lnT>
                    <a:lnB w="9360">
                      <a:solidFill>
                        <a:srgbClr val="E3E7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Segoe UI"/>
                        </a:rPr>
                        <a:t>94,6</a:t>
                      </a:r>
                      <a:endParaRPr lang="ru-MD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E3E7EE"/>
                      </a:solidFill>
                      <a:prstDash val="solid"/>
                    </a:lnL>
                    <a:lnR w="9360">
                      <a:solidFill>
                        <a:srgbClr val="E3E7EE"/>
                      </a:solidFill>
                      <a:prstDash val="solid"/>
                    </a:lnR>
                    <a:lnT w="9360">
                      <a:solidFill>
                        <a:srgbClr val="E3E7EE"/>
                      </a:solidFill>
                      <a:prstDash val="solid"/>
                    </a:lnT>
                    <a:lnB w="9360">
                      <a:solidFill>
                        <a:srgbClr val="E3E7EE"/>
                      </a:solidFill>
                      <a:prstDash val="solid"/>
                    </a:lnB>
                    <a:solidFill>
                      <a:srgbClr val="59A8A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B2333"/>
                          </a:solidFill>
                          <a:effectLst/>
                          <a:uFillTx/>
                          <a:latin typeface="Segoe UI"/>
                        </a:rPr>
                        <a:t>0,0</a:t>
                      </a:r>
                      <a:endParaRPr lang="ru-MD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E3E7EE"/>
                      </a:solidFill>
                      <a:prstDash val="solid"/>
                    </a:lnL>
                    <a:lnR w="9360">
                      <a:solidFill>
                        <a:srgbClr val="E3E7EE"/>
                      </a:solidFill>
                      <a:prstDash val="solid"/>
                    </a:lnR>
                    <a:lnT w="9360">
                      <a:solidFill>
                        <a:srgbClr val="E3E7EE"/>
                      </a:solidFill>
                      <a:prstDash val="solid"/>
                    </a:lnT>
                    <a:lnB w="9360">
                      <a:solidFill>
                        <a:srgbClr val="E3E7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B2333"/>
                          </a:solidFill>
                          <a:effectLst/>
                          <a:uFillTx/>
                          <a:latin typeface="Segoe UI"/>
                        </a:rPr>
                        <a:t>3,4</a:t>
                      </a:r>
                      <a:endParaRPr lang="ru-MD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E3E7EE"/>
                      </a:solidFill>
                      <a:prstDash val="solid"/>
                    </a:lnL>
                    <a:lnR w="9360">
                      <a:solidFill>
                        <a:srgbClr val="E3E7EE"/>
                      </a:solidFill>
                      <a:prstDash val="solid"/>
                    </a:lnR>
                    <a:lnT w="9360">
                      <a:solidFill>
                        <a:srgbClr val="E3E7EE"/>
                      </a:solidFill>
                      <a:prstDash val="solid"/>
                    </a:lnT>
                    <a:lnB w="9360">
                      <a:solidFill>
                        <a:srgbClr val="E3E7EE"/>
                      </a:solidFill>
                      <a:prstDash val="solid"/>
                    </a:lnB>
                    <a:solidFill>
                      <a:srgbClr val="FDF0E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B2333"/>
                          </a:solidFill>
                          <a:effectLst/>
                          <a:uFillTx/>
                          <a:latin typeface="Segoe UI"/>
                        </a:rPr>
                        <a:t>1,6</a:t>
                      </a:r>
                      <a:endParaRPr lang="ru-MD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E3E7EE"/>
                      </a:solidFill>
                      <a:prstDash val="solid"/>
                    </a:lnL>
                    <a:lnR w="9360">
                      <a:solidFill>
                        <a:srgbClr val="E3E7EE"/>
                      </a:solidFill>
                      <a:prstDash val="solid"/>
                    </a:lnR>
                    <a:lnT w="9360">
                      <a:solidFill>
                        <a:srgbClr val="E3E7EE"/>
                      </a:solidFill>
                      <a:prstDash val="solid"/>
                    </a:lnT>
                    <a:lnB w="9360">
                      <a:solidFill>
                        <a:srgbClr val="E3E7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B2333"/>
                          </a:solidFill>
                          <a:effectLst/>
                          <a:uFillTx/>
                          <a:latin typeface="Segoe UI"/>
                        </a:rPr>
                        <a:t>0,3</a:t>
                      </a:r>
                      <a:endParaRPr lang="ru-MD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E3E7EE"/>
                      </a:solidFill>
                      <a:prstDash val="solid"/>
                    </a:lnL>
                    <a:lnR w="9360">
                      <a:solidFill>
                        <a:srgbClr val="E3E7EE"/>
                      </a:solidFill>
                      <a:prstDash val="solid"/>
                    </a:lnR>
                    <a:lnT w="9360">
                      <a:solidFill>
                        <a:srgbClr val="E3E7EE"/>
                      </a:solidFill>
                      <a:prstDash val="solid"/>
                    </a:lnT>
                    <a:lnB w="9360">
                      <a:solidFill>
                        <a:srgbClr val="E3E7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B2333"/>
                          </a:solidFill>
                          <a:effectLst/>
                          <a:uFillTx/>
                          <a:latin typeface="Segoe UI"/>
                        </a:rPr>
                        <a:t>0,1</a:t>
                      </a:r>
                      <a:endParaRPr lang="ru-MD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E3E7EE"/>
                      </a:solidFill>
                      <a:prstDash val="solid"/>
                    </a:lnL>
                    <a:lnR w="9360">
                      <a:solidFill>
                        <a:srgbClr val="E3E7EE"/>
                      </a:solidFill>
                      <a:prstDash val="solid"/>
                    </a:lnR>
                    <a:lnT w="9360">
                      <a:solidFill>
                        <a:srgbClr val="E3E7EE"/>
                      </a:solidFill>
                      <a:prstDash val="solid"/>
                    </a:lnT>
                    <a:lnB w="9360">
                      <a:solidFill>
                        <a:srgbClr val="E3E7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36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1B2333"/>
                          </a:solidFill>
                          <a:effectLst/>
                          <a:uFillTx/>
                          <a:latin typeface="Segoe UI"/>
                        </a:rPr>
                        <a:t>Ходьба</a:t>
                      </a:r>
                      <a:endParaRPr lang="ru-MD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E3E7EE"/>
                      </a:solidFill>
                      <a:prstDash val="solid"/>
                    </a:lnL>
                    <a:lnR w="9360">
                      <a:solidFill>
                        <a:srgbClr val="E3E7EE"/>
                      </a:solidFill>
                      <a:prstDash val="solid"/>
                    </a:lnR>
                    <a:lnT w="9360">
                      <a:solidFill>
                        <a:srgbClr val="E3E7EE"/>
                      </a:solidFill>
                      <a:prstDash val="solid"/>
                    </a:lnT>
                    <a:lnB w="9360">
                      <a:solidFill>
                        <a:srgbClr val="E3E7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5B6475"/>
                          </a:solidFill>
                          <a:effectLst/>
                          <a:uFillTx/>
                          <a:latin typeface="Segoe UI"/>
                        </a:rPr>
                        <a:t>5 792</a:t>
                      </a:r>
                      <a:endParaRPr lang="ru-MD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E3E7EE"/>
                      </a:solidFill>
                      <a:prstDash val="solid"/>
                    </a:lnL>
                    <a:lnR w="9360">
                      <a:solidFill>
                        <a:srgbClr val="E3E7EE"/>
                      </a:solidFill>
                      <a:prstDash val="solid"/>
                    </a:lnR>
                    <a:lnT w="9360">
                      <a:solidFill>
                        <a:srgbClr val="E3E7EE"/>
                      </a:solidFill>
                      <a:prstDash val="solid"/>
                    </a:lnT>
                    <a:lnB w="9360">
                      <a:solidFill>
                        <a:srgbClr val="E3E7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B2333"/>
                          </a:solidFill>
                          <a:effectLst/>
                          <a:uFillTx/>
                          <a:latin typeface="Segoe UI"/>
                        </a:rPr>
                        <a:t>1,4</a:t>
                      </a:r>
                      <a:endParaRPr lang="ru-MD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E3E7EE"/>
                      </a:solidFill>
                      <a:prstDash val="solid"/>
                    </a:lnL>
                    <a:lnR w="9360">
                      <a:solidFill>
                        <a:srgbClr val="E3E7EE"/>
                      </a:solidFill>
                      <a:prstDash val="solid"/>
                    </a:lnR>
                    <a:lnT w="9360">
                      <a:solidFill>
                        <a:srgbClr val="E3E7EE"/>
                      </a:solidFill>
                      <a:prstDash val="solid"/>
                    </a:lnT>
                    <a:lnB w="9360">
                      <a:solidFill>
                        <a:srgbClr val="E3E7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Segoe UI"/>
                        </a:rPr>
                        <a:t>70,6</a:t>
                      </a:r>
                      <a:endParaRPr lang="ru-MD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E3E7EE"/>
                      </a:solidFill>
                      <a:prstDash val="solid"/>
                    </a:lnL>
                    <a:lnR w="9360">
                      <a:solidFill>
                        <a:srgbClr val="E3E7EE"/>
                      </a:solidFill>
                      <a:prstDash val="solid"/>
                    </a:lnR>
                    <a:lnT w="9360">
                      <a:solidFill>
                        <a:srgbClr val="E3E7EE"/>
                      </a:solidFill>
                      <a:prstDash val="solid"/>
                    </a:lnT>
                    <a:lnB w="9360">
                      <a:solidFill>
                        <a:srgbClr val="E3E7EE"/>
                      </a:solidFill>
                      <a:prstDash val="solid"/>
                    </a:lnB>
                    <a:solidFill>
                      <a:srgbClr val="83BEC0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B2333"/>
                          </a:solidFill>
                          <a:effectLst/>
                          <a:uFillTx/>
                          <a:latin typeface="Segoe UI"/>
                        </a:rPr>
                        <a:t>0,2</a:t>
                      </a:r>
                      <a:endParaRPr lang="ru-MD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E3E7EE"/>
                      </a:solidFill>
                      <a:prstDash val="solid"/>
                    </a:lnL>
                    <a:lnR w="9360">
                      <a:solidFill>
                        <a:srgbClr val="E3E7EE"/>
                      </a:solidFill>
                      <a:prstDash val="solid"/>
                    </a:lnR>
                    <a:lnT w="9360">
                      <a:solidFill>
                        <a:srgbClr val="E3E7EE"/>
                      </a:solidFill>
                      <a:prstDash val="solid"/>
                    </a:lnT>
                    <a:lnB w="9360">
                      <a:solidFill>
                        <a:srgbClr val="E3E7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1B2333"/>
                          </a:solidFill>
                          <a:effectLst/>
                          <a:uFillTx/>
                          <a:latin typeface="Segoe UI"/>
                        </a:rPr>
                        <a:t>15,6</a:t>
                      </a:r>
                      <a:endParaRPr lang="ru-MD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E3E7EE"/>
                      </a:solidFill>
                      <a:prstDash val="solid"/>
                    </a:lnL>
                    <a:lnR w="9360">
                      <a:solidFill>
                        <a:srgbClr val="E3E7EE"/>
                      </a:solidFill>
                      <a:prstDash val="solid"/>
                    </a:lnR>
                    <a:lnT w="9360">
                      <a:solidFill>
                        <a:srgbClr val="E3E7EE"/>
                      </a:solidFill>
                      <a:prstDash val="solid"/>
                    </a:lnT>
                    <a:lnB w="9360">
                      <a:solidFill>
                        <a:srgbClr val="E3E7EE"/>
                      </a:solidFill>
                      <a:prstDash val="solid"/>
                    </a:lnB>
                    <a:solidFill>
                      <a:srgbClr val="F5BB75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1B2333"/>
                          </a:solidFill>
                          <a:effectLst/>
                          <a:uFillTx/>
                          <a:latin typeface="Segoe UI"/>
                        </a:rPr>
                        <a:t>12,2</a:t>
                      </a:r>
                      <a:endParaRPr lang="ru-MD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E3E7EE"/>
                      </a:solidFill>
                      <a:prstDash val="solid"/>
                    </a:lnL>
                    <a:lnR w="9360">
                      <a:solidFill>
                        <a:srgbClr val="E3E7EE"/>
                      </a:solidFill>
                      <a:prstDash val="solid"/>
                    </a:lnR>
                    <a:lnT w="9360">
                      <a:solidFill>
                        <a:srgbClr val="E3E7EE"/>
                      </a:solidFill>
                      <a:prstDash val="solid"/>
                    </a:lnT>
                    <a:lnB w="9360">
                      <a:solidFill>
                        <a:srgbClr val="E3E7EE"/>
                      </a:solidFill>
                      <a:prstDash val="solid"/>
                    </a:lnB>
                    <a:solidFill>
                      <a:srgbClr val="F7CA93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B2333"/>
                          </a:solidFill>
                          <a:effectLst/>
                          <a:uFillTx/>
                          <a:latin typeface="Segoe UI"/>
                        </a:rPr>
                        <a:t>0,0</a:t>
                      </a:r>
                      <a:endParaRPr lang="ru-MD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E3E7EE"/>
                      </a:solidFill>
                      <a:prstDash val="solid"/>
                    </a:lnL>
                    <a:lnR w="9360">
                      <a:solidFill>
                        <a:srgbClr val="E3E7EE"/>
                      </a:solidFill>
                      <a:prstDash val="solid"/>
                    </a:lnR>
                    <a:lnT w="9360">
                      <a:solidFill>
                        <a:srgbClr val="E3E7EE"/>
                      </a:solidFill>
                      <a:prstDash val="solid"/>
                    </a:lnT>
                    <a:lnB w="9360">
                      <a:solidFill>
                        <a:srgbClr val="E3E7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36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1B2333"/>
                          </a:solidFill>
                          <a:effectLst/>
                          <a:uFillTx/>
                          <a:latin typeface="Segoe UI"/>
                        </a:rPr>
                        <a:t>Бег</a:t>
                      </a:r>
                      <a:endParaRPr lang="ru-MD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E3E7EE"/>
                      </a:solidFill>
                      <a:prstDash val="solid"/>
                    </a:lnL>
                    <a:lnR w="9360">
                      <a:solidFill>
                        <a:srgbClr val="E3E7EE"/>
                      </a:solidFill>
                      <a:prstDash val="solid"/>
                    </a:lnR>
                    <a:lnT w="9360">
                      <a:solidFill>
                        <a:srgbClr val="E3E7EE"/>
                      </a:solidFill>
                      <a:prstDash val="solid"/>
                    </a:lnT>
                    <a:lnB w="9360">
                      <a:solidFill>
                        <a:srgbClr val="E3E7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5B6475"/>
                          </a:solidFill>
                          <a:effectLst/>
                          <a:uFillTx/>
                          <a:latin typeface="Segoe UI"/>
                        </a:rPr>
                        <a:t>5 286</a:t>
                      </a:r>
                      <a:endParaRPr lang="ru-MD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E3E7EE"/>
                      </a:solidFill>
                      <a:prstDash val="solid"/>
                    </a:lnL>
                    <a:lnR w="9360">
                      <a:solidFill>
                        <a:srgbClr val="E3E7EE"/>
                      </a:solidFill>
                      <a:prstDash val="solid"/>
                    </a:lnR>
                    <a:lnT w="9360">
                      <a:solidFill>
                        <a:srgbClr val="E3E7EE"/>
                      </a:solidFill>
                      <a:prstDash val="solid"/>
                    </a:lnT>
                    <a:lnB w="9360">
                      <a:solidFill>
                        <a:srgbClr val="E3E7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B2333"/>
                          </a:solidFill>
                          <a:effectLst/>
                          <a:uFillTx/>
                          <a:latin typeface="Segoe UI"/>
                        </a:rPr>
                        <a:t>0,7</a:t>
                      </a:r>
                      <a:endParaRPr lang="ru-MD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E3E7EE"/>
                      </a:solidFill>
                      <a:prstDash val="solid"/>
                    </a:lnL>
                    <a:lnR w="9360">
                      <a:solidFill>
                        <a:srgbClr val="E3E7EE"/>
                      </a:solidFill>
                      <a:prstDash val="solid"/>
                    </a:lnR>
                    <a:lnT w="9360">
                      <a:solidFill>
                        <a:srgbClr val="E3E7EE"/>
                      </a:solidFill>
                      <a:prstDash val="solid"/>
                    </a:lnT>
                    <a:lnB w="9360">
                      <a:solidFill>
                        <a:srgbClr val="E3E7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B2333"/>
                          </a:solidFill>
                          <a:effectLst/>
                          <a:uFillTx/>
                          <a:latin typeface="Segoe UI"/>
                        </a:rPr>
                        <a:t>0,0</a:t>
                      </a:r>
                      <a:endParaRPr lang="ru-MD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E3E7EE"/>
                      </a:solidFill>
                      <a:prstDash val="solid"/>
                    </a:lnL>
                    <a:lnR w="9360">
                      <a:solidFill>
                        <a:srgbClr val="E3E7EE"/>
                      </a:solidFill>
                      <a:prstDash val="solid"/>
                    </a:lnR>
                    <a:lnT w="9360">
                      <a:solidFill>
                        <a:srgbClr val="E3E7EE"/>
                      </a:solidFill>
                      <a:prstDash val="solid"/>
                    </a:lnT>
                    <a:lnB w="9360">
                      <a:solidFill>
                        <a:srgbClr val="E3E7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Segoe UI"/>
                        </a:rPr>
                        <a:t>97,4</a:t>
                      </a:r>
                      <a:endParaRPr lang="ru-MD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E3E7EE"/>
                      </a:solidFill>
                      <a:prstDash val="solid"/>
                    </a:lnL>
                    <a:lnR w="9360">
                      <a:solidFill>
                        <a:srgbClr val="E3E7EE"/>
                      </a:solidFill>
                      <a:prstDash val="solid"/>
                    </a:lnR>
                    <a:lnT w="9360">
                      <a:solidFill>
                        <a:srgbClr val="E3E7EE"/>
                      </a:solidFill>
                      <a:prstDash val="solid"/>
                    </a:lnT>
                    <a:lnB w="9360">
                      <a:solidFill>
                        <a:srgbClr val="E3E7EE"/>
                      </a:solidFill>
                      <a:prstDash val="solid"/>
                    </a:lnB>
                    <a:solidFill>
                      <a:srgbClr val="54A5A8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B2333"/>
                          </a:solidFill>
                          <a:effectLst/>
                          <a:uFillTx/>
                          <a:latin typeface="Segoe UI"/>
                        </a:rPr>
                        <a:t>0,8</a:t>
                      </a:r>
                      <a:endParaRPr lang="ru-MD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E3E7EE"/>
                      </a:solidFill>
                      <a:prstDash val="solid"/>
                    </a:lnL>
                    <a:lnR w="9360">
                      <a:solidFill>
                        <a:srgbClr val="E3E7EE"/>
                      </a:solidFill>
                      <a:prstDash val="solid"/>
                    </a:lnR>
                    <a:lnT w="9360">
                      <a:solidFill>
                        <a:srgbClr val="E3E7EE"/>
                      </a:solidFill>
                      <a:prstDash val="solid"/>
                    </a:lnT>
                    <a:lnB w="9360">
                      <a:solidFill>
                        <a:srgbClr val="E3E7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B2333"/>
                          </a:solidFill>
                          <a:effectLst/>
                          <a:uFillTx/>
                          <a:latin typeface="Segoe UI"/>
                        </a:rPr>
                        <a:t>1,1</a:t>
                      </a:r>
                      <a:endParaRPr lang="ru-MD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E3E7EE"/>
                      </a:solidFill>
                      <a:prstDash val="solid"/>
                    </a:lnL>
                    <a:lnR w="9360">
                      <a:solidFill>
                        <a:srgbClr val="E3E7EE"/>
                      </a:solidFill>
                      <a:prstDash val="solid"/>
                    </a:lnR>
                    <a:lnT w="9360">
                      <a:solidFill>
                        <a:srgbClr val="E3E7EE"/>
                      </a:solidFill>
                      <a:prstDash val="solid"/>
                    </a:lnT>
                    <a:lnB w="9360">
                      <a:solidFill>
                        <a:srgbClr val="E3E7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B2333"/>
                          </a:solidFill>
                          <a:effectLst/>
                          <a:uFillTx/>
                          <a:latin typeface="Segoe UI"/>
                        </a:rPr>
                        <a:t>0,0</a:t>
                      </a:r>
                      <a:endParaRPr lang="ru-MD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E3E7EE"/>
                      </a:solidFill>
                      <a:prstDash val="solid"/>
                    </a:lnL>
                    <a:lnR w="9360">
                      <a:solidFill>
                        <a:srgbClr val="E3E7EE"/>
                      </a:solidFill>
                      <a:prstDash val="solid"/>
                    </a:lnR>
                    <a:lnT w="9360">
                      <a:solidFill>
                        <a:srgbClr val="E3E7EE"/>
                      </a:solidFill>
                      <a:prstDash val="solid"/>
                    </a:lnT>
                    <a:lnB w="9360">
                      <a:solidFill>
                        <a:srgbClr val="E3E7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36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1B2333"/>
                          </a:solidFill>
                          <a:effectLst/>
                          <a:uFillTx/>
                          <a:latin typeface="Segoe UI"/>
                        </a:rPr>
                        <a:t>Подъём</a:t>
                      </a:r>
                      <a:endParaRPr lang="ru-MD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E3E7EE"/>
                      </a:solidFill>
                      <a:prstDash val="solid"/>
                    </a:lnL>
                    <a:lnR w="9360">
                      <a:solidFill>
                        <a:srgbClr val="E3E7EE"/>
                      </a:solidFill>
                      <a:prstDash val="solid"/>
                    </a:lnR>
                    <a:lnT w="9360">
                      <a:solidFill>
                        <a:srgbClr val="E3E7EE"/>
                      </a:solidFill>
                      <a:prstDash val="solid"/>
                    </a:lnT>
                    <a:lnB w="9360">
                      <a:solidFill>
                        <a:srgbClr val="E3E7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5B6475"/>
                          </a:solidFill>
                          <a:effectLst/>
                          <a:uFillTx/>
                          <a:latin typeface="Segoe UI"/>
                        </a:rPr>
                        <a:t>5 657</a:t>
                      </a:r>
                      <a:endParaRPr lang="ru-MD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E3E7EE"/>
                      </a:solidFill>
                      <a:prstDash val="solid"/>
                    </a:lnL>
                    <a:lnR w="9360">
                      <a:solidFill>
                        <a:srgbClr val="E3E7EE"/>
                      </a:solidFill>
                      <a:prstDash val="solid"/>
                    </a:lnR>
                    <a:lnT w="9360">
                      <a:solidFill>
                        <a:srgbClr val="E3E7EE"/>
                      </a:solidFill>
                      <a:prstDash val="solid"/>
                    </a:lnT>
                    <a:lnB w="9360">
                      <a:solidFill>
                        <a:srgbClr val="E3E7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B2333"/>
                          </a:solidFill>
                          <a:effectLst/>
                          <a:uFillTx/>
                          <a:latin typeface="Segoe UI"/>
                        </a:rPr>
                        <a:t>1,6</a:t>
                      </a:r>
                      <a:endParaRPr lang="ru-MD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E3E7EE"/>
                      </a:solidFill>
                      <a:prstDash val="solid"/>
                    </a:lnL>
                    <a:lnR w="9360">
                      <a:solidFill>
                        <a:srgbClr val="E3E7EE"/>
                      </a:solidFill>
                      <a:prstDash val="solid"/>
                    </a:lnR>
                    <a:lnT w="9360">
                      <a:solidFill>
                        <a:srgbClr val="E3E7EE"/>
                      </a:solidFill>
                      <a:prstDash val="solid"/>
                    </a:lnT>
                    <a:lnB w="9360">
                      <a:solidFill>
                        <a:srgbClr val="E3E7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B2333"/>
                          </a:solidFill>
                          <a:effectLst/>
                          <a:uFillTx/>
                          <a:latin typeface="Segoe UI"/>
                        </a:rPr>
                        <a:t>4,8</a:t>
                      </a:r>
                      <a:endParaRPr lang="ru-MD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E3E7EE"/>
                      </a:solidFill>
                      <a:prstDash val="solid"/>
                    </a:lnL>
                    <a:lnR w="9360">
                      <a:solidFill>
                        <a:srgbClr val="E3E7EE"/>
                      </a:solidFill>
                      <a:prstDash val="solid"/>
                    </a:lnR>
                    <a:lnT w="9360">
                      <a:solidFill>
                        <a:srgbClr val="E3E7EE"/>
                      </a:solidFill>
                      <a:prstDash val="solid"/>
                    </a:lnT>
                    <a:lnB w="9360">
                      <a:solidFill>
                        <a:srgbClr val="E3E7EE"/>
                      </a:solidFill>
                      <a:prstDash val="solid"/>
                    </a:lnB>
                    <a:solidFill>
                      <a:srgbClr val="FCEAD4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B2333"/>
                          </a:solidFill>
                          <a:effectLst/>
                          <a:uFillTx/>
                          <a:latin typeface="Segoe UI"/>
                        </a:rPr>
                        <a:t>0,5</a:t>
                      </a:r>
                      <a:endParaRPr lang="ru-MD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E3E7EE"/>
                      </a:solidFill>
                      <a:prstDash val="solid"/>
                    </a:lnL>
                    <a:lnR w="9360">
                      <a:solidFill>
                        <a:srgbClr val="E3E7EE"/>
                      </a:solidFill>
                      <a:prstDash val="solid"/>
                    </a:lnR>
                    <a:lnT w="9360">
                      <a:solidFill>
                        <a:srgbClr val="E3E7EE"/>
                      </a:solidFill>
                      <a:prstDash val="solid"/>
                    </a:lnT>
                    <a:lnB w="9360">
                      <a:solidFill>
                        <a:srgbClr val="E3E7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Segoe UI"/>
                        </a:rPr>
                        <a:t>91,3</a:t>
                      </a:r>
                      <a:endParaRPr lang="ru-MD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E3E7EE"/>
                      </a:solidFill>
                      <a:prstDash val="solid"/>
                    </a:lnL>
                    <a:lnR w="9360">
                      <a:solidFill>
                        <a:srgbClr val="E3E7EE"/>
                      </a:solidFill>
                      <a:prstDash val="solid"/>
                    </a:lnR>
                    <a:lnT w="9360">
                      <a:solidFill>
                        <a:srgbClr val="E3E7EE"/>
                      </a:solidFill>
                      <a:prstDash val="solid"/>
                    </a:lnT>
                    <a:lnB w="9360">
                      <a:solidFill>
                        <a:srgbClr val="E3E7EE"/>
                      </a:solidFill>
                      <a:prstDash val="solid"/>
                    </a:lnB>
                    <a:solidFill>
                      <a:srgbClr val="5EABAE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B2333"/>
                          </a:solidFill>
                          <a:effectLst/>
                          <a:uFillTx/>
                          <a:latin typeface="Segoe UI"/>
                        </a:rPr>
                        <a:t>1,8</a:t>
                      </a:r>
                      <a:endParaRPr lang="ru-MD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E3E7EE"/>
                      </a:solidFill>
                      <a:prstDash val="solid"/>
                    </a:lnL>
                    <a:lnR w="9360">
                      <a:solidFill>
                        <a:srgbClr val="E3E7EE"/>
                      </a:solidFill>
                      <a:prstDash val="solid"/>
                    </a:lnR>
                    <a:lnT w="9360">
                      <a:solidFill>
                        <a:srgbClr val="E3E7EE"/>
                      </a:solidFill>
                      <a:prstDash val="solid"/>
                    </a:lnT>
                    <a:lnB w="9360">
                      <a:solidFill>
                        <a:srgbClr val="E3E7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B2333"/>
                          </a:solidFill>
                          <a:effectLst/>
                          <a:uFillTx/>
                          <a:latin typeface="Segoe UI"/>
                        </a:rPr>
                        <a:t>0,1</a:t>
                      </a:r>
                      <a:endParaRPr lang="ru-MD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E3E7EE"/>
                      </a:solidFill>
                      <a:prstDash val="solid"/>
                    </a:lnL>
                    <a:lnR w="9360">
                      <a:solidFill>
                        <a:srgbClr val="E3E7EE"/>
                      </a:solidFill>
                      <a:prstDash val="solid"/>
                    </a:lnR>
                    <a:lnT w="9360">
                      <a:solidFill>
                        <a:srgbClr val="E3E7EE"/>
                      </a:solidFill>
                      <a:prstDash val="solid"/>
                    </a:lnT>
                    <a:lnB w="9360">
                      <a:solidFill>
                        <a:srgbClr val="E3E7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36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1B2333"/>
                          </a:solidFill>
                          <a:effectLst/>
                          <a:uFillTx/>
                          <a:latin typeface="Segoe UI"/>
                        </a:rPr>
                        <a:t>Спуск</a:t>
                      </a:r>
                      <a:endParaRPr lang="ru-MD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E3E7EE"/>
                      </a:solidFill>
                      <a:prstDash val="solid"/>
                    </a:lnL>
                    <a:lnR w="9360">
                      <a:solidFill>
                        <a:srgbClr val="E3E7EE"/>
                      </a:solidFill>
                      <a:prstDash val="solid"/>
                    </a:lnR>
                    <a:lnT w="9360">
                      <a:solidFill>
                        <a:srgbClr val="E3E7EE"/>
                      </a:solidFill>
                      <a:prstDash val="solid"/>
                    </a:lnT>
                    <a:lnB w="9360">
                      <a:solidFill>
                        <a:srgbClr val="E3E7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5B6475"/>
                          </a:solidFill>
                          <a:effectLst/>
                          <a:uFillTx/>
                          <a:latin typeface="Segoe UI"/>
                        </a:rPr>
                        <a:t>5 615</a:t>
                      </a:r>
                      <a:endParaRPr lang="ru-MD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E3E7EE"/>
                      </a:solidFill>
                      <a:prstDash val="solid"/>
                    </a:lnL>
                    <a:lnR w="9360">
                      <a:solidFill>
                        <a:srgbClr val="E3E7EE"/>
                      </a:solidFill>
                      <a:prstDash val="solid"/>
                    </a:lnR>
                    <a:lnT w="9360">
                      <a:solidFill>
                        <a:srgbClr val="E3E7EE"/>
                      </a:solidFill>
                      <a:prstDash val="solid"/>
                    </a:lnT>
                    <a:lnB w="9360">
                      <a:solidFill>
                        <a:srgbClr val="E3E7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B2333"/>
                          </a:solidFill>
                          <a:effectLst/>
                          <a:uFillTx/>
                          <a:latin typeface="Segoe UI"/>
                        </a:rPr>
                        <a:t>2,2</a:t>
                      </a:r>
                      <a:endParaRPr lang="ru-MD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E3E7EE"/>
                      </a:solidFill>
                      <a:prstDash val="solid"/>
                    </a:lnL>
                    <a:lnR w="9360">
                      <a:solidFill>
                        <a:srgbClr val="E3E7EE"/>
                      </a:solidFill>
                      <a:prstDash val="solid"/>
                    </a:lnR>
                    <a:lnT w="9360">
                      <a:solidFill>
                        <a:srgbClr val="E3E7EE"/>
                      </a:solidFill>
                      <a:prstDash val="solid"/>
                    </a:lnT>
                    <a:lnB w="9360">
                      <a:solidFill>
                        <a:srgbClr val="E3E7EE"/>
                      </a:solidFill>
                      <a:prstDash val="solid"/>
                    </a:lnB>
                    <a:solidFill>
                      <a:srgbClr val="FEF5E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B2333"/>
                          </a:solidFill>
                          <a:effectLst/>
                          <a:uFillTx/>
                          <a:latin typeface="Segoe UI"/>
                        </a:rPr>
                        <a:t>3,7</a:t>
                      </a:r>
                      <a:endParaRPr lang="ru-MD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E3E7EE"/>
                      </a:solidFill>
                      <a:prstDash val="solid"/>
                    </a:lnL>
                    <a:lnR w="9360">
                      <a:solidFill>
                        <a:srgbClr val="E3E7EE"/>
                      </a:solidFill>
                      <a:prstDash val="solid"/>
                    </a:lnR>
                    <a:lnT w="9360">
                      <a:solidFill>
                        <a:srgbClr val="E3E7EE"/>
                      </a:solidFill>
                      <a:prstDash val="solid"/>
                    </a:lnT>
                    <a:lnB w="9360">
                      <a:solidFill>
                        <a:srgbClr val="E3E7EE"/>
                      </a:solidFill>
                      <a:prstDash val="solid"/>
                    </a:lnB>
                    <a:solidFill>
                      <a:srgbClr val="FDEFDE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B2333"/>
                          </a:solidFill>
                          <a:effectLst/>
                          <a:uFillTx/>
                          <a:latin typeface="Segoe UI"/>
                        </a:rPr>
                        <a:t>0,5</a:t>
                      </a:r>
                      <a:endParaRPr lang="ru-MD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E3E7EE"/>
                      </a:solidFill>
                      <a:prstDash val="solid"/>
                    </a:lnL>
                    <a:lnR w="9360">
                      <a:solidFill>
                        <a:srgbClr val="E3E7EE"/>
                      </a:solidFill>
                      <a:prstDash val="solid"/>
                    </a:lnR>
                    <a:lnT w="9360">
                      <a:solidFill>
                        <a:srgbClr val="E3E7EE"/>
                      </a:solidFill>
                      <a:prstDash val="solid"/>
                    </a:lnT>
                    <a:lnB w="9360">
                      <a:solidFill>
                        <a:srgbClr val="E3E7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B2333"/>
                          </a:solidFill>
                          <a:effectLst/>
                          <a:uFillTx/>
                          <a:latin typeface="Segoe UI"/>
                        </a:rPr>
                        <a:t>2,4</a:t>
                      </a:r>
                      <a:endParaRPr lang="ru-MD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E3E7EE"/>
                      </a:solidFill>
                      <a:prstDash val="solid"/>
                    </a:lnL>
                    <a:lnR w="9360">
                      <a:solidFill>
                        <a:srgbClr val="E3E7EE"/>
                      </a:solidFill>
                      <a:prstDash val="solid"/>
                    </a:lnR>
                    <a:lnT w="9360">
                      <a:solidFill>
                        <a:srgbClr val="E3E7EE"/>
                      </a:solidFill>
                      <a:prstDash val="solid"/>
                    </a:lnT>
                    <a:lnB w="9360">
                      <a:solidFill>
                        <a:srgbClr val="E3E7EE"/>
                      </a:solidFill>
                      <a:prstDash val="solid"/>
                    </a:lnB>
                    <a:solidFill>
                      <a:srgbClr val="FEF5EA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Segoe UI"/>
                        </a:rPr>
                        <a:t>91,1</a:t>
                      </a:r>
                      <a:endParaRPr lang="ru-MD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E3E7EE"/>
                      </a:solidFill>
                      <a:prstDash val="solid"/>
                    </a:lnL>
                    <a:lnR w="9360">
                      <a:solidFill>
                        <a:srgbClr val="E3E7EE"/>
                      </a:solidFill>
                      <a:prstDash val="solid"/>
                    </a:lnR>
                    <a:lnT w="9360">
                      <a:solidFill>
                        <a:srgbClr val="E3E7EE"/>
                      </a:solidFill>
                      <a:prstDash val="solid"/>
                    </a:lnT>
                    <a:lnB w="9360">
                      <a:solidFill>
                        <a:srgbClr val="E3E7EE"/>
                      </a:solidFill>
                      <a:prstDash val="solid"/>
                    </a:lnB>
                    <a:solidFill>
                      <a:srgbClr val="5FABAE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B2333"/>
                          </a:solidFill>
                          <a:effectLst/>
                          <a:uFillTx/>
                          <a:latin typeface="Segoe UI"/>
                        </a:rPr>
                        <a:t>0,1</a:t>
                      </a:r>
                      <a:endParaRPr lang="ru-MD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E3E7EE"/>
                      </a:solidFill>
                      <a:prstDash val="solid"/>
                    </a:lnL>
                    <a:lnR w="9360">
                      <a:solidFill>
                        <a:srgbClr val="E3E7EE"/>
                      </a:solidFill>
                      <a:prstDash val="solid"/>
                    </a:lnR>
                    <a:lnT w="9360">
                      <a:solidFill>
                        <a:srgbClr val="E3E7EE"/>
                      </a:solidFill>
                      <a:prstDash val="solid"/>
                    </a:lnT>
                    <a:lnB w="9360">
                      <a:solidFill>
                        <a:srgbClr val="E3E7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36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1B2333"/>
                          </a:solidFill>
                          <a:effectLst/>
                          <a:uFillTx/>
                          <a:latin typeface="Segoe UI"/>
                        </a:rPr>
                        <a:t>Велосипед</a:t>
                      </a:r>
                      <a:endParaRPr lang="ru-MD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E3E7EE"/>
                      </a:solidFill>
                      <a:prstDash val="solid"/>
                    </a:lnL>
                    <a:lnR w="9360">
                      <a:solidFill>
                        <a:srgbClr val="E3E7EE"/>
                      </a:solidFill>
                      <a:prstDash val="solid"/>
                    </a:lnR>
                    <a:lnT w="9360">
                      <a:solidFill>
                        <a:srgbClr val="E3E7EE"/>
                      </a:solidFill>
                      <a:prstDash val="solid"/>
                    </a:lnT>
                    <a:lnB w="9360">
                      <a:solidFill>
                        <a:srgbClr val="E3E7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5B6475"/>
                          </a:solidFill>
                          <a:effectLst/>
                          <a:uFillTx/>
                          <a:latin typeface="Segoe UI"/>
                        </a:rPr>
                        <a:t>695</a:t>
                      </a:r>
                      <a:endParaRPr lang="ru-MD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E3E7EE"/>
                      </a:solidFill>
                      <a:prstDash val="solid"/>
                    </a:lnL>
                    <a:lnR w="9360">
                      <a:solidFill>
                        <a:srgbClr val="E3E7EE"/>
                      </a:solidFill>
                      <a:prstDash val="solid"/>
                    </a:lnR>
                    <a:lnT w="9360">
                      <a:solidFill>
                        <a:srgbClr val="E3E7EE"/>
                      </a:solidFill>
                      <a:prstDash val="solid"/>
                    </a:lnT>
                    <a:lnB w="9360">
                      <a:solidFill>
                        <a:srgbClr val="E3E7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B2333"/>
                          </a:solidFill>
                          <a:effectLst/>
                          <a:uFillTx/>
                          <a:latin typeface="Segoe UI"/>
                        </a:rPr>
                        <a:t>0,0</a:t>
                      </a:r>
                      <a:endParaRPr lang="ru-MD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E3E7EE"/>
                      </a:solidFill>
                      <a:prstDash val="solid"/>
                    </a:lnL>
                    <a:lnR w="9360">
                      <a:solidFill>
                        <a:srgbClr val="E3E7EE"/>
                      </a:solidFill>
                      <a:prstDash val="solid"/>
                    </a:lnR>
                    <a:lnT w="9360">
                      <a:solidFill>
                        <a:srgbClr val="E3E7EE"/>
                      </a:solidFill>
                      <a:prstDash val="solid"/>
                    </a:lnT>
                    <a:lnB w="9360">
                      <a:solidFill>
                        <a:srgbClr val="E3E7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B2333"/>
                          </a:solidFill>
                          <a:effectLst/>
                          <a:uFillTx/>
                          <a:latin typeface="Segoe UI"/>
                        </a:rPr>
                        <a:t>0,0</a:t>
                      </a:r>
                      <a:endParaRPr lang="ru-MD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E3E7EE"/>
                      </a:solidFill>
                      <a:prstDash val="solid"/>
                    </a:lnL>
                    <a:lnR w="9360">
                      <a:solidFill>
                        <a:srgbClr val="E3E7EE"/>
                      </a:solidFill>
                      <a:prstDash val="solid"/>
                    </a:lnR>
                    <a:lnT w="9360">
                      <a:solidFill>
                        <a:srgbClr val="E3E7EE"/>
                      </a:solidFill>
                      <a:prstDash val="solid"/>
                    </a:lnT>
                    <a:lnB w="9360">
                      <a:solidFill>
                        <a:srgbClr val="E3E7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B2333"/>
                          </a:solidFill>
                          <a:effectLst/>
                          <a:uFillTx/>
                          <a:latin typeface="Segoe UI"/>
                        </a:rPr>
                        <a:t>0,0</a:t>
                      </a:r>
                      <a:endParaRPr lang="ru-MD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E3E7EE"/>
                      </a:solidFill>
                      <a:prstDash val="solid"/>
                    </a:lnL>
                    <a:lnR w="9360">
                      <a:solidFill>
                        <a:srgbClr val="E3E7EE"/>
                      </a:solidFill>
                      <a:prstDash val="solid"/>
                    </a:lnR>
                    <a:lnT w="9360">
                      <a:solidFill>
                        <a:srgbClr val="E3E7EE"/>
                      </a:solidFill>
                      <a:prstDash val="solid"/>
                    </a:lnT>
                    <a:lnB w="9360">
                      <a:solidFill>
                        <a:srgbClr val="E3E7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B2333"/>
                          </a:solidFill>
                          <a:effectLst/>
                          <a:uFillTx/>
                          <a:latin typeface="Segoe UI"/>
                        </a:rPr>
                        <a:t>0,0</a:t>
                      </a:r>
                      <a:endParaRPr lang="ru-MD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E3E7EE"/>
                      </a:solidFill>
                      <a:prstDash val="solid"/>
                    </a:lnL>
                    <a:lnR w="9360">
                      <a:solidFill>
                        <a:srgbClr val="E3E7EE"/>
                      </a:solidFill>
                      <a:prstDash val="solid"/>
                    </a:lnR>
                    <a:lnT w="9360">
                      <a:solidFill>
                        <a:srgbClr val="E3E7EE"/>
                      </a:solidFill>
                      <a:prstDash val="solid"/>
                    </a:lnT>
                    <a:lnB w="9360">
                      <a:solidFill>
                        <a:srgbClr val="E3E7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B2333"/>
                          </a:solidFill>
                          <a:effectLst/>
                          <a:uFillTx/>
                          <a:latin typeface="Segoe UI"/>
                        </a:rPr>
                        <a:t>0,0</a:t>
                      </a:r>
                      <a:endParaRPr lang="ru-MD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E3E7EE"/>
                      </a:solidFill>
                      <a:prstDash val="solid"/>
                    </a:lnL>
                    <a:lnR w="9360">
                      <a:solidFill>
                        <a:srgbClr val="E3E7EE"/>
                      </a:solidFill>
                      <a:prstDash val="solid"/>
                    </a:lnR>
                    <a:lnT w="9360">
                      <a:solidFill>
                        <a:srgbClr val="E3E7EE"/>
                      </a:solidFill>
                      <a:prstDash val="solid"/>
                    </a:lnT>
                    <a:lnB w="9360">
                      <a:solidFill>
                        <a:srgbClr val="E3E7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Segoe UI"/>
                        </a:rPr>
                        <a:t>100,0</a:t>
                      </a:r>
                      <a:endParaRPr lang="ru-MD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E3E7EE"/>
                      </a:solidFill>
                      <a:prstDash val="solid"/>
                    </a:lnL>
                    <a:lnR w="9360">
                      <a:solidFill>
                        <a:srgbClr val="E3E7EE"/>
                      </a:solidFill>
                      <a:prstDash val="solid"/>
                    </a:lnR>
                    <a:lnT w="9360">
                      <a:solidFill>
                        <a:srgbClr val="E3E7EE"/>
                      </a:solidFill>
                      <a:prstDash val="solid"/>
                    </a:lnT>
                    <a:lnB w="9360">
                      <a:solidFill>
                        <a:srgbClr val="E3E7EE"/>
                      </a:solidFill>
                      <a:prstDash val="solid"/>
                    </a:lnB>
                    <a:solidFill>
                      <a:srgbClr val="4FA3A6"/>
                    </a:solidFill>
                  </a:tcPr>
                </a:tc>
              </a:tr>
            </a:tbl>
          </a:graphicData>
        </a:graphic>
      </p:graphicFrame>
      <p:sp>
        <p:nvSpPr>
          <p:cNvPr id="377" name="card-329"/>
          <p:cNvSpPr/>
          <p:nvPr/>
        </p:nvSpPr>
        <p:spPr>
          <a:xfrm>
            <a:off x="8092440" y="1143000"/>
            <a:ext cx="3547440" cy="120672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MD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8" name="text-330"/>
          <p:cNvSpPr/>
          <p:nvPr/>
        </p:nvSpPr>
        <p:spPr>
          <a:xfrm>
            <a:off x="8321040" y="1252800"/>
            <a:ext cx="31086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chemeClr val="accent1"/>
                </a:solidFill>
                <a:effectLst/>
                <a:uFillTx/>
                <a:latin typeface="Segoe UI"/>
              </a:rPr>
              <a:t>89,4 %</a:t>
            </a:r>
            <a:endParaRPr lang="ru-MD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9" name="text-331"/>
          <p:cNvSpPr/>
          <p:nvPr/>
        </p:nvSpPr>
        <p:spPr>
          <a:xfrm>
            <a:off x="8321040" y="1856160"/>
            <a:ext cx="31086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2"/>
                </a:solidFill>
                <a:effectLst/>
                <a:uFillTx/>
                <a:latin typeface="Segoe UI"/>
              </a:rPr>
              <a:t>точность (accuracy)</a:t>
            </a:r>
            <a:endParaRPr lang="ru-MD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0" name="card-332"/>
          <p:cNvSpPr/>
          <p:nvPr/>
        </p:nvSpPr>
        <p:spPr>
          <a:xfrm>
            <a:off x="8092440" y="2514600"/>
            <a:ext cx="3547440" cy="120672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MD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1" name="text-333"/>
          <p:cNvSpPr/>
          <p:nvPr/>
        </p:nvSpPr>
        <p:spPr>
          <a:xfrm>
            <a:off x="8321040" y="2624400"/>
            <a:ext cx="31086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chemeClr val="accent1"/>
                </a:solidFill>
                <a:effectLst/>
                <a:uFillTx/>
                <a:latin typeface="Segoe UI"/>
              </a:rPr>
              <a:t>90,8 %</a:t>
            </a:r>
            <a:endParaRPr lang="ru-MD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2" name="text-334"/>
          <p:cNvSpPr/>
          <p:nvPr/>
        </p:nvSpPr>
        <p:spPr>
          <a:xfrm>
            <a:off x="8321040" y="3227760"/>
            <a:ext cx="31086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2"/>
                </a:solidFill>
                <a:effectLst/>
                <a:uFillTx/>
                <a:latin typeface="Segoe UI"/>
              </a:rPr>
              <a:t>средняя полнота по классам</a:t>
            </a:r>
            <a:endParaRPr lang="ru-MD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3" name="card-335"/>
          <p:cNvSpPr/>
          <p:nvPr/>
        </p:nvSpPr>
        <p:spPr>
          <a:xfrm>
            <a:off x="8092440" y="3886200"/>
            <a:ext cx="3547440" cy="120672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MD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4" name="text-336"/>
          <p:cNvSpPr/>
          <p:nvPr/>
        </p:nvSpPr>
        <p:spPr>
          <a:xfrm>
            <a:off x="8321040" y="3996000"/>
            <a:ext cx="31086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chemeClr val="accent1"/>
                </a:solidFill>
                <a:effectLst/>
                <a:uFillTx/>
                <a:latin typeface="Segoe UI"/>
              </a:rPr>
              <a:t>96,5 %</a:t>
            </a:r>
            <a:endParaRPr lang="ru-MD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5" name="text-337"/>
          <p:cNvSpPr/>
          <p:nvPr/>
        </p:nvSpPr>
        <p:spPr>
          <a:xfrm>
            <a:off x="8321040" y="4599360"/>
            <a:ext cx="31086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2"/>
                </a:solidFill>
                <a:effectLst/>
                <a:uFillTx/>
                <a:latin typeface="Segoe UI"/>
              </a:rPr>
              <a:t>точность положения (карман, ухо)</a:t>
            </a:r>
            <a:endParaRPr lang="ru-MD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6" name="PlaceHolder 2"/>
          <p:cNvSpPr>
            <a:spLocks noGrp="1"/>
          </p:cNvSpPr>
          <p:nvPr>
            <p:ph/>
          </p:nvPr>
        </p:nvSpPr>
        <p:spPr>
          <a:xfrm>
            <a:off x="548640" y="914400"/>
            <a:ext cx="11091240" cy="411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spcBef>
                <a:spcPts val="1417"/>
              </a:spcBef>
              <a:buNone/>
            </a:pPr>
            <a:endParaRPr lang="en-US" sz="1500" b="0" u="none" strike="noStrike">
              <a:solidFill>
                <a:schemeClr val="dk2"/>
              </a:solidFill>
              <a:effectLst/>
              <a:uFillTx/>
              <a:latin typeface="Segoe UI"/>
            </a:endParaRPr>
          </a:p>
        </p:txBody>
      </p:sp>
      <p:sp>
        <p:nvSpPr>
          <p:cNvPr id="387" name="PlaceHolder 3"/>
          <p:cNvSpPr>
            <a:spLocks noGrp="1"/>
          </p:cNvSpPr>
          <p:nvPr>
            <p:ph type="sldNum" idx="16"/>
          </p:nvPr>
        </p:nvSpPr>
        <p:spPr>
          <a:xfrm>
            <a:off x="11274480" y="6446520"/>
            <a:ext cx="456840" cy="255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000" b="0" u="none" strike="noStrike">
                <a:solidFill>
                  <a:schemeClr val="dk2"/>
                </a:solidFill>
                <a:effectLst/>
                <a:uFillTx/>
                <a:latin typeface="Segoe U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E67D9D0-79FB-43CA-93DB-9EC6E1B0848D}" type="slidenum">
              <a:rPr lang="en-US" sz="1000" b="0" u="none" strike="noStrike">
                <a:solidFill>
                  <a:schemeClr val="dk2"/>
                </a:solidFill>
                <a:effectLst/>
                <a:uFillTx/>
                <a:latin typeface="Segoe UI"/>
              </a:rPr>
              <a:t>&lt;номер&gt;</a:t>
            </a:fld>
            <a:endParaRPr lang="ru-MD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PlaceHolder 1"/>
          <p:cNvSpPr>
            <a:spLocks noGrp="1"/>
          </p:cNvSpPr>
          <p:nvPr>
            <p:ph type="title" hasCustomPrompt="1"/>
          </p:nvPr>
        </p:nvSpPr>
        <p:spPr>
          <a:xfrm>
            <a:off x="548640" y="274320"/>
            <a:ext cx="11091240" cy="658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00" b="1" u="none" strike="noStrike">
                <a:solidFill>
                  <a:schemeClr val="dk1"/>
                </a:solidFill>
                <a:effectLst/>
                <a:uFillTx/>
                <a:latin typeface="Segoe UI"/>
              </a:rPr>
              <a:t>Проверка по дням на собственных записях</a:t>
            </a:r>
            <a:endParaRPr lang="ru-MD" sz="3000" b="0" u="none" strike="noStrike">
              <a:solidFill>
                <a:schemeClr val="dk1"/>
              </a:solidFill>
              <a:effectLst/>
              <a:uFillTx/>
              <a:latin typeface="Segoe UI"/>
            </a:endParaRPr>
          </a:p>
        </p:txBody>
      </p:sp>
      <p:graphicFrame>
        <p:nvGraphicFramePr>
          <p:cNvPr id="389" name="crossval-chart-338"/>
          <p:cNvGraphicFramePr/>
          <p:nvPr/>
        </p:nvGraphicFramePr>
        <p:xfrm>
          <a:off x="457200" y="1143000"/>
          <a:ext cx="7223400" cy="5074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390" name="crossval-table-339"/>
          <p:cNvGraphicFramePr/>
          <p:nvPr/>
        </p:nvGraphicFramePr>
        <p:xfrm>
          <a:off x="7955280" y="1143000"/>
          <a:ext cx="3684600" cy="2962440"/>
        </p:xfrm>
        <a:graphic>
          <a:graphicData uri="http://schemas.openxmlformats.org/drawingml/2006/table">
            <a:tbl>
              <a:tblPr/>
              <a:tblGrid>
                <a:gridCol w="1719000"/>
                <a:gridCol w="777240"/>
                <a:gridCol w="1188720"/>
              </a:tblGrid>
              <a:tr h="32904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Segoe UI"/>
                        </a:rPr>
                        <a:t>Запись</a:t>
                      </a:r>
                      <a:endParaRPr lang="ru-MD" sz="11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E3E7EE"/>
                      </a:solidFill>
                      <a:prstDash val="solid"/>
                    </a:lnL>
                    <a:lnR w="9360">
                      <a:solidFill>
                        <a:srgbClr val="E3E7EE"/>
                      </a:solidFill>
                      <a:prstDash val="solid"/>
                    </a:lnR>
                    <a:lnT w="9360">
                      <a:solidFill>
                        <a:srgbClr val="E3E7EE"/>
                      </a:solidFill>
                      <a:prstDash val="solid"/>
                    </a:lnT>
                    <a:lnB w="9360">
                      <a:solidFill>
                        <a:srgbClr val="E3E7EE"/>
                      </a:solidFill>
                      <a:prstDash val="solid"/>
                    </a:lnB>
                    <a:solidFill>
                      <a:srgbClr val="00696E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Segoe UI"/>
                        </a:rPr>
                        <a:t>Окон</a:t>
                      </a:r>
                      <a:endParaRPr lang="ru-MD" sz="11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E3E7EE"/>
                      </a:solidFill>
                      <a:prstDash val="solid"/>
                    </a:lnL>
                    <a:lnR w="9360">
                      <a:solidFill>
                        <a:srgbClr val="E3E7EE"/>
                      </a:solidFill>
                      <a:prstDash val="solid"/>
                    </a:lnR>
                    <a:lnT w="9360">
                      <a:solidFill>
                        <a:srgbClr val="E3E7EE"/>
                      </a:solidFill>
                      <a:prstDash val="solid"/>
                    </a:lnT>
                    <a:lnB w="9360">
                      <a:solidFill>
                        <a:srgbClr val="E3E7EE"/>
                      </a:solidFill>
                      <a:prstDash val="solid"/>
                    </a:lnB>
                    <a:solidFill>
                      <a:srgbClr val="00696E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Segoe UI"/>
                        </a:rPr>
                        <a:t>Положение</a:t>
                      </a:r>
                      <a:endParaRPr lang="ru-MD" sz="11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E3E7EE"/>
                      </a:solidFill>
                      <a:prstDash val="solid"/>
                    </a:lnL>
                    <a:lnR w="9360">
                      <a:solidFill>
                        <a:srgbClr val="E3E7EE"/>
                      </a:solidFill>
                      <a:prstDash val="solid"/>
                    </a:lnR>
                    <a:lnT w="9360">
                      <a:solidFill>
                        <a:srgbClr val="E3E7EE"/>
                      </a:solidFill>
                      <a:prstDash val="solid"/>
                    </a:lnT>
                    <a:lnB w="9360">
                      <a:solidFill>
                        <a:srgbClr val="E3E7EE"/>
                      </a:solidFill>
                      <a:prstDash val="solid"/>
                    </a:lnB>
                    <a:solidFill>
                      <a:srgbClr val="00696E"/>
                    </a:solidFill>
                  </a:tcPr>
                </a:tc>
              </a:tr>
              <a:tr h="32904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0" u="none" strike="noStrike">
                          <a:solidFill>
                            <a:srgbClr val="1B2333"/>
                          </a:solidFill>
                          <a:effectLst/>
                          <a:uFillTx/>
                          <a:latin typeface="Segoe UI"/>
                        </a:rPr>
                        <a:t>Велосипед · карман</a:t>
                      </a:r>
                      <a:endParaRPr lang="ru-MD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E3E7EE"/>
                      </a:solidFill>
                      <a:prstDash val="solid"/>
                    </a:lnL>
                    <a:lnR w="9360">
                      <a:solidFill>
                        <a:srgbClr val="E3E7EE"/>
                      </a:solidFill>
                      <a:prstDash val="solid"/>
                    </a:lnR>
                    <a:lnT w="9360">
                      <a:solidFill>
                        <a:srgbClr val="E3E7EE"/>
                      </a:solidFill>
                      <a:prstDash val="solid"/>
                    </a:lnT>
                    <a:lnB w="9360">
                      <a:solidFill>
                        <a:srgbClr val="E3E7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0" u="none" strike="noStrike">
                          <a:solidFill>
                            <a:srgbClr val="1B2333"/>
                          </a:solidFill>
                          <a:effectLst/>
                          <a:uFillTx/>
                          <a:latin typeface="Segoe UI"/>
                        </a:rPr>
                        <a:t>2 160</a:t>
                      </a:r>
                      <a:endParaRPr lang="ru-MD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E3E7EE"/>
                      </a:solidFill>
                      <a:prstDash val="solid"/>
                    </a:lnL>
                    <a:lnR w="9360">
                      <a:solidFill>
                        <a:srgbClr val="E3E7EE"/>
                      </a:solidFill>
                      <a:prstDash val="solid"/>
                    </a:lnR>
                    <a:lnT w="9360">
                      <a:solidFill>
                        <a:srgbClr val="E3E7EE"/>
                      </a:solidFill>
                      <a:prstDash val="solid"/>
                    </a:lnT>
                    <a:lnB w="9360">
                      <a:solidFill>
                        <a:srgbClr val="E3E7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0" u="none" strike="noStrike">
                          <a:solidFill>
                            <a:srgbClr val="1B2333"/>
                          </a:solidFill>
                          <a:effectLst/>
                          <a:uFillTx/>
                          <a:latin typeface="Segoe UI"/>
                        </a:rPr>
                        <a:t>99 %</a:t>
                      </a:r>
                      <a:endParaRPr lang="ru-MD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E3E7EE"/>
                      </a:solidFill>
                      <a:prstDash val="solid"/>
                    </a:lnL>
                    <a:lnR w="9360">
                      <a:solidFill>
                        <a:srgbClr val="E3E7EE"/>
                      </a:solidFill>
                      <a:prstDash val="solid"/>
                    </a:lnR>
                    <a:lnT w="9360">
                      <a:solidFill>
                        <a:srgbClr val="E3E7EE"/>
                      </a:solidFill>
                      <a:prstDash val="solid"/>
                    </a:lnT>
                    <a:lnB w="9360">
                      <a:solidFill>
                        <a:srgbClr val="E3E7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2904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0" u="none" strike="noStrike">
                          <a:solidFill>
                            <a:srgbClr val="1B2333"/>
                          </a:solidFill>
                          <a:effectLst/>
                          <a:uFillTx/>
                          <a:latin typeface="Segoe UI"/>
                        </a:rPr>
                        <a:t>Ходьба · карман</a:t>
                      </a:r>
                      <a:endParaRPr lang="ru-MD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E3E7EE"/>
                      </a:solidFill>
                      <a:prstDash val="solid"/>
                    </a:lnL>
                    <a:lnR w="9360">
                      <a:solidFill>
                        <a:srgbClr val="E3E7EE"/>
                      </a:solidFill>
                      <a:prstDash val="solid"/>
                    </a:lnR>
                    <a:lnT w="9360">
                      <a:solidFill>
                        <a:srgbClr val="E3E7EE"/>
                      </a:solidFill>
                      <a:prstDash val="solid"/>
                    </a:lnT>
                    <a:lnB w="9360">
                      <a:solidFill>
                        <a:srgbClr val="E3E7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0" u="none" strike="noStrike">
                          <a:solidFill>
                            <a:srgbClr val="1B2333"/>
                          </a:solidFill>
                          <a:effectLst/>
                          <a:uFillTx/>
                          <a:latin typeface="Segoe UI"/>
                        </a:rPr>
                        <a:t>493</a:t>
                      </a:r>
                      <a:endParaRPr lang="ru-MD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E3E7EE"/>
                      </a:solidFill>
                      <a:prstDash val="solid"/>
                    </a:lnL>
                    <a:lnR w="9360">
                      <a:solidFill>
                        <a:srgbClr val="E3E7EE"/>
                      </a:solidFill>
                      <a:prstDash val="solid"/>
                    </a:lnR>
                    <a:lnT w="9360">
                      <a:solidFill>
                        <a:srgbClr val="E3E7EE"/>
                      </a:solidFill>
                      <a:prstDash val="solid"/>
                    </a:lnT>
                    <a:lnB w="9360">
                      <a:solidFill>
                        <a:srgbClr val="E3E7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0" u="none" strike="noStrike">
                          <a:solidFill>
                            <a:srgbClr val="1B2333"/>
                          </a:solidFill>
                          <a:effectLst/>
                          <a:uFillTx/>
                          <a:latin typeface="Segoe UI"/>
                        </a:rPr>
                        <a:t>100 %</a:t>
                      </a:r>
                      <a:endParaRPr lang="ru-MD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E3E7EE"/>
                      </a:solidFill>
                      <a:prstDash val="solid"/>
                    </a:lnL>
                    <a:lnR w="9360">
                      <a:solidFill>
                        <a:srgbClr val="E3E7EE"/>
                      </a:solidFill>
                      <a:prstDash val="solid"/>
                    </a:lnR>
                    <a:lnT w="9360">
                      <a:solidFill>
                        <a:srgbClr val="E3E7EE"/>
                      </a:solidFill>
                      <a:prstDash val="solid"/>
                    </a:lnT>
                    <a:lnB w="9360">
                      <a:solidFill>
                        <a:srgbClr val="E3E7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2904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0" u="none" strike="noStrike">
                          <a:solidFill>
                            <a:srgbClr val="1B2333"/>
                          </a:solidFill>
                          <a:effectLst/>
                          <a:uFillTx/>
                          <a:latin typeface="Segoe UI"/>
                        </a:rPr>
                        <a:t>Подъём · карман</a:t>
                      </a:r>
                      <a:endParaRPr lang="ru-MD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E3E7EE"/>
                      </a:solidFill>
                      <a:prstDash val="solid"/>
                    </a:lnL>
                    <a:lnR w="9360">
                      <a:solidFill>
                        <a:srgbClr val="E3E7EE"/>
                      </a:solidFill>
                      <a:prstDash val="solid"/>
                    </a:lnR>
                    <a:lnT w="9360">
                      <a:solidFill>
                        <a:srgbClr val="E3E7EE"/>
                      </a:solidFill>
                      <a:prstDash val="solid"/>
                    </a:lnT>
                    <a:lnB w="9360">
                      <a:solidFill>
                        <a:srgbClr val="E3E7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0" u="none" strike="noStrike">
                          <a:solidFill>
                            <a:srgbClr val="1B2333"/>
                          </a:solidFill>
                          <a:effectLst/>
                          <a:uFillTx/>
                          <a:latin typeface="Segoe UI"/>
                        </a:rPr>
                        <a:t>114</a:t>
                      </a:r>
                      <a:endParaRPr lang="ru-MD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E3E7EE"/>
                      </a:solidFill>
                      <a:prstDash val="solid"/>
                    </a:lnL>
                    <a:lnR w="9360">
                      <a:solidFill>
                        <a:srgbClr val="E3E7EE"/>
                      </a:solidFill>
                      <a:prstDash val="solid"/>
                    </a:lnR>
                    <a:lnT w="9360">
                      <a:solidFill>
                        <a:srgbClr val="E3E7EE"/>
                      </a:solidFill>
                      <a:prstDash val="solid"/>
                    </a:lnT>
                    <a:lnB w="9360">
                      <a:solidFill>
                        <a:srgbClr val="E3E7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0" u="none" strike="noStrike">
                          <a:solidFill>
                            <a:srgbClr val="1B2333"/>
                          </a:solidFill>
                          <a:effectLst/>
                          <a:uFillTx/>
                          <a:latin typeface="Segoe UI"/>
                        </a:rPr>
                        <a:t>100 %</a:t>
                      </a:r>
                      <a:endParaRPr lang="ru-MD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E3E7EE"/>
                      </a:solidFill>
                      <a:prstDash val="solid"/>
                    </a:lnL>
                    <a:lnR w="9360">
                      <a:solidFill>
                        <a:srgbClr val="E3E7EE"/>
                      </a:solidFill>
                      <a:prstDash val="solid"/>
                    </a:lnR>
                    <a:lnT w="9360">
                      <a:solidFill>
                        <a:srgbClr val="E3E7EE"/>
                      </a:solidFill>
                      <a:prstDash val="solid"/>
                    </a:lnT>
                    <a:lnB w="9360">
                      <a:solidFill>
                        <a:srgbClr val="E3E7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2904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0" u="none" strike="noStrike">
                          <a:solidFill>
                            <a:srgbClr val="1B2333"/>
                          </a:solidFill>
                          <a:effectLst/>
                          <a:uFillTx/>
                          <a:latin typeface="Segoe UI"/>
                        </a:rPr>
                        <a:t>Спуск · карман</a:t>
                      </a:r>
                      <a:endParaRPr lang="ru-MD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E3E7EE"/>
                      </a:solidFill>
                      <a:prstDash val="solid"/>
                    </a:lnL>
                    <a:lnR w="9360">
                      <a:solidFill>
                        <a:srgbClr val="E3E7EE"/>
                      </a:solidFill>
                      <a:prstDash val="solid"/>
                    </a:lnR>
                    <a:lnT w="9360">
                      <a:solidFill>
                        <a:srgbClr val="E3E7EE"/>
                      </a:solidFill>
                      <a:prstDash val="solid"/>
                    </a:lnT>
                    <a:lnB w="9360">
                      <a:solidFill>
                        <a:srgbClr val="E3E7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0" u="none" strike="noStrike">
                          <a:solidFill>
                            <a:srgbClr val="1B2333"/>
                          </a:solidFill>
                          <a:effectLst/>
                          <a:uFillTx/>
                          <a:latin typeface="Segoe UI"/>
                        </a:rPr>
                        <a:t>97</a:t>
                      </a:r>
                      <a:endParaRPr lang="ru-MD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E3E7EE"/>
                      </a:solidFill>
                      <a:prstDash val="solid"/>
                    </a:lnL>
                    <a:lnR w="9360">
                      <a:solidFill>
                        <a:srgbClr val="E3E7EE"/>
                      </a:solidFill>
                      <a:prstDash val="solid"/>
                    </a:lnR>
                    <a:lnT w="9360">
                      <a:solidFill>
                        <a:srgbClr val="E3E7EE"/>
                      </a:solidFill>
                      <a:prstDash val="solid"/>
                    </a:lnT>
                    <a:lnB w="9360">
                      <a:solidFill>
                        <a:srgbClr val="E3E7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0" u="none" strike="noStrike">
                          <a:solidFill>
                            <a:srgbClr val="1B2333"/>
                          </a:solidFill>
                          <a:effectLst/>
                          <a:uFillTx/>
                          <a:latin typeface="Segoe UI"/>
                        </a:rPr>
                        <a:t>96 %</a:t>
                      </a:r>
                      <a:endParaRPr lang="ru-MD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E3E7EE"/>
                      </a:solidFill>
                      <a:prstDash val="solid"/>
                    </a:lnL>
                    <a:lnR w="9360">
                      <a:solidFill>
                        <a:srgbClr val="E3E7EE"/>
                      </a:solidFill>
                      <a:prstDash val="solid"/>
                    </a:lnR>
                    <a:lnT w="9360">
                      <a:solidFill>
                        <a:srgbClr val="E3E7EE"/>
                      </a:solidFill>
                      <a:prstDash val="solid"/>
                    </a:lnT>
                    <a:lnB w="9360">
                      <a:solidFill>
                        <a:srgbClr val="E3E7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2904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0" u="none" strike="noStrike">
                          <a:solidFill>
                            <a:srgbClr val="1B2333"/>
                          </a:solidFill>
                          <a:effectLst/>
                          <a:uFillTx/>
                          <a:latin typeface="Segoe UI"/>
                        </a:rPr>
                        <a:t>Покой · рука</a:t>
                      </a:r>
                      <a:endParaRPr lang="ru-MD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E3E7EE"/>
                      </a:solidFill>
                      <a:prstDash val="solid"/>
                    </a:lnL>
                    <a:lnR w="9360">
                      <a:solidFill>
                        <a:srgbClr val="E3E7EE"/>
                      </a:solidFill>
                      <a:prstDash val="solid"/>
                    </a:lnR>
                    <a:lnT w="9360">
                      <a:solidFill>
                        <a:srgbClr val="E3E7EE"/>
                      </a:solidFill>
                      <a:prstDash val="solid"/>
                    </a:lnT>
                    <a:lnB w="9360">
                      <a:solidFill>
                        <a:srgbClr val="E3E7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0" u="none" strike="noStrike">
                          <a:solidFill>
                            <a:srgbClr val="1B2333"/>
                          </a:solidFill>
                          <a:effectLst/>
                          <a:uFillTx/>
                          <a:latin typeface="Segoe UI"/>
                        </a:rPr>
                        <a:t>2 508</a:t>
                      </a:r>
                      <a:endParaRPr lang="ru-MD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E3E7EE"/>
                      </a:solidFill>
                      <a:prstDash val="solid"/>
                    </a:lnL>
                    <a:lnR w="9360">
                      <a:solidFill>
                        <a:srgbClr val="E3E7EE"/>
                      </a:solidFill>
                      <a:prstDash val="solid"/>
                    </a:lnR>
                    <a:lnT w="9360">
                      <a:solidFill>
                        <a:srgbClr val="E3E7EE"/>
                      </a:solidFill>
                      <a:prstDash val="solid"/>
                    </a:lnT>
                    <a:lnB w="9360">
                      <a:solidFill>
                        <a:srgbClr val="E3E7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0" u="none" strike="noStrike">
                          <a:solidFill>
                            <a:srgbClr val="1B2333"/>
                          </a:solidFill>
                          <a:effectLst/>
                          <a:uFillTx/>
                          <a:latin typeface="Segoe UI"/>
                        </a:rPr>
                        <a:t>100 %</a:t>
                      </a:r>
                      <a:endParaRPr lang="ru-MD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E3E7EE"/>
                      </a:solidFill>
                      <a:prstDash val="solid"/>
                    </a:lnL>
                    <a:lnR w="9360">
                      <a:solidFill>
                        <a:srgbClr val="E3E7EE"/>
                      </a:solidFill>
                      <a:prstDash val="solid"/>
                    </a:lnR>
                    <a:lnT w="9360">
                      <a:solidFill>
                        <a:srgbClr val="E3E7EE"/>
                      </a:solidFill>
                      <a:prstDash val="solid"/>
                    </a:lnT>
                    <a:lnB w="9360">
                      <a:solidFill>
                        <a:srgbClr val="E3E7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2904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0" u="none" strike="noStrike">
                          <a:solidFill>
                            <a:srgbClr val="1B2333"/>
                          </a:solidFill>
                          <a:effectLst/>
                          <a:uFillTx/>
                          <a:latin typeface="Segoe UI"/>
                        </a:rPr>
                        <a:t>Ходьба · рука</a:t>
                      </a:r>
                      <a:endParaRPr lang="ru-MD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E3E7EE"/>
                      </a:solidFill>
                      <a:prstDash val="solid"/>
                    </a:lnL>
                    <a:lnR w="9360">
                      <a:solidFill>
                        <a:srgbClr val="E3E7EE"/>
                      </a:solidFill>
                      <a:prstDash val="solid"/>
                    </a:lnR>
                    <a:lnT w="9360">
                      <a:solidFill>
                        <a:srgbClr val="E3E7EE"/>
                      </a:solidFill>
                      <a:prstDash val="solid"/>
                    </a:lnT>
                    <a:lnB w="9360">
                      <a:solidFill>
                        <a:srgbClr val="E3E7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0" u="none" strike="noStrike">
                          <a:solidFill>
                            <a:srgbClr val="1B2333"/>
                          </a:solidFill>
                          <a:effectLst/>
                          <a:uFillTx/>
                          <a:latin typeface="Segoe UI"/>
                        </a:rPr>
                        <a:t>109</a:t>
                      </a:r>
                      <a:endParaRPr lang="ru-MD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E3E7EE"/>
                      </a:solidFill>
                      <a:prstDash val="solid"/>
                    </a:lnL>
                    <a:lnR w="9360">
                      <a:solidFill>
                        <a:srgbClr val="E3E7EE"/>
                      </a:solidFill>
                      <a:prstDash val="solid"/>
                    </a:lnR>
                    <a:lnT w="9360">
                      <a:solidFill>
                        <a:srgbClr val="E3E7EE"/>
                      </a:solidFill>
                      <a:prstDash val="solid"/>
                    </a:lnT>
                    <a:lnB w="9360">
                      <a:solidFill>
                        <a:srgbClr val="E3E7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0" u="none" strike="noStrike">
                          <a:solidFill>
                            <a:srgbClr val="1B2333"/>
                          </a:solidFill>
                          <a:effectLst/>
                          <a:uFillTx/>
                          <a:latin typeface="Segoe UI"/>
                        </a:rPr>
                        <a:t>92 %</a:t>
                      </a:r>
                      <a:endParaRPr lang="ru-MD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E3E7EE"/>
                      </a:solidFill>
                      <a:prstDash val="solid"/>
                    </a:lnL>
                    <a:lnR w="9360">
                      <a:solidFill>
                        <a:srgbClr val="E3E7EE"/>
                      </a:solidFill>
                      <a:prstDash val="solid"/>
                    </a:lnR>
                    <a:lnT w="9360">
                      <a:solidFill>
                        <a:srgbClr val="E3E7EE"/>
                      </a:solidFill>
                      <a:prstDash val="solid"/>
                    </a:lnT>
                    <a:lnB w="9360">
                      <a:solidFill>
                        <a:srgbClr val="E3E7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2904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0" u="none" strike="noStrike">
                          <a:solidFill>
                            <a:srgbClr val="1B2333"/>
                          </a:solidFill>
                          <a:effectLst/>
                          <a:uFillTx/>
                          <a:latin typeface="Segoe UI"/>
                        </a:rPr>
                        <a:t>Подъём · рука</a:t>
                      </a:r>
                      <a:endParaRPr lang="ru-MD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E3E7EE"/>
                      </a:solidFill>
                      <a:prstDash val="solid"/>
                    </a:lnL>
                    <a:lnR w="9360">
                      <a:solidFill>
                        <a:srgbClr val="E3E7EE"/>
                      </a:solidFill>
                      <a:prstDash val="solid"/>
                    </a:lnR>
                    <a:lnT w="9360">
                      <a:solidFill>
                        <a:srgbClr val="E3E7EE"/>
                      </a:solidFill>
                      <a:prstDash val="solid"/>
                    </a:lnT>
                    <a:lnB w="9360">
                      <a:solidFill>
                        <a:srgbClr val="E3E7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0" u="none" strike="noStrike">
                          <a:solidFill>
                            <a:srgbClr val="1B2333"/>
                          </a:solidFill>
                          <a:effectLst/>
                          <a:uFillTx/>
                          <a:latin typeface="Segoe UI"/>
                        </a:rPr>
                        <a:t>47</a:t>
                      </a:r>
                      <a:endParaRPr lang="ru-MD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E3E7EE"/>
                      </a:solidFill>
                      <a:prstDash val="solid"/>
                    </a:lnL>
                    <a:lnR w="9360">
                      <a:solidFill>
                        <a:srgbClr val="E3E7EE"/>
                      </a:solidFill>
                      <a:prstDash val="solid"/>
                    </a:lnR>
                    <a:lnT w="9360">
                      <a:solidFill>
                        <a:srgbClr val="E3E7EE"/>
                      </a:solidFill>
                      <a:prstDash val="solid"/>
                    </a:lnT>
                    <a:lnB w="9360">
                      <a:solidFill>
                        <a:srgbClr val="E3E7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0" u="none" strike="noStrike">
                          <a:solidFill>
                            <a:srgbClr val="1B2333"/>
                          </a:solidFill>
                          <a:effectLst/>
                          <a:uFillTx/>
                          <a:latin typeface="Segoe UI"/>
                        </a:rPr>
                        <a:t>66 %</a:t>
                      </a:r>
                      <a:endParaRPr lang="ru-MD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E3E7EE"/>
                      </a:solidFill>
                      <a:prstDash val="solid"/>
                    </a:lnL>
                    <a:lnR w="9360">
                      <a:solidFill>
                        <a:srgbClr val="E3E7EE"/>
                      </a:solidFill>
                      <a:prstDash val="solid"/>
                    </a:lnR>
                    <a:lnT w="9360">
                      <a:solidFill>
                        <a:srgbClr val="E3E7EE"/>
                      </a:solidFill>
                      <a:prstDash val="solid"/>
                    </a:lnT>
                    <a:lnB w="9360">
                      <a:solidFill>
                        <a:srgbClr val="E3E7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2904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0" u="none" strike="noStrike">
                          <a:solidFill>
                            <a:srgbClr val="1B2333"/>
                          </a:solidFill>
                          <a:effectLst/>
                          <a:uFillTx/>
                          <a:latin typeface="Segoe UI"/>
                        </a:rPr>
                        <a:t>Покой · стол</a:t>
                      </a:r>
                      <a:endParaRPr lang="ru-MD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E3E7EE"/>
                      </a:solidFill>
                      <a:prstDash val="solid"/>
                    </a:lnL>
                    <a:lnR w="9360">
                      <a:solidFill>
                        <a:srgbClr val="E3E7EE"/>
                      </a:solidFill>
                      <a:prstDash val="solid"/>
                    </a:lnR>
                    <a:lnT w="9360">
                      <a:solidFill>
                        <a:srgbClr val="E3E7EE"/>
                      </a:solidFill>
                      <a:prstDash val="solid"/>
                    </a:lnT>
                    <a:lnB w="9360">
                      <a:solidFill>
                        <a:srgbClr val="E3E7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0" u="none" strike="noStrike">
                          <a:solidFill>
                            <a:srgbClr val="1B2333"/>
                          </a:solidFill>
                          <a:effectLst/>
                          <a:uFillTx/>
                          <a:latin typeface="Segoe UI"/>
                        </a:rPr>
                        <a:t>58</a:t>
                      </a:r>
                      <a:endParaRPr lang="ru-MD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E3E7EE"/>
                      </a:solidFill>
                      <a:prstDash val="solid"/>
                    </a:lnL>
                    <a:lnR w="9360">
                      <a:solidFill>
                        <a:srgbClr val="E3E7EE"/>
                      </a:solidFill>
                      <a:prstDash val="solid"/>
                    </a:lnR>
                    <a:lnT w="9360">
                      <a:solidFill>
                        <a:srgbClr val="E3E7EE"/>
                      </a:solidFill>
                      <a:prstDash val="solid"/>
                    </a:lnT>
                    <a:lnB w="9360">
                      <a:solidFill>
                        <a:srgbClr val="E3E7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0" u="none" strike="noStrike">
                          <a:solidFill>
                            <a:srgbClr val="1B2333"/>
                          </a:solidFill>
                          <a:effectLst/>
                          <a:uFillTx/>
                          <a:latin typeface="Segoe UI"/>
                        </a:rPr>
                        <a:t>—</a:t>
                      </a:r>
                      <a:endParaRPr lang="ru-MD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E3E7EE"/>
                      </a:solidFill>
                      <a:prstDash val="solid"/>
                    </a:lnL>
                    <a:lnR w="9360">
                      <a:solidFill>
                        <a:srgbClr val="E3E7EE"/>
                      </a:solidFill>
                      <a:prstDash val="solid"/>
                    </a:lnR>
                    <a:lnT w="9360">
                      <a:solidFill>
                        <a:srgbClr val="E3E7EE"/>
                      </a:solidFill>
                      <a:prstDash val="solid"/>
                    </a:lnT>
                    <a:lnB w="9360">
                      <a:solidFill>
                        <a:srgbClr val="E3E7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91" name="rich-340"/>
          <p:cNvSpPr/>
          <p:nvPr/>
        </p:nvSpPr>
        <p:spPr>
          <a:xfrm>
            <a:off x="7955280" y="4343400"/>
            <a:ext cx="368460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152280" indent="-152280" defTabSz="914400">
              <a:lnSpc>
                <a:spcPct val="100000"/>
              </a:lnSpc>
              <a:spcAft>
                <a:spcPts val="499"/>
              </a:spcAft>
              <a:buClr>
                <a:srgbClr val="1B2333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Segoe UI"/>
              </a:rPr>
              <a:t>Слабое место — ходьба в руке (35 %): две записи, телефон держали по-разному (почти горизонтально и верхом вниз)</a:t>
            </a:r>
            <a:endParaRPr lang="ru-MD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2" name="PlaceHolder 2"/>
          <p:cNvSpPr>
            <a:spLocks noGrp="1"/>
          </p:cNvSpPr>
          <p:nvPr>
            <p:ph/>
          </p:nvPr>
        </p:nvSpPr>
        <p:spPr>
          <a:xfrm>
            <a:off x="548640" y="914400"/>
            <a:ext cx="11091240" cy="411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spcBef>
                <a:spcPts val="1417"/>
              </a:spcBef>
              <a:buNone/>
            </a:pPr>
            <a:endParaRPr lang="en-US" sz="1500" b="0" u="none" strike="noStrike">
              <a:solidFill>
                <a:schemeClr val="dk2"/>
              </a:solidFill>
              <a:effectLst/>
              <a:uFillTx/>
              <a:latin typeface="Segoe UI"/>
            </a:endParaRPr>
          </a:p>
        </p:txBody>
      </p:sp>
      <p:sp>
        <p:nvSpPr>
          <p:cNvPr id="393" name="PlaceHolder 3"/>
          <p:cNvSpPr>
            <a:spLocks noGrp="1"/>
          </p:cNvSpPr>
          <p:nvPr>
            <p:ph type="sldNum" idx="17"/>
          </p:nvPr>
        </p:nvSpPr>
        <p:spPr>
          <a:xfrm>
            <a:off x="11274480" y="6446520"/>
            <a:ext cx="456840" cy="255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000" b="0" u="none" strike="noStrike">
                <a:solidFill>
                  <a:schemeClr val="dk2"/>
                </a:solidFill>
                <a:effectLst/>
                <a:uFillTx/>
                <a:latin typeface="Segoe U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E973848-37F8-480A-B6B6-454103DCEA86}" type="slidenum">
              <a:rPr lang="en-US" sz="1000" b="0" u="none" strike="noStrike">
                <a:solidFill>
                  <a:schemeClr val="dk2"/>
                </a:solidFill>
                <a:effectLst/>
                <a:uFillTx/>
                <a:latin typeface="Segoe UI"/>
              </a:rPr>
              <a:t>&lt;номер&gt;</a:t>
            </a:fld>
            <a:endParaRPr lang="ru-MD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PlaceHolder 1"/>
          <p:cNvSpPr>
            <a:spLocks noGrp="1"/>
          </p:cNvSpPr>
          <p:nvPr>
            <p:ph type="title" hasCustomPrompt="1"/>
          </p:nvPr>
        </p:nvSpPr>
        <p:spPr>
          <a:xfrm>
            <a:off x="548640" y="274320"/>
            <a:ext cx="11091240" cy="658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00" b="1" u="none" strike="noStrike">
                <a:solidFill>
                  <a:schemeClr val="dk1"/>
                </a:solidFill>
                <a:effectLst/>
                <a:uFillTx/>
                <a:latin typeface="Segoe UI"/>
              </a:rPr>
              <a:t>Реализация на устройстве</a:t>
            </a:r>
            <a:endParaRPr lang="ru-MD" sz="3000" b="0" u="none" strike="noStrike">
              <a:solidFill>
                <a:schemeClr val="dk1"/>
              </a:solidFill>
              <a:effectLst/>
              <a:uFillTx/>
              <a:latin typeface="Segoe UI"/>
            </a:endParaRPr>
          </a:p>
        </p:txBody>
      </p:sp>
      <p:sp>
        <p:nvSpPr>
          <p:cNvPr id="395" name="PlaceHolder 2"/>
          <p:cNvSpPr>
            <a:spLocks noGrp="1"/>
          </p:cNvSpPr>
          <p:nvPr>
            <p:ph hasCustomPrompt="1"/>
          </p:nvPr>
        </p:nvSpPr>
        <p:spPr>
          <a:xfrm>
            <a:off x="548640" y="914400"/>
            <a:ext cx="11091240" cy="411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 defTabSz="914400">
              <a:lnSpc>
                <a:spcPct val="100000"/>
              </a:lnSpc>
              <a:spcBef>
                <a:spcPts val="300"/>
              </a:spcBef>
              <a:buNone/>
              <a:tabLst>
                <a:tab pos="0" algn="l"/>
              </a:tabLst>
            </a:pPr>
            <a:r>
              <a:rPr lang="en-US" sz="1500" b="0" u="none" strike="noStrike">
                <a:solidFill>
                  <a:schemeClr val="dk2"/>
                </a:solidFill>
                <a:effectLst/>
                <a:uFillTx/>
                <a:latin typeface="Segoe UI"/>
              </a:rPr>
              <a:t>Android-приложение: всё считается на телефоне, без сети, в том числе при погашенном экране</a:t>
            </a:r>
            <a:endParaRPr lang="ru-MD" sz="1500" b="0" u="none" strike="noStrike">
              <a:solidFill>
                <a:schemeClr val="dk1"/>
              </a:solidFill>
              <a:effectLst/>
              <a:uFillTx/>
              <a:latin typeface="Segoe UI"/>
            </a:endParaRPr>
          </a:p>
        </p:txBody>
      </p:sp>
      <p:sp>
        <p:nvSpPr>
          <p:cNvPr id="396" name="phone-frame-341"/>
          <p:cNvSpPr/>
          <p:nvPr/>
        </p:nvSpPr>
        <p:spPr>
          <a:xfrm>
            <a:off x="576000" y="1398960"/>
            <a:ext cx="2171160" cy="4654080"/>
          </a:xfrm>
          <a:prstGeom prst="roundRect">
            <a:avLst>
              <a:gd name="adj" fmla="val 6737"/>
            </a:avLst>
          </a:prstGeom>
          <a:solidFill>
            <a:schemeClr val="tx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MD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97" name="screenshot-342" descr="C:\Users\danl0\AppData\Local\Temp\claude\C--Users-danl0\64257144-142c-4560-8b2a-91b138f1175f\scratchpad\deck\assets\img14.png"/>
          <p:cNvPicPr/>
          <p:nvPr/>
        </p:nvPicPr>
        <p:blipFill>
          <a:blip r:embed="rId1"/>
          <a:stretch/>
        </p:blipFill>
        <p:spPr>
          <a:xfrm>
            <a:off x="640080" y="1463040"/>
            <a:ext cx="2043360" cy="4525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98" name="phone-frame-343"/>
          <p:cNvSpPr/>
          <p:nvPr/>
        </p:nvSpPr>
        <p:spPr>
          <a:xfrm>
            <a:off x="2907720" y="1398960"/>
            <a:ext cx="2171160" cy="4654080"/>
          </a:xfrm>
          <a:prstGeom prst="roundRect">
            <a:avLst>
              <a:gd name="adj" fmla="val 6737"/>
            </a:avLst>
          </a:prstGeom>
          <a:solidFill>
            <a:schemeClr val="tx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MD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99" name="screenshot-344" descr="C:\Users\danl0\AppData\Local\Temp\claude\C--Users-danl0\64257144-142c-4560-8b2a-91b138f1175f\scratchpad\deck\assets\img43.png"/>
          <p:cNvPicPr/>
          <p:nvPr/>
        </p:nvPicPr>
        <p:blipFill>
          <a:blip r:embed="rId2"/>
          <a:stretch/>
        </p:blipFill>
        <p:spPr>
          <a:xfrm>
            <a:off x="2971800" y="1463040"/>
            <a:ext cx="2043360" cy="4525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00" name="text-345"/>
          <p:cNvSpPr/>
          <p:nvPr/>
        </p:nvSpPr>
        <p:spPr>
          <a:xfrm>
            <a:off x="548640" y="6108120"/>
            <a:ext cx="21942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chemeClr val="dk2"/>
                </a:solidFill>
                <a:effectLst/>
                <a:uFillTx/>
                <a:latin typeface="Segoe UI"/>
              </a:rPr>
              <a:t>«Сейчас»</a:t>
            </a:r>
            <a:endParaRPr lang="ru-MD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1" name="text-346"/>
          <p:cNvSpPr/>
          <p:nvPr/>
        </p:nvSpPr>
        <p:spPr>
          <a:xfrm>
            <a:off x="2880360" y="6108120"/>
            <a:ext cx="21942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chemeClr val="dk2"/>
                </a:solidFill>
                <a:effectLst/>
                <a:uFillTx/>
                <a:latin typeface="Segoe UI"/>
              </a:rPr>
              <a:t>«Журнал»</a:t>
            </a:r>
            <a:endParaRPr lang="ru-MD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2" name="card-347"/>
          <p:cNvSpPr/>
          <p:nvPr/>
        </p:nvSpPr>
        <p:spPr>
          <a:xfrm>
            <a:off x="5486400" y="1463040"/>
            <a:ext cx="2971440" cy="1462680"/>
          </a:xfrm>
          <a:prstGeom prst="roundRect">
            <a:avLst>
              <a:gd name="adj" fmla="val 7500"/>
            </a:avLst>
          </a:prstGeom>
          <a:solidFill>
            <a:schemeClr val="accent1">
              <a:alpha val="7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MD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3" name="plate-348"/>
          <p:cNvSpPr/>
          <p:nvPr/>
        </p:nvSpPr>
        <p:spPr>
          <a:xfrm>
            <a:off x="5650920" y="1627560"/>
            <a:ext cx="475200" cy="475200"/>
          </a:xfrm>
          <a:prstGeom prst="roundRect">
            <a:avLst>
              <a:gd name="adj" fmla="val 19231"/>
            </a:avLst>
          </a:prstGeom>
          <a:solidFill>
            <a:schemeClr val="bg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MD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04" name="icon-349" descr="C:\Users\danl0\AppData\Local\Temp\claude\C--Users-danl0\64257144-142c-4560-8b2a-91b138f1175f\scratchpad\deck\assets\img47.png"/>
          <p:cNvPicPr/>
          <p:nvPr/>
        </p:nvPicPr>
        <p:blipFill>
          <a:blip r:embed="rId3"/>
          <a:stretch/>
        </p:blipFill>
        <p:spPr>
          <a:xfrm>
            <a:off x="5731920" y="1708560"/>
            <a:ext cx="313560" cy="313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05" name="text-350"/>
          <p:cNvSpPr/>
          <p:nvPr/>
        </p:nvSpPr>
        <p:spPr>
          <a:xfrm>
            <a:off x="6263640" y="1627560"/>
            <a:ext cx="210276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chemeClr val="dk1"/>
                </a:solidFill>
                <a:effectLst/>
                <a:uFillTx/>
                <a:latin typeface="Segoe UI"/>
              </a:rPr>
              <a:t>Конвейер</a:t>
            </a:r>
            <a:endParaRPr lang="ru-MD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6" name="text-351"/>
          <p:cNvSpPr/>
          <p:nvPr/>
        </p:nvSpPr>
        <p:spPr>
          <a:xfrm>
            <a:off x="5650920" y="2194560"/>
            <a:ext cx="26971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chemeClr val="dk2"/>
                </a:solidFill>
                <a:effectLst/>
                <a:uFillTx/>
                <a:latin typeface="Segoe UI"/>
              </a:rPr>
              <a:t>Kotlin, Flow: датчики → окно → 2 модели → правила; решение каждые 1,28 с</a:t>
            </a:r>
            <a:endParaRPr lang="ru-MD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7" name="card-352"/>
          <p:cNvSpPr/>
          <p:nvPr/>
        </p:nvSpPr>
        <p:spPr>
          <a:xfrm>
            <a:off x="8595360" y="1463040"/>
            <a:ext cx="2971440" cy="1462680"/>
          </a:xfrm>
          <a:prstGeom prst="roundRect">
            <a:avLst>
              <a:gd name="adj" fmla="val 7500"/>
            </a:avLst>
          </a:prstGeom>
          <a:solidFill>
            <a:schemeClr val="accent1">
              <a:alpha val="7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MD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8" name="plate-353"/>
          <p:cNvSpPr/>
          <p:nvPr/>
        </p:nvSpPr>
        <p:spPr>
          <a:xfrm>
            <a:off x="8759880" y="1627560"/>
            <a:ext cx="475200" cy="475200"/>
          </a:xfrm>
          <a:prstGeom prst="roundRect">
            <a:avLst>
              <a:gd name="adj" fmla="val 19231"/>
            </a:avLst>
          </a:prstGeom>
          <a:solidFill>
            <a:schemeClr val="bg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MD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09" name="icon-354" descr="C:\Users\danl0\AppData\Local\Temp\claude\C--Users-danl0\64257144-142c-4560-8b2a-91b138f1175f\scratchpad\deck\assets\img46.png"/>
          <p:cNvPicPr/>
          <p:nvPr/>
        </p:nvPicPr>
        <p:blipFill>
          <a:blip r:embed="rId4"/>
          <a:stretch/>
        </p:blipFill>
        <p:spPr>
          <a:xfrm>
            <a:off x="8840880" y="1708560"/>
            <a:ext cx="313560" cy="313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10" name="text-355"/>
          <p:cNvSpPr/>
          <p:nvPr/>
        </p:nvSpPr>
        <p:spPr>
          <a:xfrm>
            <a:off x="9372600" y="1627560"/>
            <a:ext cx="210276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chemeClr val="dk1"/>
                </a:solidFill>
                <a:effectLst/>
                <a:uFillTx/>
                <a:latin typeface="Segoe UI"/>
              </a:rPr>
              <a:t>Модели</a:t>
            </a:r>
            <a:endParaRPr lang="ru-MD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1" name="text-356"/>
          <p:cNvSpPr/>
          <p:nvPr/>
        </p:nvSpPr>
        <p:spPr>
          <a:xfrm>
            <a:off x="8759880" y="2194560"/>
            <a:ext cx="26971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chemeClr val="dk2"/>
                </a:solidFill>
                <a:effectLst/>
                <a:uFillTx/>
                <a:latin typeface="Segoe UI"/>
              </a:rPr>
              <a:t>TensorFlow Lite 2.16, float32: 1,86 МБ + 45 КБ; запасной эвристический классификатор</a:t>
            </a:r>
            <a:endParaRPr lang="ru-MD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2" name="card-357"/>
          <p:cNvSpPr/>
          <p:nvPr/>
        </p:nvSpPr>
        <p:spPr>
          <a:xfrm>
            <a:off x="5486400" y="3063240"/>
            <a:ext cx="2971440" cy="1462680"/>
          </a:xfrm>
          <a:prstGeom prst="roundRect">
            <a:avLst>
              <a:gd name="adj" fmla="val 7500"/>
            </a:avLst>
          </a:prstGeom>
          <a:solidFill>
            <a:schemeClr val="accent1">
              <a:alpha val="7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MD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3" name="plate-358"/>
          <p:cNvSpPr/>
          <p:nvPr/>
        </p:nvSpPr>
        <p:spPr>
          <a:xfrm>
            <a:off x="5650920" y="3227760"/>
            <a:ext cx="475200" cy="475200"/>
          </a:xfrm>
          <a:prstGeom prst="roundRect">
            <a:avLst>
              <a:gd name="adj" fmla="val 19231"/>
            </a:avLst>
          </a:prstGeom>
          <a:solidFill>
            <a:schemeClr val="bg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MD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14" name="icon-359" descr="C:\Users\danl0\AppData\Local\Temp\claude\C--Users-danl0\64257144-142c-4560-8b2a-91b138f1175f\scratchpad\deck\assets\img13.png"/>
          <p:cNvPicPr/>
          <p:nvPr/>
        </p:nvPicPr>
        <p:blipFill>
          <a:blip r:embed="rId5"/>
          <a:stretch/>
        </p:blipFill>
        <p:spPr>
          <a:xfrm>
            <a:off x="5731920" y="3308760"/>
            <a:ext cx="313560" cy="313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15" name="text-360"/>
          <p:cNvSpPr/>
          <p:nvPr/>
        </p:nvSpPr>
        <p:spPr>
          <a:xfrm>
            <a:off x="6263640" y="3227760"/>
            <a:ext cx="210276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chemeClr val="dk1"/>
                </a:solidFill>
                <a:effectLst/>
                <a:uFillTx/>
                <a:latin typeface="Segoe UI"/>
              </a:rPr>
              <a:t>Фоновая работа</a:t>
            </a:r>
            <a:endParaRPr lang="ru-MD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6" name="text-361"/>
          <p:cNvSpPr/>
          <p:nvPr/>
        </p:nvSpPr>
        <p:spPr>
          <a:xfrm>
            <a:off x="5650920" y="3794760"/>
            <a:ext cx="26971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chemeClr val="dk2"/>
                </a:solidFill>
                <a:effectLst/>
                <a:uFillTx/>
                <a:latin typeface="Segoe UI"/>
              </a:rPr>
              <a:t>передний сервис (тип health); автозапуск при включении телефона</a:t>
            </a:r>
            <a:endParaRPr lang="ru-MD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7" name="card-362"/>
          <p:cNvSpPr/>
          <p:nvPr/>
        </p:nvSpPr>
        <p:spPr>
          <a:xfrm>
            <a:off x="8595360" y="3063240"/>
            <a:ext cx="2971440" cy="1462680"/>
          </a:xfrm>
          <a:prstGeom prst="roundRect">
            <a:avLst>
              <a:gd name="adj" fmla="val 7500"/>
            </a:avLst>
          </a:prstGeom>
          <a:solidFill>
            <a:schemeClr val="accent1">
              <a:alpha val="7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MD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8" name="plate-363"/>
          <p:cNvSpPr/>
          <p:nvPr/>
        </p:nvSpPr>
        <p:spPr>
          <a:xfrm>
            <a:off x="8759880" y="3227760"/>
            <a:ext cx="475200" cy="475200"/>
          </a:xfrm>
          <a:prstGeom prst="roundRect">
            <a:avLst>
              <a:gd name="adj" fmla="val 19231"/>
            </a:avLst>
          </a:prstGeom>
          <a:solidFill>
            <a:schemeClr val="bg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MD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19" name="icon-364" descr="C:\Users\danl0\AppData\Local\Temp\claude\C--Users-danl0\64257144-142c-4560-8b2a-91b138f1175f\scratchpad\deck\assets\img12.png"/>
          <p:cNvPicPr/>
          <p:nvPr/>
        </p:nvPicPr>
        <p:blipFill>
          <a:blip r:embed="rId6"/>
          <a:stretch/>
        </p:blipFill>
        <p:spPr>
          <a:xfrm>
            <a:off x="8840880" y="3308760"/>
            <a:ext cx="313560" cy="313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20" name="text-365"/>
          <p:cNvSpPr/>
          <p:nvPr/>
        </p:nvSpPr>
        <p:spPr>
          <a:xfrm>
            <a:off x="9372600" y="3227760"/>
            <a:ext cx="210276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chemeClr val="dk1"/>
                </a:solidFill>
                <a:effectLst/>
                <a:uFillTx/>
                <a:latin typeface="Segoe UI"/>
              </a:rPr>
              <a:t>Журнал</a:t>
            </a:r>
            <a:endParaRPr lang="ru-MD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1" name="text-366"/>
          <p:cNvSpPr/>
          <p:nvPr/>
        </p:nvSpPr>
        <p:spPr>
          <a:xfrm>
            <a:off x="8759880" y="3794760"/>
            <a:ext cx="26971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chemeClr val="dk2"/>
                </a:solidFill>
                <a:effectLst/>
                <a:uFillTx/>
                <a:latin typeface="Segoe UI"/>
              </a:rPr>
              <a:t>Room: каждое окно с признаками и сырыми выходами моделей + интервалы; экспорт CSV</a:t>
            </a:r>
            <a:endParaRPr lang="ru-MD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2" name="card-367"/>
          <p:cNvSpPr/>
          <p:nvPr/>
        </p:nvSpPr>
        <p:spPr>
          <a:xfrm>
            <a:off x="5486400" y="4663440"/>
            <a:ext cx="2971440" cy="1462680"/>
          </a:xfrm>
          <a:prstGeom prst="roundRect">
            <a:avLst>
              <a:gd name="adj" fmla="val 7500"/>
            </a:avLst>
          </a:prstGeom>
          <a:solidFill>
            <a:schemeClr val="accent1">
              <a:alpha val="7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MD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3" name="plate-368"/>
          <p:cNvSpPr/>
          <p:nvPr/>
        </p:nvSpPr>
        <p:spPr>
          <a:xfrm>
            <a:off x="5650920" y="4827960"/>
            <a:ext cx="475200" cy="475200"/>
          </a:xfrm>
          <a:prstGeom prst="roundRect">
            <a:avLst>
              <a:gd name="adj" fmla="val 19231"/>
            </a:avLst>
          </a:prstGeom>
          <a:solidFill>
            <a:schemeClr val="bg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MD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24" name="icon-369" descr="C:\Users\danl0\AppData\Local\Temp\claude\C--Users-danl0\64257144-142c-4560-8b2a-91b138f1175f\scratchpad\deck\assets\img11.png"/>
          <p:cNvPicPr/>
          <p:nvPr/>
        </p:nvPicPr>
        <p:blipFill>
          <a:blip r:embed="rId7"/>
          <a:stretch/>
        </p:blipFill>
        <p:spPr>
          <a:xfrm>
            <a:off x="5731920" y="4908960"/>
            <a:ext cx="313560" cy="313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25" name="text-370"/>
          <p:cNvSpPr/>
          <p:nvPr/>
        </p:nvSpPr>
        <p:spPr>
          <a:xfrm>
            <a:off x="6263640" y="4827960"/>
            <a:ext cx="210276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chemeClr val="dk1"/>
                </a:solidFill>
                <a:effectLst/>
                <a:uFillTx/>
                <a:latin typeface="Segoe UI"/>
              </a:rPr>
              <a:t>Объяснимость</a:t>
            </a:r>
            <a:endParaRPr lang="ru-MD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6" name="text-371"/>
          <p:cNvSpPr/>
          <p:nvPr/>
        </p:nvSpPr>
        <p:spPr>
          <a:xfrm>
            <a:off x="5650920" y="5394960"/>
            <a:ext cx="26971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chemeClr val="dk2"/>
                </a:solidFill>
                <a:effectLst/>
                <a:uFillTx/>
                <a:latin typeface="Segoe UI"/>
              </a:rPr>
              <a:t>на экране — вероятности, множители всех правил и признаки окна</a:t>
            </a:r>
            <a:endParaRPr lang="ru-MD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7" name="card-372"/>
          <p:cNvSpPr/>
          <p:nvPr/>
        </p:nvSpPr>
        <p:spPr>
          <a:xfrm>
            <a:off x="8595360" y="4663440"/>
            <a:ext cx="2971440" cy="1462680"/>
          </a:xfrm>
          <a:prstGeom prst="roundRect">
            <a:avLst>
              <a:gd name="adj" fmla="val 7500"/>
            </a:avLst>
          </a:prstGeom>
          <a:solidFill>
            <a:schemeClr val="accent1">
              <a:alpha val="7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MD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8" name="plate-373"/>
          <p:cNvSpPr/>
          <p:nvPr/>
        </p:nvSpPr>
        <p:spPr>
          <a:xfrm>
            <a:off x="8759880" y="4827960"/>
            <a:ext cx="475200" cy="475200"/>
          </a:xfrm>
          <a:prstGeom prst="roundRect">
            <a:avLst>
              <a:gd name="adj" fmla="val 19231"/>
            </a:avLst>
          </a:prstGeom>
          <a:solidFill>
            <a:schemeClr val="bg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MD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29" name="icon-374" descr="C:\Users\danl0\AppData\Local\Temp\claude\C--Users-danl0\64257144-142c-4560-8b2a-91b138f1175f\scratchpad\deck\assets\img15.png"/>
          <p:cNvPicPr/>
          <p:nvPr/>
        </p:nvPicPr>
        <p:blipFill>
          <a:blip r:embed="rId8"/>
          <a:stretch/>
        </p:blipFill>
        <p:spPr>
          <a:xfrm>
            <a:off x="8840880" y="4908960"/>
            <a:ext cx="313560" cy="313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30" name="text-375"/>
          <p:cNvSpPr/>
          <p:nvPr/>
        </p:nvSpPr>
        <p:spPr>
          <a:xfrm>
            <a:off x="9372600" y="4827960"/>
            <a:ext cx="210276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chemeClr val="dk1"/>
                </a:solidFill>
                <a:effectLst/>
                <a:uFillTx/>
                <a:latin typeface="Segoe UI"/>
              </a:rPr>
              <a:t>Сбор данных</a:t>
            </a:r>
            <a:endParaRPr lang="ru-MD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1" name="text-376"/>
          <p:cNvSpPr/>
          <p:nvPr/>
        </p:nvSpPr>
        <p:spPr>
          <a:xfrm>
            <a:off x="8759880" y="5394960"/>
            <a:ext cx="26971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chemeClr val="dk2"/>
                </a:solidFill>
                <a:effectLst/>
                <a:uFillTx/>
                <a:latin typeface="Segoe UI"/>
              </a:rPr>
              <a:t>запись размеченных сигналов 50 Гц для дообучения на своём телефоне</a:t>
            </a:r>
            <a:endParaRPr lang="ru-MD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2" name="PlaceHolder 3"/>
          <p:cNvSpPr>
            <a:spLocks noGrp="1"/>
          </p:cNvSpPr>
          <p:nvPr>
            <p:ph type="sldNum" idx="18"/>
          </p:nvPr>
        </p:nvSpPr>
        <p:spPr>
          <a:xfrm>
            <a:off x="11274480" y="6446520"/>
            <a:ext cx="456840" cy="255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000" b="0" u="none" strike="noStrike">
                <a:solidFill>
                  <a:schemeClr val="dk2"/>
                </a:solidFill>
                <a:effectLst/>
                <a:uFillTx/>
                <a:latin typeface="Segoe U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89C9555-2DCE-4F52-A032-DAE087881781}" type="slidenum">
              <a:rPr lang="en-US" sz="1000" b="0" u="none" strike="noStrike">
                <a:solidFill>
                  <a:schemeClr val="dk2"/>
                </a:solidFill>
                <a:effectLst/>
                <a:uFillTx/>
                <a:latin typeface="Segoe UI"/>
              </a:rPr>
              <a:t>&lt;номер&gt;</a:t>
            </a:fld>
            <a:endParaRPr lang="ru-MD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PlaceHolder 1"/>
          <p:cNvSpPr>
            <a:spLocks noGrp="1"/>
          </p:cNvSpPr>
          <p:nvPr>
            <p:ph type="title" hasCustomPrompt="1"/>
          </p:nvPr>
        </p:nvSpPr>
        <p:spPr>
          <a:xfrm>
            <a:off x="548640" y="274320"/>
            <a:ext cx="11091240" cy="658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00" b="1" u="none" strike="noStrike">
                <a:solidFill>
                  <a:schemeClr val="dk1"/>
                </a:solidFill>
                <a:effectLst/>
                <a:uFillTx/>
                <a:latin typeface="Segoe UI"/>
              </a:rPr>
              <a:t>Источники данных и литература</a:t>
            </a:r>
            <a:endParaRPr lang="ru-MD" sz="3000" b="0" u="none" strike="noStrike">
              <a:solidFill>
                <a:schemeClr val="dk1"/>
              </a:solidFill>
              <a:effectLst/>
              <a:uFillTx/>
              <a:latin typeface="Segoe UI"/>
            </a:endParaRPr>
          </a:p>
        </p:txBody>
      </p:sp>
      <p:sp>
        <p:nvSpPr>
          <p:cNvPr id="434" name="text-377"/>
          <p:cNvSpPr/>
          <p:nvPr/>
        </p:nvSpPr>
        <p:spPr>
          <a:xfrm>
            <a:off x="548640" y="1051560"/>
            <a:ext cx="5486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chemeClr val="accent1"/>
                </a:solidFill>
                <a:effectLst/>
                <a:uFillTx/>
                <a:latin typeface="Segoe UI"/>
              </a:rPr>
              <a:t>Наборы данных</a:t>
            </a:r>
            <a:endParaRPr lang="ru-MD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5" name="rich-378"/>
          <p:cNvSpPr/>
          <p:nvPr/>
        </p:nvSpPr>
        <p:spPr>
          <a:xfrm>
            <a:off x="548640" y="1417320"/>
            <a:ext cx="5486040" cy="493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spcAft>
                <a:spcPts val="799"/>
              </a:spcAft>
              <a:tabLst>
                <a:tab pos="0" algn="l"/>
              </a:tabLst>
            </a:pPr>
            <a:r>
              <a:rPr lang="en-US" sz="1050" b="1" u="none" strike="noStrike">
                <a:solidFill>
                  <a:schemeClr val="dk1"/>
                </a:solidFill>
                <a:effectLst/>
                <a:uFillTx/>
                <a:latin typeface="Segoe UI"/>
              </a:rPr>
              <a:t>Anguita D., Ghio A., Oneto L., Parra X., Reyes-Ortiz J. L. </a:t>
            </a:r>
            <a:r>
              <a:rPr lang="en-US" sz="1050" b="0" u="none" strike="noStrike">
                <a:solidFill>
                  <a:schemeClr val="dk1"/>
                </a:solidFill>
                <a:effectLst/>
                <a:uFillTx/>
                <a:latin typeface="Segoe UI"/>
              </a:rPr>
              <a:t>A Public Domain Dataset for Human Activity Recognition Using Smartphones // ESANN, 2013. </a:t>
            </a:r>
            <a:r>
              <a:rPr lang="en-US" sz="1050" b="0" u="sng" strike="noStrike">
                <a:solidFill>
                  <a:schemeClr val="accent2"/>
                </a:solidFill>
                <a:effectLst/>
                <a:uFillTx/>
                <a:latin typeface="Segoe UI"/>
                <a:hlinkClick r:id="rId1"/>
              </a:rPr>
              <a:t>https://archive.ics.uci.edu/dataset/240/human+activity+recognition+using+smartphones</a:t>
            </a:r>
            <a:endParaRPr lang="ru-MD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799"/>
              </a:spcAft>
              <a:tabLst>
                <a:tab pos="0" algn="l"/>
              </a:tabLst>
            </a:pPr>
            <a:r>
              <a:rPr lang="en-US" sz="1050" b="1" u="none" strike="noStrike">
                <a:solidFill>
                  <a:schemeClr val="dk1"/>
                </a:solidFill>
                <a:effectLst/>
                <a:uFillTx/>
                <a:latin typeface="Segoe UI"/>
              </a:rPr>
              <a:t>Sztyler T., Stuckenschmidt H. </a:t>
            </a:r>
            <a:r>
              <a:rPr lang="en-US" sz="1050" b="0" u="none" strike="noStrike">
                <a:solidFill>
                  <a:schemeClr val="dk1"/>
                </a:solidFill>
                <a:effectLst/>
                <a:uFillTx/>
                <a:latin typeface="Segoe UI"/>
              </a:rPr>
              <a:t>On-body Localization of Wearable Devices: An Investigation of Position-Aware Activity Recognition // IEEE PerCom, 2016. </a:t>
            </a:r>
            <a:r>
              <a:rPr lang="en-US" sz="1050" b="0" u="sng" strike="noStrike">
                <a:solidFill>
                  <a:schemeClr val="accent2"/>
                </a:solidFill>
                <a:effectLst/>
                <a:uFillTx/>
                <a:latin typeface="Segoe UI"/>
                <a:hlinkClick r:id="rId2"/>
              </a:rPr>
              <a:t>https://www.uni-mannheim.de/dws/research/projects/activity-recognition/dataset/dataset-realworld/</a:t>
            </a:r>
            <a:endParaRPr lang="ru-MD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799"/>
              </a:spcAft>
              <a:tabLst>
                <a:tab pos="0" algn="l"/>
              </a:tabLst>
            </a:pPr>
            <a:r>
              <a:rPr lang="en-US" sz="1050" b="1" u="none" strike="noStrike">
                <a:solidFill>
                  <a:schemeClr val="dk1"/>
                </a:solidFill>
                <a:effectLst/>
                <a:uFillTx/>
                <a:latin typeface="Segoe UI"/>
              </a:rPr>
              <a:t>Malekzadeh M., Clegg R. G., Cavallaro A., Haddadi H. </a:t>
            </a:r>
            <a:r>
              <a:rPr lang="en-US" sz="1050" b="0" u="none" strike="noStrike">
                <a:solidFill>
                  <a:schemeClr val="dk1"/>
                </a:solidFill>
                <a:effectLst/>
                <a:uFillTx/>
                <a:latin typeface="Segoe UI"/>
              </a:rPr>
              <a:t>Mobile Sensor Data Anonymization // ACM/IEEE IoTDI, 2019. </a:t>
            </a:r>
            <a:r>
              <a:rPr lang="en-US" sz="1050" b="0" u="sng" strike="noStrike">
                <a:solidFill>
                  <a:schemeClr val="accent2"/>
                </a:solidFill>
                <a:effectLst/>
                <a:uFillTx/>
                <a:latin typeface="Segoe UI"/>
                <a:hlinkClick r:id="rId3"/>
              </a:rPr>
              <a:t>https://github.com/mmalekzadeh/motion-sense</a:t>
            </a:r>
            <a:endParaRPr lang="ru-MD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799"/>
              </a:spcAft>
              <a:tabLst>
                <a:tab pos="0" algn="l"/>
              </a:tabLst>
            </a:pPr>
            <a:r>
              <a:rPr lang="en-US" sz="1050" b="1" u="none" strike="noStrike">
                <a:solidFill>
                  <a:schemeClr val="dk1"/>
                </a:solidFill>
                <a:effectLst/>
                <a:uFillTx/>
                <a:latin typeface="Segoe UI"/>
              </a:rPr>
              <a:t>Shoaib M., Bosch S., Incel O. D., Scholten H., Havinga P. J. M. </a:t>
            </a:r>
            <a:r>
              <a:rPr lang="en-US" sz="1050" b="0" u="none" strike="noStrike">
                <a:solidFill>
                  <a:schemeClr val="dk1"/>
                </a:solidFill>
                <a:effectLst/>
                <a:uFillTx/>
                <a:latin typeface="Segoe UI"/>
              </a:rPr>
              <a:t>Fusion of Smartphone Motion Sensors for Physical Activity Recognition // Sensors 14(6), 10146–10176, 2014. </a:t>
            </a:r>
            <a:r>
              <a:rPr lang="en-US" sz="1050" b="0" u="sng" strike="noStrike">
                <a:solidFill>
                  <a:schemeClr val="accent2"/>
                </a:solidFill>
                <a:effectLst/>
                <a:uFillTx/>
                <a:latin typeface="Segoe UI"/>
                <a:hlinkClick r:id="rId4"/>
              </a:rPr>
              <a:t>https://www.utwente.nl/en/eemcs/ps/research/dataset/</a:t>
            </a:r>
            <a:endParaRPr lang="ru-MD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799"/>
              </a:spcAft>
              <a:tabLst>
                <a:tab pos="0" algn="l"/>
              </a:tabLst>
            </a:pPr>
            <a:r>
              <a:rPr lang="en-US" sz="1050" b="1" u="none" strike="noStrike">
                <a:solidFill>
                  <a:schemeClr val="dk1"/>
                </a:solidFill>
                <a:effectLst/>
                <a:uFillTx/>
                <a:latin typeface="Segoe UI"/>
              </a:rPr>
              <a:t>Vaizman Y., Ellis K., Lanckriet G. </a:t>
            </a:r>
            <a:r>
              <a:rPr lang="en-US" sz="1050" b="0" u="none" strike="noStrike">
                <a:solidFill>
                  <a:schemeClr val="dk1"/>
                </a:solidFill>
                <a:effectLst/>
                <a:uFillTx/>
                <a:latin typeface="Segoe UI"/>
              </a:rPr>
              <a:t>Recognizing Detailed Human Context in the Wild from Smartphones and Smartwatches // IEEE Pervasive Computing 16(4), 2017. </a:t>
            </a:r>
            <a:r>
              <a:rPr lang="en-US" sz="1050" b="0" u="sng" strike="noStrike">
                <a:solidFill>
                  <a:schemeClr val="accent2"/>
                </a:solidFill>
                <a:effectLst/>
                <a:uFillTx/>
                <a:latin typeface="Segoe UI"/>
                <a:hlinkClick r:id="rId5"/>
              </a:rPr>
              <a:t>http://extrasensory.ucsd.edu/</a:t>
            </a:r>
            <a:endParaRPr lang="ru-MD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6" name="text-379"/>
          <p:cNvSpPr/>
          <p:nvPr/>
        </p:nvSpPr>
        <p:spPr>
          <a:xfrm>
            <a:off x="6263640" y="1051560"/>
            <a:ext cx="5376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chemeClr val="accent1"/>
                </a:solidFill>
                <a:effectLst/>
                <a:uFillTx/>
                <a:latin typeface="Segoe UI"/>
              </a:rPr>
              <a:t>Методы (русскоязычные источники)</a:t>
            </a:r>
            <a:endParaRPr lang="ru-MD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7" name="rich-380"/>
          <p:cNvSpPr/>
          <p:nvPr/>
        </p:nvSpPr>
        <p:spPr>
          <a:xfrm>
            <a:off x="6263640" y="1417320"/>
            <a:ext cx="5376240" cy="498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spcAft>
                <a:spcPts val="499"/>
              </a:spcAft>
              <a:tabLst>
                <a:tab pos="0" algn="l"/>
              </a:tabLst>
            </a:pPr>
            <a:r>
              <a:rPr lang="en-US" sz="1000" b="1" u="none" strike="noStrike">
                <a:solidFill>
                  <a:schemeClr val="dk1"/>
                </a:solidFill>
                <a:effectLst/>
                <a:uFillTx/>
                <a:latin typeface="Segoe UI"/>
              </a:rPr>
              <a:t>Сергиенко А. Б. </a:t>
            </a: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Segoe UI"/>
              </a:rPr>
              <a:t>Цифровая обработка сигналов: учеб. пособие. — 3-е изд. — СПб.: БХВ-Петербург, 2011. — 756 с.</a:t>
            </a:r>
            <a:endParaRPr lang="ru-MD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499"/>
              </a:spcAft>
              <a:tabLst>
                <a:tab pos="0" algn="l"/>
              </a:tabLst>
            </a:pPr>
            <a:r>
              <a:rPr lang="en-US" sz="1000" b="1" u="none" strike="noStrike">
                <a:solidFill>
                  <a:schemeClr val="dk1"/>
                </a:solidFill>
                <a:effectLst/>
                <a:uFillTx/>
                <a:latin typeface="Segoe UI"/>
              </a:rPr>
              <a:t>Скворцов Д. В. </a:t>
            </a: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Segoe UI"/>
              </a:rPr>
              <a:t>Диагностика двигательной патологии инструментальными методами: анализ походки, стабилометрия. — М.: НМФ «МБН», 2007. — 617 с.</a:t>
            </a:r>
            <a:endParaRPr lang="ru-MD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499"/>
              </a:spcAft>
              <a:tabLst>
                <a:tab pos="0" algn="l"/>
              </a:tabLst>
            </a:pPr>
            <a:r>
              <a:rPr lang="en-US" sz="1000" b="1" u="none" strike="noStrike">
                <a:solidFill>
                  <a:schemeClr val="dk1"/>
                </a:solidFill>
                <a:effectLst/>
                <a:uFillTx/>
                <a:latin typeface="Segoe UI"/>
              </a:rPr>
              <a:t>Зеличенок И. Ю., Пирмагомедов Р. Я. </a:t>
            </a: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Segoe UI"/>
              </a:rPr>
              <a:t>Применение методов машинного обучения для анализа физической активности пользователя смартфона // Информационные технологии и телекоммуникации. — 2020. — Т. 8, № 2. — С. 92–108. </a:t>
            </a:r>
            <a:r>
              <a:rPr lang="en-US" sz="1000" b="0" u="sng" strike="noStrike">
                <a:solidFill>
                  <a:schemeClr val="accent2"/>
                </a:solidFill>
                <a:effectLst/>
                <a:uFillTx/>
                <a:latin typeface="Segoe UI"/>
                <a:hlinkClick r:id="rId6"/>
              </a:rPr>
              <a:t>https://www.sut.ru/doci/nauka/1AEA/ITT/2020_2/92-108.pdf</a:t>
            </a:r>
            <a:endParaRPr lang="ru-MD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499"/>
              </a:spcAft>
              <a:tabLst>
                <a:tab pos="0" algn="l"/>
              </a:tabLst>
            </a:pPr>
            <a:r>
              <a:rPr lang="en-US" sz="1000" b="1" u="none" strike="noStrike">
                <a:solidFill>
                  <a:schemeClr val="dk1"/>
                </a:solidFill>
                <a:effectLst/>
                <a:uFillTx/>
                <a:latin typeface="Segoe UI"/>
              </a:rPr>
              <a:t>Горяев В. М., Джахнаева Е. Н., Лиджи-Горяев В. В., Аль-Килани В. Х. </a:t>
            </a: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Segoe UI"/>
              </a:rPr>
              <a:t>Классификация данных акселерометра GY-521 для распознавания активности человека // Современные наукоемкие технологии. — 2018. — № 12-1. — С. 56–61. </a:t>
            </a:r>
            <a:r>
              <a:rPr lang="en-US" sz="1000" b="0" u="sng" strike="noStrike">
                <a:solidFill>
                  <a:schemeClr val="accent2"/>
                </a:solidFill>
                <a:effectLst/>
                <a:uFillTx/>
                <a:latin typeface="Segoe UI"/>
                <a:hlinkClick r:id="rId7"/>
              </a:rPr>
              <a:t>https://top-technologies.ru/article/view?id=37262</a:t>
            </a:r>
            <a:endParaRPr lang="ru-MD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499"/>
              </a:spcAft>
              <a:tabLst>
                <a:tab pos="0" algn="l"/>
              </a:tabLst>
            </a:pPr>
            <a:r>
              <a:rPr lang="en-US" sz="1000" b="1" u="none" strike="noStrike">
                <a:solidFill>
                  <a:schemeClr val="dk1"/>
                </a:solidFill>
                <a:effectLst/>
                <a:uFillTx/>
                <a:latin typeface="Segoe UI"/>
              </a:rPr>
              <a:t>Карташов И. С., Привалова С. В., Кузьмин А. В. </a:t>
            </a: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Segoe UI"/>
              </a:rPr>
              <a:t>Спектральный анализ данных наручного трехосевого акселерометра для определения физической активности // Измерение. Мониторинг. Управление. Контроль. — 2024. — № 1. — С. 78–84. </a:t>
            </a:r>
            <a:r>
              <a:rPr lang="en-US" sz="1000" b="0" u="sng" strike="noStrike">
                <a:solidFill>
                  <a:schemeClr val="accent2"/>
                </a:solidFill>
                <a:effectLst/>
                <a:uFillTx/>
                <a:latin typeface="Segoe UI"/>
                <a:hlinkClick r:id="rId8"/>
              </a:rPr>
              <a:t>https://cyberleninka.ru/article/n/spektralnyy-analiz-dannyh-naruchnogo-trehosevogo-akselerometra-dlya-opredeleniya-fizicheskoy-aktivnosti</a:t>
            </a:r>
            <a:endParaRPr lang="ru-MD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8" name="PlaceHolder 2"/>
          <p:cNvSpPr>
            <a:spLocks noGrp="1"/>
          </p:cNvSpPr>
          <p:nvPr>
            <p:ph/>
          </p:nvPr>
        </p:nvSpPr>
        <p:spPr>
          <a:xfrm>
            <a:off x="548640" y="914400"/>
            <a:ext cx="11091240" cy="411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spcBef>
                <a:spcPts val="1417"/>
              </a:spcBef>
              <a:buNone/>
            </a:pPr>
            <a:endParaRPr lang="en-US" sz="1500" b="0" u="none" strike="noStrike">
              <a:solidFill>
                <a:schemeClr val="dk2"/>
              </a:solidFill>
              <a:effectLst/>
              <a:uFillTx/>
              <a:latin typeface="Segoe UI"/>
            </a:endParaRPr>
          </a:p>
        </p:txBody>
      </p:sp>
      <p:sp>
        <p:nvSpPr>
          <p:cNvPr id="439" name="PlaceHolder 3"/>
          <p:cNvSpPr>
            <a:spLocks noGrp="1"/>
          </p:cNvSpPr>
          <p:nvPr>
            <p:ph type="sldNum" idx="19"/>
          </p:nvPr>
        </p:nvSpPr>
        <p:spPr>
          <a:xfrm>
            <a:off x="11274480" y="6446520"/>
            <a:ext cx="456840" cy="255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000" b="0" u="none" strike="noStrike">
                <a:solidFill>
                  <a:schemeClr val="dk2"/>
                </a:solidFill>
                <a:effectLst/>
                <a:uFillTx/>
                <a:latin typeface="Segoe U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8F25362-846F-4EAD-948D-47FC1E0619FC}" type="slidenum">
              <a:rPr lang="en-US" sz="1000" b="0" u="none" strike="noStrike">
                <a:solidFill>
                  <a:schemeClr val="dk2"/>
                </a:solidFill>
                <a:effectLst/>
                <a:uFillTx/>
                <a:latin typeface="Segoe UI"/>
              </a:rPr>
              <a:t>&lt;номер&gt;</a:t>
            </a:fld>
            <a:endParaRPr lang="ru-MD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0" name="PlaceHolder 1"/>
          <p:cNvSpPr>
            <a:spLocks noGrp="1"/>
          </p:cNvSpPr>
          <p:nvPr>
            <p:ph type="title" hasCustomPrompt="1"/>
          </p:nvPr>
        </p:nvSpPr>
        <p:spPr>
          <a:xfrm>
            <a:off x="548640" y="274320"/>
            <a:ext cx="11091240" cy="658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00" b="1" u="none" strike="noStrike">
                <a:solidFill>
                  <a:schemeClr val="dk1"/>
                </a:solidFill>
                <a:effectLst/>
                <a:uFillTx/>
                <a:latin typeface="Segoe UI"/>
              </a:rPr>
              <a:t>Почему окно 2,56 с и сдвиг 1,28 с</a:t>
            </a:r>
            <a:endParaRPr lang="ru-MD" sz="3000" b="0" u="none" strike="noStrike">
              <a:solidFill>
                <a:schemeClr val="dk1"/>
              </a:solidFill>
              <a:effectLst/>
              <a:uFillTx/>
              <a:latin typeface="Segoe UI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 hasCustomPrompt="1"/>
          </p:nvPr>
        </p:nvSpPr>
        <p:spPr>
          <a:xfrm>
            <a:off x="548640" y="914400"/>
            <a:ext cx="11091240" cy="411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 defTabSz="914400">
              <a:lnSpc>
                <a:spcPct val="100000"/>
              </a:lnSpc>
              <a:spcBef>
                <a:spcPts val="300"/>
              </a:spcBef>
              <a:buNone/>
              <a:tabLst>
                <a:tab pos="0" algn="l"/>
              </a:tabLst>
            </a:pPr>
            <a:r>
              <a:rPr lang="en-US" sz="1500" b="0" u="none" strike="noStrike">
                <a:solidFill>
                  <a:schemeClr val="dk2"/>
                </a:solidFill>
                <a:effectLst/>
                <a:uFillTx/>
                <a:latin typeface="Segoe UI"/>
              </a:rPr>
              <a:t>Длина окна: виден ритм, но не смазаны переходы; сдвиг: решения часто, но без лишней работы</a:t>
            </a:r>
            <a:endParaRPr lang="ru-MD" sz="1500" b="0" u="none" strike="noStrike">
              <a:solidFill>
                <a:schemeClr val="dk1"/>
              </a:solidFill>
              <a:effectLst/>
              <a:uFillTx/>
              <a:latin typeface="Segoe UI"/>
            </a:endParaRPr>
          </a:p>
        </p:txBody>
      </p:sp>
      <p:sp>
        <p:nvSpPr>
          <p:cNvPr id="123" name="PlaceHolder 3"/>
          <p:cNvSpPr>
            <a:spLocks noGrp="1"/>
          </p:cNvSpPr>
          <p:nvPr>
            <p:ph type="sldNum" idx="10"/>
          </p:nvPr>
        </p:nvSpPr>
        <p:spPr>
          <a:xfrm>
            <a:off x="11274480" y="6446520"/>
            <a:ext cx="456840" cy="255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000" b="0" u="none" strike="noStrike">
                <a:solidFill>
                  <a:schemeClr val="dk2"/>
                </a:solidFill>
                <a:effectLst/>
                <a:uFillTx/>
                <a:latin typeface="Segoe U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231EF94-88D7-4582-BC0D-5158AA5129A4}" type="slidenum">
              <a:rPr lang="en-US" sz="1000" b="0" u="none" strike="noStrike">
                <a:solidFill>
                  <a:schemeClr val="dk2"/>
                </a:solidFill>
                <a:effectLst/>
                <a:uFillTx/>
                <a:latin typeface="Segoe UI"/>
              </a:rPr>
              <a:t>15</a:t>
            </a:fld>
            <a:endParaRPr lang="ru-MD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aphicFrame>
        <p:nvGraphicFramePr>
          <p:cNvPr id="223" name="window-length-table"/>
          <p:cNvGraphicFramePr/>
          <p:nvPr/>
        </p:nvGraphicFramePr>
        <p:xfrm>
          <a:off x="548640" y="1463040"/>
          <a:ext cx="11091672" cy="1920240"/>
        </p:xfrm>
        <a:graphic>
          <a:graphicData uri="http://schemas.openxmlformats.org/drawingml/2006/table">
            <a:tbl>
              <a:tblPr/>
              <a:tblGrid>
                <a:gridCol w="2971800"/>
                <a:gridCol w="2706624"/>
                <a:gridCol w="2706624"/>
                <a:gridCol w="2706624"/>
              </a:tblGrid>
              <a:tr h="384048">
                <a:tc>
                  <a:txBody>
                    <a:bodyPr anchor="ctr">
                      <a:noAutofit/>
                    </a:bodyPr>
                    <a:p>
                      <a:pPr defTabSz="914400" algn="l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Segoe UI"/>
                        </a:rPr>
                        <a:t>Длина окна</a:t>
                      </a:r>
                      <a:endParaRPr lang="ru-MD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defTabSz="914400" algn="l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Segoe UI"/>
                        </a:rPr>
                        <a:t>при 50 Гц</a:t>
                      </a:r>
                      <a:endParaRPr lang="ru-MD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E3E7EE"/>
                      </a:solidFill>
                      <a:prstDash val="solid"/>
                    </a:lnL>
                    <a:lnR w="9360">
                      <a:solidFill>
                        <a:srgbClr val="E3E7EE"/>
                      </a:solidFill>
                      <a:prstDash val="solid"/>
                    </a:lnR>
                    <a:lnT w="9360">
                      <a:solidFill>
                        <a:srgbClr val="E3E7EE"/>
                      </a:solidFill>
                      <a:prstDash val="solid"/>
                    </a:lnT>
                    <a:lnB w="9360">
                      <a:solidFill>
                        <a:srgbClr val="E3E7EE"/>
                      </a:solidFill>
                      <a:prstDash val="solid"/>
                    </a:lnB>
                    <a:solidFill>
                      <a:srgbClr val="00696E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Segoe UI"/>
                        </a:rPr>
                        <a:t>1,28 с</a:t>
                      </a:r>
                      <a:endParaRPr lang="ru-MD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defTabSz="914400"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Segoe UI"/>
                        </a:rPr>
                        <a:t>64 отсчёта</a:t>
                      </a:r>
                      <a:endParaRPr lang="ru-MD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E3E7EE"/>
                      </a:solidFill>
                      <a:prstDash val="solid"/>
                    </a:lnL>
                    <a:lnR w="9360">
                      <a:solidFill>
                        <a:srgbClr val="E3E7EE"/>
                      </a:solidFill>
                      <a:prstDash val="solid"/>
                    </a:lnR>
                    <a:lnT w="9360">
                      <a:solidFill>
                        <a:srgbClr val="E3E7EE"/>
                      </a:solidFill>
                      <a:prstDash val="solid"/>
                    </a:lnT>
                    <a:lnB w="9360">
                      <a:solidFill>
                        <a:srgbClr val="E3E7EE"/>
                      </a:solidFill>
                      <a:prstDash val="solid"/>
                    </a:lnB>
                    <a:solidFill>
                      <a:srgbClr val="00696E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Segoe UI"/>
                        </a:rPr>
                        <a:t>2,56 с</a:t>
                      </a:r>
                      <a:endParaRPr lang="ru-MD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Segoe UI"/>
                        </a:rPr>
                        <a:t>128 отсчётов</a:t>
                      </a:r>
                      <a:endParaRPr lang="ru-MD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E3E7EE"/>
                      </a:solidFill>
                      <a:prstDash val="solid"/>
                    </a:lnL>
                    <a:lnR w="9360">
                      <a:solidFill>
                        <a:srgbClr val="E3E7EE"/>
                      </a:solidFill>
                      <a:prstDash val="solid"/>
                    </a:lnR>
                    <a:lnT w="9360">
                      <a:solidFill>
                        <a:srgbClr val="E3E7EE"/>
                      </a:solidFill>
                      <a:prstDash val="solid"/>
                    </a:lnT>
                    <a:lnB w="9360">
                      <a:solidFill>
                        <a:srgbClr val="E3E7EE"/>
                      </a:solidFill>
                      <a:prstDash val="solid"/>
                    </a:lnB>
                    <a:solidFill>
                      <a:srgbClr val="E9A23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Segoe UI"/>
                        </a:rPr>
                        <a:t>5,12 с</a:t>
                      </a:r>
                      <a:endParaRPr lang="ru-MD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defTabSz="914400"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Segoe UI"/>
                        </a:rPr>
                        <a:t>256 отсчётов</a:t>
                      </a:r>
                      <a:endParaRPr lang="ru-MD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E3E7EE"/>
                      </a:solidFill>
                      <a:prstDash val="solid"/>
                    </a:lnL>
                    <a:lnR w="9360">
                      <a:solidFill>
                        <a:srgbClr val="E3E7EE"/>
                      </a:solidFill>
                      <a:prstDash val="solid"/>
                    </a:lnR>
                    <a:lnT w="9360">
                      <a:solidFill>
                        <a:srgbClr val="E3E7EE"/>
                      </a:solidFill>
                      <a:prstDash val="solid"/>
                    </a:lnT>
                    <a:lnB w="9360">
                      <a:solidFill>
                        <a:srgbClr val="E3E7EE"/>
                      </a:solidFill>
                      <a:prstDash val="solid"/>
                    </a:lnB>
                    <a:solidFill>
                      <a:srgbClr val="00696E"/>
                    </a:solidFill>
                  </a:tcPr>
                </a:tc>
              </a:tr>
              <a:tr h="384048">
                <a:tc>
                  <a:txBody>
                    <a:bodyPr anchor="ctr">
                      <a:noAutofit/>
                    </a:bodyPr>
                    <a:p>
                      <a:pPr defTabSz="914400" algn="l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1B2333"/>
                          </a:solidFill>
                          <a:effectLst/>
                          <a:uFillTx/>
                          <a:latin typeface="Segoe UI"/>
                        </a:rPr>
                        <a:t>Шагов в окне при 96–110 шаг/мин</a:t>
                      </a:r>
                      <a:endParaRPr lang="ru-MD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E3E7EE"/>
                      </a:solidFill>
                      <a:prstDash val="solid"/>
                    </a:lnL>
                    <a:lnR w="9360">
                      <a:solidFill>
                        <a:srgbClr val="E3E7EE"/>
                      </a:solidFill>
                      <a:prstDash val="solid"/>
                    </a:lnR>
                    <a:lnT w="9360">
                      <a:solidFill>
                        <a:srgbClr val="E3E7EE"/>
                      </a:solidFill>
                      <a:prstDash val="solid"/>
                    </a:lnT>
                    <a:lnB w="9360">
                      <a:solidFill>
                        <a:srgbClr val="E3E7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B2333"/>
                          </a:solidFill>
                          <a:effectLst/>
                          <a:uFillTx/>
                          <a:latin typeface="Segoe UI"/>
                        </a:rPr>
                        <a:t>≈ 2 — один цикл шага</a:t>
                      </a:r>
                      <a:endParaRPr lang="ru-MD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E3E7EE"/>
                      </a:solidFill>
                      <a:prstDash val="solid"/>
                    </a:lnL>
                    <a:lnR w="9360">
                      <a:solidFill>
                        <a:srgbClr val="E3E7EE"/>
                      </a:solidFill>
                      <a:prstDash val="solid"/>
                    </a:lnR>
                    <a:lnT w="9360">
                      <a:solidFill>
                        <a:srgbClr val="E3E7EE"/>
                      </a:solidFill>
                      <a:prstDash val="solid"/>
                    </a:lnT>
                    <a:lnB w="9360">
                      <a:solidFill>
                        <a:srgbClr val="E3E7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1B2333"/>
                          </a:solidFill>
                          <a:effectLst/>
                          <a:uFillTx/>
                          <a:latin typeface="Segoe UI"/>
                        </a:rPr>
                        <a:t>4–5 — два полных цикла</a:t>
                      </a:r>
                      <a:endParaRPr lang="ru-MD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E3E7EE"/>
                      </a:solidFill>
                      <a:prstDash val="solid"/>
                    </a:lnL>
                    <a:lnR w="9360">
                      <a:solidFill>
                        <a:srgbClr val="E3E7EE"/>
                      </a:solidFill>
                      <a:prstDash val="solid"/>
                    </a:lnR>
                    <a:lnT w="9360">
                      <a:solidFill>
                        <a:srgbClr val="E3E7EE"/>
                      </a:solidFill>
                      <a:prstDash val="solid"/>
                    </a:lnT>
                    <a:lnB w="9360">
                      <a:solidFill>
                        <a:srgbClr val="E3E7EE"/>
                      </a:solidFill>
                      <a:prstDash val="solid"/>
                    </a:lnB>
                    <a:solidFill>
                      <a:srgbClr val="E2F1F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B2333"/>
                          </a:solidFill>
                          <a:effectLst/>
                          <a:uFillTx/>
                          <a:latin typeface="Segoe UI"/>
                        </a:rPr>
                        <a:t>8–9</a:t>
                      </a:r>
                      <a:endParaRPr lang="ru-MD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E3E7EE"/>
                      </a:solidFill>
                      <a:prstDash val="solid"/>
                    </a:lnL>
                    <a:lnR w="9360">
                      <a:solidFill>
                        <a:srgbClr val="E3E7EE"/>
                      </a:solidFill>
                      <a:prstDash val="solid"/>
                    </a:lnR>
                    <a:lnT w="9360">
                      <a:solidFill>
                        <a:srgbClr val="E3E7EE"/>
                      </a:solidFill>
                      <a:prstDash val="solid"/>
                    </a:lnT>
                    <a:lnB w="9360">
                      <a:solidFill>
                        <a:srgbClr val="E3E7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anchor="ctr">
                      <a:noAutofit/>
                    </a:bodyPr>
                    <a:p>
                      <a:pPr defTabSz="914400" algn="l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1B2333"/>
                          </a:solidFill>
                          <a:effectLst/>
                          <a:uFillTx/>
                          <a:latin typeface="Segoe UI"/>
                        </a:rPr>
                        <a:t>Разрешение спектра</a:t>
                      </a:r>
                      <a:endParaRPr lang="ru-MD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E3E7EE"/>
                      </a:solidFill>
                      <a:prstDash val="solid"/>
                    </a:lnL>
                    <a:lnR w="9360">
                      <a:solidFill>
                        <a:srgbClr val="E3E7EE"/>
                      </a:solidFill>
                      <a:prstDash val="solid"/>
                    </a:lnR>
                    <a:lnT w="9360">
                      <a:solidFill>
                        <a:srgbClr val="E3E7EE"/>
                      </a:solidFill>
                      <a:prstDash val="solid"/>
                    </a:lnT>
                    <a:lnB w="9360">
                      <a:solidFill>
                        <a:srgbClr val="E3E7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B2333"/>
                          </a:solidFill>
                          <a:effectLst/>
                          <a:uFillTx/>
                          <a:latin typeface="Segoe UI"/>
                        </a:rPr>
                        <a:t>0,78 Гц: подъём и ходьба в одной полосе</a:t>
                      </a:r>
                      <a:endParaRPr lang="ru-MD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E3E7EE"/>
                      </a:solidFill>
                      <a:prstDash val="solid"/>
                    </a:lnL>
                    <a:lnR w="9360">
                      <a:solidFill>
                        <a:srgbClr val="E3E7EE"/>
                      </a:solidFill>
                      <a:prstDash val="solid"/>
                    </a:lnR>
                    <a:lnT w="9360">
                      <a:solidFill>
                        <a:srgbClr val="E3E7EE"/>
                      </a:solidFill>
                      <a:prstDash val="solid"/>
                    </a:lnT>
                    <a:lnB w="9360">
                      <a:solidFill>
                        <a:srgbClr val="E3E7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1B2333"/>
                          </a:solidFill>
                          <a:effectLst/>
                          <a:uFillTx/>
                          <a:latin typeface="Segoe UI"/>
                        </a:rPr>
                        <a:t>0,39 Гц: 1,60 и 1,84 Гц различимы</a:t>
                      </a:r>
                      <a:endParaRPr lang="ru-MD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E3E7EE"/>
                      </a:solidFill>
                      <a:prstDash val="solid"/>
                    </a:lnL>
                    <a:lnR w="9360">
                      <a:solidFill>
                        <a:srgbClr val="E3E7EE"/>
                      </a:solidFill>
                      <a:prstDash val="solid"/>
                    </a:lnR>
                    <a:lnT w="9360">
                      <a:solidFill>
                        <a:srgbClr val="E3E7EE"/>
                      </a:solidFill>
                      <a:prstDash val="solid"/>
                    </a:lnT>
                    <a:lnB w="9360">
                      <a:solidFill>
                        <a:srgbClr val="E3E7EE"/>
                      </a:solidFill>
                      <a:prstDash val="solid"/>
                    </a:lnB>
                    <a:solidFill>
                      <a:srgbClr val="E2F1F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B2333"/>
                          </a:solidFill>
                          <a:effectLst/>
                          <a:uFillTx/>
                          <a:latin typeface="Segoe UI"/>
                        </a:rPr>
                        <a:t>0,20 Гц</a:t>
                      </a:r>
                      <a:endParaRPr lang="ru-MD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E3E7EE"/>
                      </a:solidFill>
                      <a:prstDash val="solid"/>
                    </a:lnL>
                    <a:lnR w="9360">
                      <a:solidFill>
                        <a:srgbClr val="E3E7EE"/>
                      </a:solidFill>
                      <a:prstDash val="solid"/>
                    </a:lnR>
                    <a:lnT w="9360">
                      <a:solidFill>
                        <a:srgbClr val="E3E7EE"/>
                      </a:solidFill>
                      <a:prstDash val="solid"/>
                    </a:lnT>
                    <a:lnB w="9360">
                      <a:solidFill>
                        <a:srgbClr val="E3E7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anchor="ctr">
                      <a:noAutofit/>
                    </a:bodyPr>
                    <a:p>
                      <a:pPr defTabSz="914400" algn="l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1B2333"/>
                          </a:solidFill>
                          <a:effectLst/>
                          <a:uFillTx/>
                          <a:latin typeface="Segoe UI"/>
                        </a:rPr>
                        <a:t>Целых окон на лестничном пролёте ≈ 6 с</a:t>
                      </a:r>
                      <a:endParaRPr lang="ru-MD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E3E7EE"/>
                      </a:solidFill>
                      <a:prstDash val="solid"/>
                    </a:lnL>
                    <a:lnR w="9360">
                      <a:solidFill>
                        <a:srgbClr val="E3E7EE"/>
                      </a:solidFill>
                      <a:prstDash val="solid"/>
                    </a:lnR>
                    <a:lnT w="9360">
                      <a:solidFill>
                        <a:srgbClr val="E3E7EE"/>
                      </a:solidFill>
                      <a:prstDash val="solid"/>
                    </a:lnT>
                    <a:lnB w="9360">
                      <a:solidFill>
                        <a:srgbClr val="E3E7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B2333"/>
                          </a:solidFill>
                          <a:effectLst/>
                          <a:uFillTx/>
                          <a:latin typeface="Segoe UI"/>
                        </a:rPr>
                        <a:t>7–8</a:t>
                      </a:r>
                      <a:endParaRPr lang="ru-MD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E3E7EE"/>
                      </a:solidFill>
                      <a:prstDash val="solid"/>
                    </a:lnL>
                    <a:lnR w="9360">
                      <a:solidFill>
                        <a:srgbClr val="E3E7EE"/>
                      </a:solidFill>
                      <a:prstDash val="solid"/>
                    </a:lnR>
                    <a:lnT w="9360">
                      <a:solidFill>
                        <a:srgbClr val="E3E7EE"/>
                      </a:solidFill>
                      <a:prstDash val="solid"/>
                    </a:lnT>
                    <a:lnB w="9360">
                      <a:solidFill>
                        <a:srgbClr val="E3E7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1B2333"/>
                          </a:solidFill>
                          <a:effectLst/>
                          <a:uFillTx/>
                          <a:latin typeface="Segoe UI"/>
                        </a:rPr>
                        <a:t>2–3</a:t>
                      </a:r>
                      <a:endParaRPr lang="ru-MD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E3E7EE"/>
                      </a:solidFill>
                      <a:prstDash val="solid"/>
                    </a:lnL>
                    <a:lnR w="9360">
                      <a:solidFill>
                        <a:srgbClr val="E3E7EE"/>
                      </a:solidFill>
                      <a:prstDash val="solid"/>
                    </a:lnR>
                    <a:lnT w="9360">
                      <a:solidFill>
                        <a:srgbClr val="E3E7EE"/>
                      </a:solidFill>
                      <a:prstDash val="solid"/>
                    </a:lnT>
                    <a:lnB w="9360">
                      <a:solidFill>
                        <a:srgbClr val="E3E7EE"/>
                      </a:solidFill>
                      <a:prstDash val="solid"/>
                    </a:lnB>
                    <a:solidFill>
                      <a:srgbClr val="E2F1F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B2333"/>
                          </a:solidFill>
                          <a:effectLst/>
                          <a:uFillTx/>
                          <a:latin typeface="Segoe UI"/>
                        </a:rPr>
                        <a:t>0–1: окно захватывает площадку</a:t>
                      </a:r>
                      <a:endParaRPr lang="ru-MD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E3E7EE"/>
                      </a:solidFill>
                      <a:prstDash val="solid"/>
                    </a:lnL>
                    <a:lnR w="9360">
                      <a:solidFill>
                        <a:srgbClr val="E3E7EE"/>
                      </a:solidFill>
                      <a:prstDash val="solid"/>
                    </a:lnR>
                    <a:lnT w="9360">
                      <a:solidFill>
                        <a:srgbClr val="E3E7EE"/>
                      </a:solidFill>
                      <a:prstDash val="solid"/>
                    </a:lnT>
                    <a:lnB w="9360">
                      <a:solidFill>
                        <a:srgbClr val="E3E7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anchor="ctr">
                      <a:noAutofit/>
                    </a:bodyPr>
                    <a:p>
                      <a:pPr defTabSz="914400" algn="l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1B2333"/>
                          </a:solidFill>
                          <a:effectLst/>
                          <a:uFillTx/>
                          <a:latin typeface="Segoe UI"/>
                        </a:rPr>
                        <a:t>Новое движение заполняет окно за</a:t>
                      </a:r>
                      <a:endParaRPr lang="ru-MD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E3E7EE"/>
                      </a:solidFill>
                      <a:prstDash val="solid"/>
                    </a:lnL>
                    <a:lnR w="9360">
                      <a:solidFill>
                        <a:srgbClr val="E3E7EE"/>
                      </a:solidFill>
                      <a:prstDash val="solid"/>
                    </a:lnR>
                    <a:lnT w="9360">
                      <a:solidFill>
                        <a:srgbClr val="E3E7EE"/>
                      </a:solidFill>
                      <a:prstDash val="solid"/>
                    </a:lnT>
                    <a:lnB w="9360">
                      <a:solidFill>
                        <a:srgbClr val="E3E7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B2333"/>
                          </a:solidFill>
                          <a:effectLst/>
                          <a:uFillTx/>
                          <a:latin typeface="Segoe UI"/>
                        </a:rPr>
                        <a:t>1,28 с</a:t>
                      </a:r>
                      <a:endParaRPr lang="ru-MD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E3E7EE"/>
                      </a:solidFill>
                      <a:prstDash val="solid"/>
                    </a:lnL>
                    <a:lnR w="9360">
                      <a:solidFill>
                        <a:srgbClr val="E3E7EE"/>
                      </a:solidFill>
                      <a:prstDash val="solid"/>
                    </a:lnR>
                    <a:lnT w="9360">
                      <a:solidFill>
                        <a:srgbClr val="E3E7EE"/>
                      </a:solidFill>
                      <a:prstDash val="solid"/>
                    </a:lnT>
                    <a:lnB w="9360">
                      <a:solidFill>
                        <a:srgbClr val="E3E7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1B2333"/>
                          </a:solidFill>
                          <a:effectLst/>
                          <a:uFillTx/>
                          <a:latin typeface="Segoe UI"/>
                        </a:rPr>
                        <a:t>2,56 с</a:t>
                      </a:r>
                      <a:endParaRPr lang="ru-MD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E3E7EE"/>
                      </a:solidFill>
                      <a:prstDash val="solid"/>
                    </a:lnL>
                    <a:lnR w="9360">
                      <a:solidFill>
                        <a:srgbClr val="E3E7EE"/>
                      </a:solidFill>
                      <a:prstDash val="solid"/>
                    </a:lnR>
                    <a:lnT w="9360">
                      <a:solidFill>
                        <a:srgbClr val="E3E7EE"/>
                      </a:solidFill>
                      <a:prstDash val="solid"/>
                    </a:lnT>
                    <a:lnB w="9360">
                      <a:solidFill>
                        <a:srgbClr val="E3E7EE"/>
                      </a:solidFill>
                      <a:prstDash val="solid"/>
                    </a:lnB>
                    <a:solidFill>
                      <a:srgbClr val="E2F1F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B2333"/>
                          </a:solidFill>
                          <a:effectLst/>
                          <a:uFillTx/>
                          <a:latin typeface="Segoe UI"/>
                        </a:rPr>
                        <a:t>5,12 с</a:t>
                      </a:r>
                      <a:endParaRPr lang="ru-MD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E3E7EE"/>
                      </a:solidFill>
                      <a:prstDash val="solid"/>
                    </a:lnL>
                    <a:lnR w="9360">
                      <a:solidFill>
                        <a:srgbClr val="E3E7EE"/>
                      </a:solidFill>
                      <a:prstDash val="solid"/>
                    </a:lnR>
                    <a:lnT w="9360">
                      <a:solidFill>
                        <a:srgbClr val="E3E7EE"/>
                      </a:solidFill>
                      <a:prstDash val="solid"/>
                    </a:lnT>
                    <a:lnB w="9360">
                      <a:solidFill>
                        <a:srgbClr val="E3E7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24" name="window-step-table"/>
          <p:cNvGraphicFramePr/>
          <p:nvPr/>
        </p:nvGraphicFramePr>
        <p:xfrm>
          <a:off x="548640" y="3657600"/>
          <a:ext cx="11091672" cy="1920240"/>
        </p:xfrm>
        <a:graphic>
          <a:graphicData uri="http://schemas.openxmlformats.org/drawingml/2006/table">
            <a:tbl>
              <a:tblPr/>
              <a:tblGrid>
                <a:gridCol w="2971800"/>
                <a:gridCol w="2706624"/>
                <a:gridCol w="2706624"/>
                <a:gridCol w="2706624"/>
              </a:tblGrid>
              <a:tr h="384048">
                <a:tc>
                  <a:txBody>
                    <a:bodyPr anchor="ctr">
                      <a:noAutofit/>
                    </a:bodyPr>
                    <a:p>
                      <a:pPr defTabSz="914400" algn="l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Segoe UI"/>
                        </a:rPr>
                        <a:t>Сдвиг окна</a:t>
                      </a:r>
                      <a:endParaRPr lang="ru-MD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defTabSz="914400" algn="l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Segoe UI"/>
                        </a:rPr>
                        <a:t>при окне 2,56 с</a:t>
                      </a:r>
                      <a:endParaRPr lang="ru-MD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E3E7EE"/>
                      </a:solidFill>
                      <a:prstDash val="solid"/>
                    </a:lnL>
                    <a:lnR w="9360">
                      <a:solidFill>
                        <a:srgbClr val="E3E7EE"/>
                      </a:solidFill>
                      <a:prstDash val="solid"/>
                    </a:lnR>
                    <a:lnT w="9360">
                      <a:solidFill>
                        <a:srgbClr val="E3E7EE"/>
                      </a:solidFill>
                      <a:prstDash val="solid"/>
                    </a:lnT>
                    <a:lnB w="9360">
                      <a:solidFill>
                        <a:srgbClr val="E3E7EE"/>
                      </a:solidFill>
                      <a:prstDash val="solid"/>
                    </a:lnB>
                    <a:solidFill>
                      <a:srgbClr val="00696E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Segoe UI"/>
                        </a:rPr>
                        <a:t>2,56 с</a:t>
                      </a:r>
                      <a:endParaRPr lang="ru-MD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defTabSz="914400"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Segoe UI"/>
                        </a:rPr>
                        <a:t>без перекрытия</a:t>
                      </a:r>
                      <a:endParaRPr lang="ru-MD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E3E7EE"/>
                      </a:solidFill>
                      <a:prstDash val="solid"/>
                    </a:lnL>
                    <a:lnR w="9360">
                      <a:solidFill>
                        <a:srgbClr val="E3E7EE"/>
                      </a:solidFill>
                      <a:prstDash val="solid"/>
                    </a:lnR>
                    <a:lnT w="9360">
                      <a:solidFill>
                        <a:srgbClr val="E3E7EE"/>
                      </a:solidFill>
                      <a:prstDash val="solid"/>
                    </a:lnT>
                    <a:lnB w="9360">
                      <a:solidFill>
                        <a:srgbClr val="E3E7EE"/>
                      </a:solidFill>
                      <a:prstDash val="solid"/>
                    </a:lnB>
                    <a:solidFill>
                      <a:srgbClr val="00696E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Segoe UI"/>
                        </a:rPr>
                        <a:t>1,28 с</a:t>
                      </a:r>
                      <a:endParaRPr lang="ru-MD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Segoe UI"/>
                        </a:rPr>
                        <a:t>перекрытие 50 %</a:t>
                      </a:r>
                      <a:endParaRPr lang="ru-MD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E3E7EE"/>
                      </a:solidFill>
                      <a:prstDash val="solid"/>
                    </a:lnL>
                    <a:lnR w="9360">
                      <a:solidFill>
                        <a:srgbClr val="E3E7EE"/>
                      </a:solidFill>
                      <a:prstDash val="solid"/>
                    </a:lnR>
                    <a:lnT w="9360">
                      <a:solidFill>
                        <a:srgbClr val="E3E7EE"/>
                      </a:solidFill>
                      <a:prstDash val="solid"/>
                    </a:lnT>
                    <a:lnB w="9360">
                      <a:solidFill>
                        <a:srgbClr val="E3E7EE"/>
                      </a:solidFill>
                      <a:prstDash val="solid"/>
                    </a:lnB>
                    <a:solidFill>
                      <a:srgbClr val="E9A23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Segoe UI"/>
                        </a:rPr>
                        <a:t>0,32 с</a:t>
                      </a:r>
                      <a:endParaRPr lang="ru-MD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defTabSz="914400"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Segoe UI"/>
                        </a:rPr>
                        <a:t>перекрытие 87,5 %</a:t>
                      </a:r>
                      <a:endParaRPr lang="ru-MD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E3E7EE"/>
                      </a:solidFill>
                      <a:prstDash val="solid"/>
                    </a:lnL>
                    <a:lnR w="9360">
                      <a:solidFill>
                        <a:srgbClr val="E3E7EE"/>
                      </a:solidFill>
                      <a:prstDash val="solid"/>
                    </a:lnR>
                    <a:lnT w="9360">
                      <a:solidFill>
                        <a:srgbClr val="E3E7EE"/>
                      </a:solidFill>
                      <a:prstDash val="solid"/>
                    </a:lnT>
                    <a:lnB w="9360">
                      <a:solidFill>
                        <a:srgbClr val="E3E7EE"/>
                      </a:solidFill>
                      <a:prstDash val="solid"/>
                    </a:lnB>
                    <a:solidFill>
                      <a:srgbClr val="00696E"/>
                    </a:solidFill>
                  </a:tcPr>
                </a:tc>
              </a:tr>
              <a:tr h="384048">
                <a:tc>
                  <a:txBody>
                    <a:bodyPr anchor="ctr">
                      <a:noAutofit/>
                    </a:bodyPr>
                    <a:p>
                      <a:pPr defTabSz="914400" algn="l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1B2333"/>
                          </a:solidFill>
                          <a:effectLst/>
                          <a:uFillTx/>
                          <a:latin typeface="Segoe UI"/>
                        </a:rPr>
                        <a:t>Решений и строк журнала в час</a:t>
                      </a:r>
                      <a:endParaRPr lang="ru-MD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E3E7EE"/>
                      </a:solidFill>
                      <a:prstDash val="solid"/>
                    </a:lnL>
                    <a:lnR w="9360">
                      <a:solidFill>
                        <a:srgbClr val="E3E7EE"/>
                      </a:solidFill>
                      <a:prstDash val="solid"/>
                    </a:lnR>
                    <a:lnT w="9360">
                      <a:solidFill>
                        <a:srgbClr val="E3E7EE"/>
                      </a:solidFill>
                      <a:prstDash val="solid"/>
                    </a:lnT>
                    <a:lnB w="9360">
                      <a:solidFill>
                        <a:srgbClr val="E3E7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B2333"/>
                          </a:solidFill>
                          <a:effectLst/>
                          <a:uFillTx/>
                          <a:latin typeface="Segoe UI"/>
                        </a:rPr>
                        <a:t>≈ 1 400</a:t>
                      </a:r>
                      <a:endParaRPr lang="ru-MD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E3E7EE"/>
                      </a:solidFill>
                      <a:prstDash val="solid"/>
                    </a:lnL>
                    <a:lnR w="9360">
                      <a:solidFill>
                        <a:srgbClr val="E3E7EE"/>
                      </a:solidFill>
                      <a:prstDash val="solid"/>
                    </a:lnR>
                    <a:lnT w="9360">
                      <a:solidFill>
                        <a:srgbClr val="E3E7EE"/>
                      </a:solidFill>
                      <a:prstDash val="solid"/>
                    </a:lnT>
                    <a:lnB w="9360">
                      <a:solidFill>
                        <a:srgbClr val="E3E7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1B2333"/>
                          </a:solidFill>
                          <a:effectLst/>
                          <a:uFillTx/>
                          <a:latin typeface="Segoe UI"/>
                        </a:rPr>
                        <a:t>≈ 2 800</a:t>
                      </a:r>
                      <a:endParaRPr lang="ru-MD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E3E7EE"/>
                      </a:solidFill>
                      <a:prstDash val="solid"/>
                    </a:lnL>
                    <a:lnR w="9360">
                      <a:solidFill>
                        <a:srgbClr val="E3E7EE"/>
                      </a:solidFill>
                      <a:prstDash val="solid"/>
                    </a:lnR>
                    <a:lnT w="9360">
                      <a:solidFill>
                        <a:srgbClr val="E3E7EE"/>
                      </a:solidFill>
                      <a:prstDash val="solid"/>
                    </a:lnT>
                    <a:lnB w="9360">
                      <a:solidFill>
                        <a:srgbClr val="E3E7EE"/>
                      </a:solidFill>
                      <a:prstDash val="solid"/>
                    </a:lnB>
                    <a:solidFill>
                      <a:srgbClr val="E2F1F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B2333"/>
                          </a:solidFill>
                          <a:effectLst/>
                          <a:uFillTx/>
                          <a:latin typeface="Segoe UI"/>
                        </a:rPr>
                        <a:t>≈ 11 250</a:t>
                      </a:r>
                      <a:endParaRPr lang="ru-MD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E3E7EE"/>
                      </a:solidFill>
                      <a:prstDash val="solid"/>
                    </a:lnL>
                    <a:lnR w="9360">
                      <a:solidFill>
                        <a:srgbClr val="E3E7EE"/>
                      </a:solidFill>
                      <a:prstDash val="solid"/>
                    </a:lnR>
                    <a:lnT w="9360">
                      <a:solidFill>
                        <a:srgbClr val="E3E7EE"/>
                      </a:solidFill>
                      <a:prstDash val="solid"/>
                    </a:lnT>
                    <a:lnB w="9360">
                      <a:solidFill>
                        <a:srgbClr val="E3E7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anchor="ctr">
                      <a:noAutofit/>
                    </a:bodyPr>
                    <a:p>
                      <a:pPr defTabSz="914400" algn="l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1B2333"/>
                          </a:solidFill>
                          <a:effectLst/>
                          <a:uFillTx/>
                          <a:latin typeface="Segoe UI"/>
                        </a:rPr>
                        <a:t>Новых отсчётов в каждом окне</a:t>
                      </a:r>
                      <a:endParaRPr lang="ru-MD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E3E7EE"/>
                      </a:solidFill>
                      <a:prstDash val="solid"/>
                    </a:lnL>
                    <a:lnR w="9360">
                      <a:solidFill>
                        <a:srgbClr val="E3E7EE"/>
                      </a:solidFill>
                      <a:prstDash val="solid"/>
                    </a:lnR>
                    <a:lnT w="9360">
                      <a:solidFill>
                        <a:srgbClr val="E3E7EE"/>
                      </a:solidFill>
                      <a:prstDash val="solid"/>
                    </a:lnT>
                    <a:lnB w="9360">
                      <a:solidFill>
                        <a:srgbClr val="E3E7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B2333"/>
                          </a:solidFill>
                          <a:effectLst/>
                          <a:uFillTx/>
                          <a:latin typeface="Segoe UI"/>
                        </a:rPr>
                        <a:t>100 %</a:t>
                      </a:r>
                      <a:endParaRPr lang="ru-MD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E3E7EE"/>
                      </a:solidFill>
                      <a:prstDash val="solid"/>
                    </a:lnL>
                    <a:lnR w="9360">
                      <a:solidFill>
                        <a:srgbClr val="E3E7EE"/>
                      </a:solidFill>
                      <a:prstDash val="solid"/>
                    </a:lnR>
                    <a:lnT w="9360">
                      <a:solidFill>
                        <a:srgbClr val="E3E7EE"/>
                      </a:solidFill>
                      <a:prstDash val="solid"/>
                    </a:lnT>
                    <a:lnB w="9360">
                      <a:solidFill>
                        <a:srgbClr val="E3E7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1B2333"/>
                          </a:solidFill>
                          <a:effectLst/>
                          <a:uFillTx/>
                          <a:latin typeface="Segoe UI"/>
                        </a:rPr>
                        <a:t>50 %</a:t>
                      </a:r>
                      <a:endParaRPr lang="ru-MD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E3E7EE"/>
                      </a:solidFill>
                      <a:prstDash val="solid"/>
                    </a:lnL>
                    <a:lnR w="9360">
                      <a:solidFill>
                        <a:srgbClr val="E3E7EE"/>
                      </a:solidFill>
                      <a:prstDash val="solid"/>
                    </a:lnR>
                    <a:lnT w="9360">
                      <a:solidFill>
                        <a:srgbClr val="E3E7EE"/>
                      </a:solidFill>
                      <a:prstDash val="solid"/>
                    </a:lnT>
                    <a:lnB w="9360">
                      <a:solidFill>
                        <a:srgbClr val="E3E7EE"/>
                      </a:solidFill>
                      <a:prstDash val="solid"/>
                    </a:lnB>
                    <a:solidFill>
                      <a:srgbClr val="E2F1F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B2333"/>
                          </a:solidFill>
                          <a:effectLst/>
                          <a:uFillTx/>
                          <a:latin typeface="Segoe UI"/>
                        </a:rPr>
                        <a:t>12,5 %</a:t>
                      </a:r>
                      <a:endParaRPr lang="ru-MD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E3E7EE"/>
                      </a:solidFill>
                      <a:prstDash val="solid"/>
                    </a:lnL>
                    <a:lnR w="9360">
                      <a:solidFill>
                        <a:srgbClr val="E3E7EE"/>
                      </a:solidFill>
                      <a:prstDash val="solid"/>
                    </a:lnR>
                    <a:lnT w="9360">
                      <a:solidFill>
                        <a:srgbClr val="E3E7EE"/>
                      </a:solidFill>
                      <a:prstDash val="solid"/>
                    </a:lnT>
                    <a:lnB w="9360">
                      <a:solidFill>
                        <a:srgbClr val="E3E7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anchor="ctr">
                      <a:noAutofit/>
                    </a:bodyPr>
                    <a:p>
                      <a:pPr defTabSz="914400" algn="l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1B2333"/>
                          </a:solidFill>
                          <a:effectLst/>
                          <a:uFillTx/>
                          <a:latin typeface="Segoe UI"/>
                        </a:rPr>
                        <a:t>Спектр: окно Ханна ослабляет края</a:t>
                      </a:r>
                      <a:endParaRPr lang="ru-MD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E3E7EE"/>
                      </a:solidFill>
                      <a:prstDash val="solid"/>
                    </a:lnL>
                    <a:lnR w="9360">
                      <a:solidFill>
                        <a:srgbClr val="E3E7EE"/>
                      </a:solidFill>
                      <a:prstDash val="solid"/>
                    </a:lnR>
                    <a:lnT w="9360">
                      <a:solidFill>
                        <a:srgbClr val="E3E7EE"/>
                      </a:solidFill>
                      <a:prstDash val="solid"/>
                    </a:lnT>
                    <a:lnB w="9360">
                      <a:solidFill>
                        <a:srgbClr val="E3E7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B2333"/>
                          </a:solidFill>
                          <a:effectLst/>
                          <a:uFillTx/>
                          <a:latin typeface="Segoe UI"/>
                        </a:rPr>
                        <a:t>удар на стыке окон теряется</a:t>
                      </a:r>
                      <a:endParaRPr lang="ru-MD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E3E7EE"/>
                      </a:solidFill>
                      <a:prstDash val="solid"/>
                    </a:lnL>
                    <a:lnR w="9360">
                      <a:solidFill>
                        <a:srgbClr val="E3E7EE"/>
                      </a:solidFill>
                      <a:prstDash val="solid"/>
                    </a:lnR>
                    <a:lnT w="9360">
                      <a:solidFill>
                        <a:srgbClr val="E3E7EE"/>
                      </a:solidFill>
                      <a:prstDash val="solid"/>
                    </a:lnT>
                    <a:lnB w="9360">
                      <a:solidFill>
                        <a:srgbClr val="E3E7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1B2333"/>
                          </a:solidFill>
                          <a:effectLst/>
                          <a:uFillTx/>
                          <a:latin typeface="Segoe UI"/>
                        </a:rPr>
                        <a:t>каждый отсчёт — в середине одного из окон</a:t>
                      </a:r>
                      <a:endParaRPr lang="ru-MD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E3E7EE"/>
                      </a:solidFill>
                      <a:prstDash val="solid"/>
                    </a:lnL>
                    <a:lnR w="9360">
                      <a:solidFill>
                        <a:srgbClr val="E3E7EE"/>
                      </a:solidFill>
                      <a:prstDash val="solid"/>
                    </a:lnR>
                    <a:lnT w="9360">
                      <a:solidFill>
                        <a:srgbClr val="E3E7EE"/>
                      </a:solidFill>
                      <a:prstDash val="solid"/>
                    </a:lnT>
                    <a:lnB w="9360">
                      <a:solidFill>
                        <a:srgbClr val="E3E7EE"/>
                      </a:solidFill>
                      <a:prstDash val="solid"/>
                    </a:lnB>
                    <a:solidFill>
                      <a:srgbClr val="E2F1F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B2333"/>
                          </a:solidFill>
                          <a:effectLst/>
                          <a:uFillTx/>
                          <a:latin typeface="Segoe UI"/>
                        </a:rPr>
                        <a:t>каждый отсчёт обсчитан 8 раз</a:t>
                      </a:r>
                      <a:endParaRPr lang="ru-MD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E3E7EE"/>
                      </a:solidFill>
                      <a:prstDash val="solid"/>
                    </a:lnL>
                    <a:lnR w="9360">
                      <a:solidFill>
                        <a:srgbClr val="E3E7EE"/>
                      </a:solidFill>
                      <a:prstDash val="solid"/>
                    </a:lnR>
                    <a:lnT w="9360">
                      <a:solidFill>
                        <a:srgbClr val="E3E7EE"/>
                      </a:solidFill>
                      <a:prstDash val="solid"/>
                    </a:lnT>
                    <a:lnB w="9360">
                      <a:solidFill>
                        <a:srgbClr val="E3E7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anchor="ctr">
                      <a:noAutofit/>
                    </a:bodyPr>
                    <a:p>
                      <a:pPr defTabSz="914400" algn="l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1B2333"/>
                          </a:solidFill>
                          <a:effectLst/>
                          <a:uFillTx/>
                          <a:latin typeface="Segoe UI"/>
                        </a:rPr>
                        <a:t>Реакция на смену активности, сглаживание ≈ 2,5 с</a:t>
                      </a:r>
                      <a:endParaRPr lang="ru-MD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E3E7EE"/>
                      </a:solidFill>
                      <a:prstDash val="solid"/>
                    </a:lnL>
                    <a:lnR w="9360">
                      <a:solidFill>
                        <a:srgbClr val="E3E7EE"/>
                      </a:solidFill>
                      <a:prstDash val="solid"/>
                    </a:lnR>
                    <a:lnT w="9360">
                      <a:solidFill>
                        <a:srgbClr val="E3E7EE"/>
                      </a:solidFill>
                      <a:prstDash val="solid"/>
                    </a:lnT>
                    <a:lnB w="9360">
                      <a:solidFill>
                        <a:srgbClr val="E3E7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B2333"/>
                          </a:solidFill>
                          <a:effectLst/>
                          <a:uFillTx/>
                          <a:latin typeface="Segoe UI"/>
                        </a:rPr>
                        <a:t>≈ 4–6 с</a:t>
                      </a:r>
                      <a:endParaRPr lang="ru-MD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E3E7EE"/>
                      </a:solidFill>
                      <a:prstDash val="solid"/>
                    </a:lnL>
                    <a:lnR w="9360">
                      <a:solidFill>
                        <a:srgbClr val="E3E7EE"/>
                      </a:solidFill>
                      <a:prstDash val="solid"/>
                    </a:lnR>
                    <a:lnT w="9360">
                      <a:solidFill>
                        <a:srgbClr val="E3E7EE"/>
                      </a:solidFill>
                      <a:prstDash val="solid"/>
                    </a:lnT>
                    <a:lnB w="9360">
                      <a:solidFill>
                        <a:srgbClr val="E3E7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1B2333"/>
                          </a:solidFill>
                          <a:effectLst/>
                          <a:uFillTx/>
                          <a:latin typeface="Segoe UI"/>
                        </a:rPr>
                        <a:t>3–4 с</a:t>
                      </a:r>
                      <a:endParaRPr lang="ru-MD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E3E7EE"/>
                      </a:solidFill>
                      <a:prstDash val="solid"/>
                    </a:lnL>
                    <a:lnR w="9360">
                      <a:solidFill>
                        <a:srgbClr val="E3E7EE"/>
                      </a:solidFill>
                      <a:prstDash val="solid"/>
                    </a:lnR>
                    <a:lnT w="9360">
                      <a:solidFill>
                        <a:srgbClr val="E3E7EE"/>
                      </a:solidFill>
                      <a:prstDash val="solid"/>
                    </a:lnT>
                    <a:lnB w="9360">
                      <a:solidFill>
                        <a:srgbClr val="E3E7EE"/>
                      </a:solidFill>
                      <a:prstDash val="solid"/>
                    </a:lnB>
                    <a:solidFill>
                      <a:srgbClr val="E2F1F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B2333"/>
                          </a:solidFill>
                          <a:effectLst/>
                          <a:uFillTx/>
                          <a:latin typeface="Segoe UI"/>
                        </a:rPr>
                        <a:t>≈ 3–4 с: её задаёт сглаживание</a:t>
                      </a:r>
                      <a:endParaRPr lang="ru-MD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E3E7EE"/>
                      </a:solidFill>
                      <a:prstDash val="solid"/>
                    </a:lnL>
                    <a:lnR w="9360">
                      <a:solidFill>
                        <a:srgbClr val="E3E7EE"/>
                      </a:solidFill>
                      <a:prstDash val="solid"/>
                    </a:lnR>
                    <a:lnT w="9360">
                      <a:solidFill>
                        <a:srgbClr val="E3E7EE"/>
                      </a:solidFill>
                      <a:prstDash val="solid"/>
                    </a:lnT>
                    <a:lnB w="9360">
                      <a:solidFill>
                        <a:srgbClr val="E3E7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25" name="TextBox 224"/>
          <p:cNvSpPr txBox="1"/>
          <p:nvPr/>
        </p:nvSpPr>
        <p:spPr>
          <a:xfrm>
            <a:off x="548640" y="5943600"/>
            <a:ext cx="1109167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1100" b="1">
                <a:solidFill>
                  <a:srgbClr val="5B6475"/>
                </a:solidFill>
                <a:latin typeface="Segoe UI"/>
              </a:rPr>
              <a:t>Та же геометрия у UCI HAR </a:t>
            </a:r>
            <a:r>
              <a:rPr sz="1100" b="0">
                <a:solidFill>
                  <a:srgbClr val="5B6475"/>
                </a:solidFill>
                <a:latin typeface="Segoe UI"/>
              </a:rPr>
              <a:t>(Anguita et al., 2013): его окна используются как есть. 128 = 2⁷ — БПФ по основанию 2 без дополнения нулями.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HAR Expert">
  <a:themeElements>
    <a:clrScheme name="HAR Expert">
      <a:dk1>
        <a:srgbClr val="1B2333"/>
      </a:dk1>
      <a:lt1>
        <a:srgbClr val="FFFFFF"/>
      </a:lt1>
      <a:dk2>
        <a:srgbClr val="5B6475"/>
      </a:dk2>
      <a:lt2>
        <a:srgbClr val="F4F6FA"/>
      </a:lt2>
      <a:accent1>
        <a:srgbClr val="00696E"/>
      </a:accent1>
      <a:accent2>
        <a:srgbClr val="2F6FED"/>
      </a:accent2>
      <a:accent3>
        <a:srgbClr val="E9A23B"/>
      </a:accent3>
      <a:accent4>
        <a:srgbClr val="7C4DDB"/>
      </a:accent4>
      <a:accent5>
        <a:srgbClr val="1F9D55"/>
      </a:accent5>
      <a:accent6>
        <a:srgbClr val="1FA39A"/>
      </a:accent6>
      <a:hlink>
        <a:srgbClr val="2F6FED"/>
      </a:hlink>
      <a:folHlink>
        <a:srgbClr val="7C4DDB"/>
      </a:folHlink>
    </a:clrScheme>
    <a:fontScheme name="HAR Expert">
      <a:majorFont>
        <a:latin typeface="Segoe UI" pitchFamily="0" charset="1"/>
        <a:ea typeface=""/>
        <a:cs typeface=""/>
      </a:majorFont>
      <a:minorFont>
        <a:latin typeface="Segoe U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1239</TotalTime>
  <Application>LibreOffice/26.2.6.1$Windows_X86_64 LibreOffice_project/d1ee4fa77ef37aa4cfa80ea6fd156dcae5d60263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2026-10-19T12:30:10Z</dcterms:created>
  <dc:creator>Драгунский Даниил</dc:creator>
  <dc:description/>
  <dc:language>ru-MD</dc:language>
  <cp:lastModifiedBy/>
  <dcterms:modified xsi:type="dcterms:W3CDTF">2026-10-20T11:11:15Z</dcterms:modified>
  <cp:revision>2</cp:revision>
  <dc:subject>PptxGenJS Presentation</dc:subject>
  <dc:title>Распознавание активности человека по датчикам смартфона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16</vt:i4>
  </property>
  <property fmtid="{D5CDD505-2E9C-101B-9397-08002B2CF9AE}" pid="3" name="PresentationFormat">
    <vt:lpwstr>On-screen Show (16:9)</vt:lpwstr>
  </property>
  <property fmtid="{D5CDD505-2E9C-101B-9397-08002B2CF9AE}" pid="4" name="Slides">
    <vt:i4>16</vt:i4>
  </property>
</Properties>
</file>